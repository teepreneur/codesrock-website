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2 TITLE SLIDE
TIMING: 5 minutes | 9:00–9:05 AM
WELCOME BACK:
"Good morning — welcome to Day 2. Yesterday we built our Business Model Canvas. Today we go deeper: we look at the major Business Model Types available to you and learn how to choose the right one for your venture."
QUICK ENERGISER:
Ask: "In one sentence — what is the most valuable thing you took away from yesterday?" Go around 4–5 people. This primes recall and sets the tone.
HOMEWORK CHECK (5 min):
Ask who completed the customer interviews. Ask one participant: "What did you learn that surprised you?" This validates the homework and shows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2 SCHEDULE
TIMING: 3 minutes
Walk participants through the full day. Highlight the afternoon exercise block (3:00–4:00 PM) as the most hands-on and important part of the day. Confirm lunch and break arrangements. Ask if there are any questions before 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2 RECAP
TIMING: 10 minutes
Do NOT just read the points — ask participants to say them. Ask: "Who can tell me what we covered yesterday?" Use this as an energiser to kick off Day 2. Revisit any homework from Day 1 — ask 2-3 participants to share what they discovered. Address any lingering questions before moving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LEARNING OBJECTIVES
TIMING: 5 minutes
Read each objective aloud. Ask: "Which of these is most relevant to where your startup is right now?" Take 2 show-of-hands. Return to these at the end of the day — self-assess whether each was met. Facilitator tip: write these on a whiteboard/flip-chart so they stay visible all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BUSINESS MODEL TYPES OVERVIEW
TIMING: 25 minutes | 9:20–9:45 AM
KEY FRAMING:
"Today we are not asking WHAT your product does — we are asking HOW your business makes money and WHO pays you. The same product can run under very different business model types."
EXAMPLE TO USE — same product, different model:
Take a health information service:
- B2C: patients pay GHS 5/month subscription to access health advice
- B2B: hospitals pay GHS 2,000/month for the platform to serve their patients
- B2G: Ghana Health Service pays to deploy it as a national public health tool
- Platform: connects patients to doctors AND earns from both sides
ASK THE ROOM:
"Before we go through each type — what type of model does YOUR startup use today? Is it the right one?"
KEY INSIGHT TO LAND:
Most early-stage startups in Ghana are B2C by default — because the founder thought of an end-user problem. But B2B and B2G models often have much higher revenue per transaction and lower customer acquisition costs. This is why the choice matters.
FACILITATION TIP:
Use a physical show of hands: "Who is B2C? B2B? B2G? Hybrid?" Create a quick tally on the whiteboard. Refer back to this throughout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B2C VS B2B
TIMING: 20 minutes | 9:45–10:05 AM
DEEPER B2C CONTEXT FOR GHANA:
- B2C works best when the customer is easy to reach digitally (smartphone, WhatsApp) or has a clear physical gathering point (market, school, church, clinic)
- Word of mouth is the most effective B2C acquisition channel in Ghana — design your product to be talked about
- Price sensitivity in Ghana means freemium and low-cost entry tiers are common — build upgrade paths
- Remittance and payments (Zeepay) work B2C because the use case is personal and frequent
- The risk: B2C acquisition costs are rising fast as mobile data costs fall and more startups compete for the same consumers
DEEPER B2B CONTEXT FOR GHANA:
- B2B sales cycles in Ghana can be 3–18 months — especially with banks, telcos, and government
- The decision-maker is rarely the end-user — you often need to convince a procurement officer, a CTO, and a CEO separately
- Personalised demos, site visits and reference customers are critical for B2B in Ghana — cold email/LinkedIn works poorly
- Local champions inside a target company can shorten sales cycles dramatically — identify and cultivate them
- B2B SaaS pricing in Ghana: GHS 500–10,000/month per seat depending on sector
THE HIDDEN OPTION — B2B2C:
Ask: "Has anyone heard of B2B2C?" Explain: you sell to a business (B2B) who then distributes to consumers (to C). Farmerline does this — NGOs and agribusinesses pay, but the value is delivered to farmers. This is a common and powerful model in Ghana because it removes the challenge of charging low-income end-users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B2G AND PLATFORM MODELS
TIMING: 20 minutes | 10:05–10:25 AM (then short slide before break)
B2G DEEP DIVE:
1. Government is one of the largest spenders in Ghana — budget for ICT, health, education, agriculture is in the billions of GHS annually
2. The challenge is the procurement process — Public Procurement Act (Act 914) governs all government contracts. This means: open tenders, evaluation committees, bureaucratic approval chains. A deal that seems agreed can take 18 months to actually sign.
3. Practical Ghana B2G strategies that work:
   - Pilot with a single district/agency first. Get evidence. Then bid for national rollout.
   - Partner with an established company (like Hubtel) who already has government relationships
   - Apply for government innovation programmes (National Information Technology Agency — NITA; Ghana Investment Promotion Centre — GIPC)
4. Examples: GhanaPost GPS — the government-owned digital address system. Any startup that helps citizens use the GPS system is in a strong B2G position.
PLATFORM MODELS — COLD-START DEEP DIVE:
This is the most common failure mode for marketplace startups. The question: "Why would a buyer use your platform if there are no sellers? And why would a seller list if there are no buyers?"
Solutions used by African platforms:
- Tonaton: seeded their marketplace with free listings from craigslist-style communities and staff-created content
- Jumia: started with limited SKUs from a few trusted sellers to guarantee quality
- Sokowatch: targeted informal shop owners first (supply side), then went to FMCG manufacturers (demand side) with order data
FACILITATOR QUESTION:
"For those with platform models in this room — which side of your marketplace is harder to acquire? What is your strategy for filling that side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SaaS, FREEMIUM &amp; HYBRID MODELS
TIMING: 30 minutes | 10:45–11:15 AM
SaaS ECONOMICS — EXPLAIN CLEARLY:
Once you have built the software, adding one more customer costs near-zero. This is why SaaS businesses have extraordinary margins at scale — 70–90% gross margins are common.
But the danger for early-stage: fixed costs (engineering team, AWS, office) are high BEFORE you have revenue. You must reach a minimum customer base to cover costs. This is called "crossing the chasm" from loss-making to profit.
FREEMIUM IN GHANA — REALITY CHECK:
Freemium is a valid model but be honest with participants: it requires scale to work. If you have 500 free users and 10 paying ones, you are not a freemium business — you are a startup that hasn't figured out pricing yet.
The best freemium models in Africa have a clear "job" that the free product does — and an obvious next job that only the paid product can do. Example: free = basic payroll calculation; paid = automated SSNIT filing and PAYE submission.
HYBRID MODELS — THE PROGRESSION:
Many successful Ghanaian startups started as one type and evolved:
- Farmerline started B2C (farmers paying airtime), discovered B2B was easier, now runs both
- Hubtel started as an SMS gateway (transaction-based), added SaaS subscriptions over time
This is NOT a failure to commit — this is learning from the market. But each pivot must be conscious and documented on the BMC.
FACILITATION QUESTION:
"For those in the room with hybrid models — can you clearly separate which customers belong to which model? Do you have a separate acquisition, pricing and retention strategy for each stream? If not — you don't have a hybrid model. You have model confusion."
FACILITATOR TIP:
Draw a simple 2x2 on the board: Revenue Reliability (high/low) vs Revenue Size (high/low). Place different model types. SaaS = high reliability, high size at scale. Transaction = high size, variable reliability. This visual helps participants think about portfolio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CHOOSING THE RIGHT MODEL
TIMING: 30 minutes | 11:15–11:45 AM
DECISION FRAMEWORK WALKTHROUGH:
Go through each question with the room. For each one, ask participants to think about their own startup — do they have a clear answer? Pause after Q1 and Q4 to take 2–3 responses from the room.
Q1 DEEP DIVE — WHO PAYS:
This is the most important question. Many startups confuse their USER with their PAYING CUSTOMER. Example: a school app — students use it, but parents or schools pay for it. Who pays changes everything about your model.
Q2 DEEP DIVE — CORE VALUE:
If your value is in aggregating data (like Farmerline), consider a data licensing or API model. If your value is in software features, SaaS. If your value is in access to a network, marketplace.
Q3 DEEP DIVE — COST STRUCTURE:
If your biggest cost is a large engineering team, you need high revenue per customer (SaaS/B2B). If your biggest cost is customer acquisition (marketing), you need low CAC and high LTV. If your biggest cost is physical delivery, you need transaction-based pricing that scales with delivery.
Q4 DEEP DIVE — REACH:
In Ghana: if your customer is in Greater Accra with a smartphone → direct digital channel works. If your customer is in Upper East Region with a basic phone → agent network + USSD is essential. If your customer is a bank or a telco → you need direct enterprise sales, not a self-serve website.
Q5 DEEP DIVE — MARKET CONTEXT:
The four realities of the Ghanaian market that every model must account for:
1. Mobile money is infrastructure — build on it or alongside it
2. Trust is built person-to-person before it is built with a brand
3. Price sensitivity is real — low-cost entry tiers win first users
4. Data costs are falling but are still a barrier in rural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COMMON MISTAKES
TIMING: 25 minutes | 11:45 AM–12:10 PM
DELIVERY APPROACH:
Use real Africa/Ghana stories for each mistake. These should feel like cautionary tales — not lectures.
MISTAKE 1 — FOREIGN MODEL COPY:
Additional examples to use:
- WeWork tried to expand to Lagos and Nairobi with the exact same premium coworking model from New York. Had to dramatically adjust pricing, security and power infrastructure requirements.
- Several Ghanaian EdTech startups copied Coursera's pure-online model and launched without USSD or offline download features — then discovered their target users had intermittent WiFi.
- Key question to ask: "When did you last spend 3 hours in the daily reality of your target customer?"
MISTAKE 2 — IMPRESSIVE LABEL:
Ask: "Who in this room chose their model type because it matched a successful startup they admired?" Usually 3–5 hands go up. Then ask: "Did you check whether the conditions that made that model work for them also exist in your market?"
MISTAKE 3 — TOO MANY STREAMS:
The analogy that works well: "Would you rather be the best jollof rice seller in Accra or the mediocre jollof AND the mediocre kontomire AND the mediocre waakye all on the same table?" Focus wins.
FACILITATOR TIP:
After presenting all 3 mistakes, ask: "Which of these three mistakes is your startup most at risk of making?" Quick show of hands. Use this to personalise the afternoon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WHAT WINS IN AFRICA
TIMING: 15 minutes | 12:15–12:30 PM (end of morning session before lunch)
ADDITIONAL CONTEXT PER POINT:
MOBILE-FIRST:
M-Pesa in Kenya is the most downloaded app in the country. Airtel Money Uganda processed more transactions than the country's entire banking system in 2022. Mobile is not a channel — it IS the infrastructure.
AGENT NETWORKS:
Any startup that can plug into an existing agent network (MTN, GCB, PostBank) instantly gains distribution without building it from scratch. This is a massive unfair advantage that startups in Europe and the US do not have access to.
OFFLINE CAPABILITY:
Show a simple map of Ghana's internet coverage. Accra and Kumasi = reliable 4G. Northern Region, Volta, Brong-Ahafo = spotty 3G/2G. If your app breaks without WiFi, you just excluded 60% of Ghana's population.
TRUST-EMBEDDED:
In Ghana, a referral from a friend is worth 10 digital ads. Design your product to generate referrals (e.g. "Give your friend 1 free month when they sign up"). Community-level trust (church, market, workplace) is the most powerful marketing channel you have — and it costs nothing.
MICRO-TRANSACTIONS:
The Safaricom M-Pesa "pay per use" model is the template. Farmerline's original airtime micro-payment was right for this. Daily savings products (like Nsano or Fido) that take GHS 1–2/day are more accessible to low-income users than annual software licences.
CLOSING THOUGHT BEFORE LUNCH:
"You are not building for Silicon Valley. You are building for Ghana. Let that be your competitive advantage — not your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mPHARMA CASE STUDY
TIMING: 20 minutes | 1:15–1:35 PM
THE STORY:
mPharma was founded by Gregory Rockson, a Ghanaian-American, in Accra in 2013. He saw that pharmacies in Ghana consistently ran out of essential medicines not because they couldn't get them — but because they didn't order optimally due to cash flow constraints, supplier fragmentation, and no visibility into demand forecasting.
The solution was to build a B2B platform that aggregates pharmacy orders, negotiates bulk pricing from manufacturers, and provides pharmacies with inventory management software. Instead of 1,000 pharmacies each negotiating with 50 suppliers individually, mPharma becomes the single intelligent buyer — and passes some of the savings to pharmacies via better pricing.
KEY BUSINESS MODEL INSIGHTS:
1. mPharma deliberately chose B2B over B2C (direct-to-patient). Patients are price-sensitive and hard to serve profitably; pharmacies and clinics are businesses that understand ROI.
2. The SaaS subscription fee from pharmacies is the predictable base revenue. The transaction margin from procurement is the growth revenue that scales with volume.
3. This is a classic "picks and shovels" strategy — they make money regardless of which medicines are popular, because they handle the infrastructure.
4. The regulatory moat: mPharma operates in 9 countries and has built compliance relationships with each country's equivalent of Ghana's Food and Drugs Authority. Replicating this across 9 countries would take a new entrant years.
DISCUSSION QUESTIONS:
- "How is mPharma's business model different from a traditional pharmaceutical distributor?"
- "What would happen to mPharma's model if a large pharma company decided to sell directly to Ghanaian pharmacies online?"
- "Could mPharma's model work in agriculture? In education? Why or why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TONATON CASE STUDY
TIMING: 20 minutes | 1:35–1:55 PM
THE STORY:
Tonaton is Ghana's largest online classifieds and marketplace platform. What makes it interesting as a business model case study is HOW they solved the classic marketplace cold-start problem — the chicken-and-egg challenge of needing both buyers and sellers at the same time.
KEY BUSINESS MODEL LESSONS:
1. Tonaton's core model is "fremium for sellers" — listing is free, but paying gives you visibility boosts (promoted listing). This solved the cold-start problem: why would sellers list for free? Because free traffic is still valuable.
2. The platform business model means Tonaton does NOT need to own inventory — they are an asset-light business. Their cost structure is mainly tech and marketing, not stock, warehouses or logistics.
3. Trust was the hardest challenge to solve. Ghana consumers are rightly skeptical of online strangers. Tonaton invested heavily in verified seller badges, ratings systems, and eventually integrated payment escrow — this was not a feature, it was the core business model enabler.
4. Network effects in practice: once Tonaton reached critical mass in Accra, sellers in Kumasi could see buyer interest coming from Accra and listed there. The network literally expanded itself geographically.
CONTRAST WITH mPHARMA:
Both are platforms — but radically different:
- mPharma: B2B platform, high-value transactions, regulated industry, long sales cycle
- Tonaton: B2C platform, low-value transactions, informal economy, instant self-service
Same fundamental model type — completely different implementation, pricing, and go-to-market
FACILITATION QUESTION:
"For participants building platforms — have you solved the cold-start problem? Which side of your marketplace will you fill first? And what is your incentive to get them?"
DISCUSSION:
What would Tonaton's business model look like if they shifted from advertising/promoted listings to taking a transaction fee on every sale? What would change? (Answer: higher revenue per transaction but potentially less adoption because sellers resent paying per transaction when they are used to free listings)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MODEL VALIDATION
TIMING: 45 minutes | 2:00–2:45 PM
WHY THIS IS CRITICAL:
Many startups in Ghana have a well-chosen model — on paper. They have never tested whether their target customer will actually pay for it.
THE MOST COMMON UNVALIDATED ASSUMPTIONS BY MODEL TYPE:
- B2B SaaS: "SMEs will pay GHS 300/month for this software" — most SME founders think software should be free
- B2C Subscription: "Users will upgrade from free to paid at 5%" — actual rate is often 0.5–1%
- Marketplace: "Both buyers and sellers will trust a new platform" — trust takes 12–18 months to build
- B2G: "The government contract will close in 6 months" — actual timeline is often 2–3 years
THE MVP TEST PRINCIPLE:
You do not need a finished product to test a business model. You can test with:
- A landing page with a "buy" button (does anyone click to pay?)
- A handshake agreement (do companies sign a letter of intent?)
- A service delivered manually (can you do the job without the technology before you build it?)
FAMOUS EXAMPLE:
Airbnb founders tested their model by renting out their own apartment before building the platform. First revenue was $80 per night from 3 guests sleeping on air mattresses. They validated "strangers will pay to sleep in a stranger's home" before writing a line of code.
GHANA EQUIVALENT:
Ask participants: "What is the manual version of your product you could run for 10 customers next week? What would you learn from doing it by hand before automating it?" This is sometimes called "Wizard of Oz"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2 EXERCISE
TIMING: 45 minutes | 3:00–3:45 PM
SETUP:
- Give each participant a printed "Model Selection Card" — a single page with the 5 decision framework questions from the morning (you can create this as a handout or print the slide)
- Have flip chart paper available for groups who want to map things visually
- Encourage participants to refer back to their BMC from Day 1
FACILITATION DURING EXERCISE:
- During Step 1: push back gently on anyone who says "B2B SaaS" without being able to name 3 specific companies that would pay them and how much
- During Step 2: the riskiest assumption is usually about willingness to pay. Help participants identify this by asking: "Has any customer ever paid you money for this? If not — that is your riskiest assumption."
- During Step 3: the test must be runnable in 7 days with no budget. If the proposed test requires 3 months and GHS 10,000 — it is not a minimum viable test.
- During Step 4 (group): ensure groups give SPECIFIC feedback, not just "sounds good." Ask reviewers: "What is the one thing that would make you NOT believe this model will work?"
DEBRIEF QUESTIONS:
1. "What was the hardest question in the decision framework for you? Why?"
2. "Did anyone change their model type based on today? What made you change?"
3. "What validation test are you most excited to run this week?"
FACILITATOR TIP:
Collect the model selection cards at the end. Read through them before Day 3 — it helps you tailor the Revenue Models session to the actual model types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2 TAKEAWAYS
TIMING: 10 minutes | 3:45–3:55 PM
DEBRIEF APPROACH:
- Takeaway 1: Ask "Who changed their model type choice today — and why?" Celebrate this as an act of intellectual honesty.
- Takeaway 2: Ask "For those in the room with B2C models — can you see a B2B version of your product? What would that look like?"
- Takeaway 3: Hold up the validation test plans. Say: "These pieces of paper are worth more than any slide deck. Go run these tests."
- Takeaway 4: Ask: "What is one thing about the Ghanaian market that your current model is NOT designed for yet?"
- Takeaway 5: Ask "Who currently has more than one revenue stream? Is each stream being managed intentionally — or did it just happen?"
BRIDGE TO DAY 3:
"Tomorrow we go deep into Revenue Models — not just the type, but the mechanics: pricing, unit economics, revenue forecasting and building a sustainable revenue mix. Come with your current pricing model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2 HOMEWORK
TIMING: 5 minutes | 3:55–4:00 PM
KEY EMPHASIS:
Task 2 is the most important. A 15-minute phone call with a potential paying customer will teach them more about their business model than 3 hours of desktop research. Challenge them: "If you can't do this by tomorrow morning — what does that tell you about your business?"
PREPARATION FOR DAY 3:
Tomorrow is Revenue Models. Participants should come with:
- Their current pricing (if any)
- Their current monthly revenue (or GHS 0 if pre-revenue — that's fine)
- At least one revenue stream that is either active or clearly hypothesised
SEND A WHATSAPP REMINDER this evening with the homework tasks and a one-liner: "Tomorrow we build your revenue model. Come knowing your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FFC20E">
              <a:alpha val="15000"/>
            </a:srgbClr>
          </a:solidFill>
        </p:spPr>
      </p:sp>
      <p:sp>
        <p:nvSpPr>
          <p:cNvPr id="3" name="Shape 1"/>
          <p:cNvSpPr/>
          <p:nvPr/>
        </p:nvSpPr>
        <p:spPr>
          <a:xfrm>
            <a:off x="7498080" y="2377440"/>
            <a:ext cx="2286000" cy="2286000"/>
          </a:xfrm>
          <a:prstGeom prst="ellipse">
            <a:avLst/>
          </a:prstGeom>
          <a:solidFill>
            <a:srgbClr val="FFC20E">
              <a:alpha val="20000"/>
            </a:srgbClr>
          </a:solidFill>
        </p:spPr>
      </p:sp>
      <p:sp>
        <p:nvSpPr>
          <p:cNvPr id="4" name="Shape 2"/>
          <p:cNvSpPr/>
          <p:nvPr/>
        </p:nvSpPr>
        <p:spPr>
          <a:xfrm>
            <a:off x="0" y="0"/>
            <a:ext cx="201168" cy="5143500"/>
          </a:xfrm>
          <a:prstGeom prst="rect">
            <a:avLst/>
          </a:prstGeom>
          <a:solidFill>
            <a:srgbClr val="FFC20E"/>
          </a:solidFill>
        </p:spPr>
      </p:sp>
      <p:sp>
        <p:nvSpPr>
          <p:cNvPr id="5" name="Text 3"/>
          <p:cNvSpPr/>
          <p:nvPr/>
        </p:nvSpPr>
        <p:spPr>
          <a:xfrm>
            <a:off x="411480" y="594360"/>
            <a:ext cx="6400800" cy="347472"/>
          </a:xfrm>
          <a:prstGeom prst="rect">
            <a:avLst/>
          </a:prstGeom>
          <a:noFill/>
        </p:spPr>
        <p:txBody>
          <a:bodyPr wrap="square" lIns="0" tIns="0" rIns="0" bIns="0" rtlCol="0" anchor="ctr"/>
          <a:lstStyle/>
          <a:p>
            <a:pPr marL="0" indent="0">
              <a:buNone/>
            </a:pPr>
            <a:r>
              <a:rPr lang="en-US" sz="1100" kern="0" spc="400" dirty="0">
                <a:solidFill>
                  <a:srgbClr val="FFC20E"/>
                </a:solidFill>
                <a:latin typeface="Calibri" panose="020F05020202040A0204" pitchFamily="34" charset="0"/>
                <a:ea typeface="Calibri" panose="020F05020202040A0204" pitchFamily="34" charset="-122"/>
                <a:cs typeface="Calibri" panose="020F05020202040A0204" pitchFamily="34" charset="-120"/>
              </a:rPr>
              <a:t>UNICEF STARTUP LAB GHANA</a:t>
            </a:r>
            <a:endParaRPr lang="en-US" sz="1100" dirty="0"/>
          </a:p>
        </p:txBody>
      </p:sp>
      <p:sp>
        <p:nvSpPr>
          <p:cNvPr id="6" name="Text 4"/>
          <p:cNvSpPr/>
          <p:nvPr/>
        </p:nvSpPr>
        <p:spPr>
          <a:xfrm>
            <a:off x="411480" y="1024128"/>
            <a:ext cx="3657600" cy="475488"/>
          </a:xfrm>
          <a:prstGeom prst="rect">
            <a:avLst/>
          </a:prstGeom>
          <a:noFill/>
        </p:spPr>
        <p:txBody>
          <a:bodyPr wrap="square" lIns="0" tIns="0" rIns="0" bIns="0" rtlCol="0" anchor="ctr"/>
          <a:lstStyle/>
          <a:p>
            <a:pPr marL="0" indent="0">
              <a:buNone/>
            </a:pPr>
            <a:r>
              <a:rPr lang="en-US" sz="2200"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Day 2 of 4</a:t>
            </a:r>
            <a:endParaRPr lang="en-US" sz="2200" dirty="0"/>
          </a:p>
        </p:txBody>
      </p:sp>
      <p:sp>
        <p:nvSpPr>
          <p:cNvPr id="7" name="Text 5"/>
          <p:cNvSpPr/>
          <p:nvPr/>
        </p:nvSpPr>
        <p:spPr>
          <a:xfrm>
            <a:off x="411480" y="1481328"/>
            <a:ext cx="7772400" cy="1234440"/>
          </a:xfrm>
          <a:prstGeom prst="rect">
            <a:avLst/>
          </a:prstGeom>
          <a:noFill/>
        </p:spPr>
        <p:txBody>
          <a:bodyPr wrap="square" lIns="0" tIns="0" rIns="0" bIns="0" rtlCol="0" anchor="ctr"/>
          <a:lstStyle/>
          <a:p>
            <a:pPr marL="0" indent="0">
              <a:buNone/>
            </a:pPr>
            <a:r>
              <a:rPr lang="en-US" sz="44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Business Model Types</a:t>
            </a:r>
            <a:endParaRPr lang="en-US" sz="4400" dirty="0"/>
          </a:p>
        </p:txBody>
      </p:sp>
      <p:sp>
        <p:nvSpPr>
          <p:cNvPr id="8" name="Text 6"/>
          <p:cNvSpPr/>
          <p:nvPr/>
        </p:nvSpPr>
        <p:spPr>
          <a:xfrm>
            <a:off x="411480" y="2788920"/>
            <a:ext cx="7315200" cy="457200"/>
          </a:xfrm>
          <a:prstGeom prst="rect">
            <a:avLst/>
          </a:prstGeom>
          <a:noFill/>
        </p:spPr>
        <p:txBody>
          <a:bodyPr wrap="square" lIns="0" tIns="0" rIns="0" bIns="0" rtlCol="0" anchor="ctr"/>
          <a:lstStyle/>
          <a:p>
            <a:pPr marL="0" indent="0">
              <a:buNone/>
            </a:pPr>
            <a:r>
              <a:rPr lang="en-US" sz="1500" dirty="0">
                <a:solidFill>
                  <a:srgbClr val="E8F4FD"/>
                </a:solidFill>
                <a:latin typeface="Calibri" panose="020F05020202040A0204" pitchFamily="34" charset="0"/>
                <a:ea typeface="Calibri" panose="020F05020202040A0204" pitchFamily="34" charset="-122"/>
                <a:cs typeface="Calibri" panose="020F05020202040A0204" pitchFamily="34" charset="-120"/>
              </a:rPr>
              <a:t>Choosing the Right Model for Your Startup</a:t>
            </a:r>
            <a:endParaRPr lang="en-US" sz="1500" dirty="0"/>
          </a:p>
        </p:txBody>
      </p:sp>
      <p:sp>
        <p:nvSpPr>
          <p:cNvPr id="9" name="Text 7"/>
          <p:cNvSpPr/>
          <p:nvPr/>
        </p:nvSpPr>
        <p:spPr>
          <a:xfrm>
            <a:off x="411480" y="3337560"/>
            <a:ext cx="4572000" cy="347472"/>
          </a:xfrm>
          <a:prstGeom prst="rect">
            <a:avLst/>
          </a:prstGeom>
          <a:noFill/>
        </p:spPr>
        <p:txBody>
          <a:bodyPr wrap="square" lIns="0" tIns="0" rIns="0" bIns="0" rtlCol="0" anchor="ctr"/>
          <a:lstStyle/>
          <a:p>
            <a:pPr marL="0" indent="0">
              <a:buNone/>
            </a:pPr>
            <a:r>
              <a:rPr lang="en-US" sz="1300" dirty="0">
                <a:solidFill>
                  <a:srgbClr val="FFC20E"/>
                </a:solidFill>
                <a:latin typeface="Calibri" panose="020F05020202040A0204" pitchFamily="34" charset="0"/>
                <a:ea typeface="Calibri" panose="020F05020202040A0204" pitchFamily="34" charset="-122"/>
                <a:cs typeface="Calibri" panose="020F05020202040A0204" pitchFamily="34" charset="-120"/>
              </a:rPr>
              <a:t>Session: 9:00 AM - 4:00 PM</a:t>
            </a:r>
            <a:endParaRPr lang="en-US" sz="1300" dirty="0"/>
          </a:p>
        </p:txBody>
      </p:sp>
      <p:sp>
        <p:nvSpPr>
          <p:cNvPr id="10" name="Shape 8"/>
          <p:cNvSpPr/>
          <p:nvPr/>
        </p:nvSpPr>
        <p:spPr>
          <a:xfrm>
            <a:off x="201168" y="4645152"/>
            <a:ext cx="8942832" cy="498348"/>
          </a:xfrm>
          <a:prstGeom prst="rect">
            <a:avLst/>
          </a:prstGeom>
          <a:solidFill>
            <a:srgbClr val="0D1E35"/>
          </a:solidFill>
        </p:spPr>
      </p:sp>
      <p:sp>
        <p:nvSpPr>
          <p:cNvPr id="11" name="Text 9"/>
          <p:cNvSpPr/>
          <p:nvPr/>
        </p:nvSpPr>
        <p:spPr>
          <a:xfrm>
            <a:off x="457200" y="4681728"/>
            <a:ext cx="8412480" cy="365760"/>
          </a:xfrm>
          <a:prstGeom prst="rect">
            <a:avLst/>
          </a:prstGeom>
          <a:noFill/>
        </p:spPr>
        <p:txBody>
          <a:bodyPr wrap="square" lIns="0" tIns="0" rIns="0" bIns="0" rtlCol="0" anchor="ctr"/>
          <a:lstStyle/>
          <a:p>
            <a:pPr marL="0" indent="0" algn="ctr">
              <a:buNone/>
            </a:pPr>
            <a:r>
              <a:rPr lang="en-US" sz="1000" dirty="0">
                <a:solidFill>
                  <a:srgbClr val="64748B"/>
                </a:solidFill>
                <a:latin typeface="Calibri" panose="020F05020202040A0204" pitchFamily="34" charset="0"/>
                <a:ea typeface="Calibri" panose="020F05020202040A0204" pitchFamily="34" charset="-122"/>
                <a:cs typeface="Calibri" panose="020F05020202040A0204" pitchFamily="34" charset="-120"/>
              </a:rPr>
              <a:t>MEST Africa  |  UNICEF Ghana  |  KOICA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2 Schedule — 9:00 AM to 4:00 PM</a:t>
            </a:r>
            <a:endParaRPr lang="en-US" sz="2400" dirty="0"/>
          </a:p>
        </p:txBody>
      </p:sp>
      <p:sp>
        <p:nvSpPr>
          <p:cNvPr id="5" name="Shape 3"/>
          <p:cNvSpPr/>
          <p:nvPr/>
        </p:nvSpPr>
        <p:spPr>
          <a:xfrm>
            <a:off x="6949440" y="91440"/>
            <a:ext cx="1828800" cy="384048"/>
          </a:xfrm>
          <a:prstGeom prst="rect">
            <a:avLst/>
          </a:prstGeom>
          <a:solidFill>
            <a:srgbClr val="FFC20E"/>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
        <p:nvSpPr>
          <p:cNvPr id="7" name="Shape 5"/>
          <p:cNvSpPr/>
          <p:nvPr/>
        </p:nvSpPr>
        <p:spPr>
          <a:xfrm>
            <a:off x="365760" y="914400"/>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475488"/>
          </a:xfrm>
          <a:prstGeom prst="rect">
            <a:avLst/>
          </a:prstGeom>
          <a:solidFill>
            <a:srgbClr val="FFC20E"/>
          </a:solidFill>
        </p:spPr>
      </p:sp>
      <p:sp>
        <p:nvSpPr>
          <p:cNvPr id="9" name="Text 7"/>
          <p:cNvSpPr/>
          <p:nvPr/>
        </p:nvSpPr>
        <p:spPr>
          <a:xfrm>
            <a:off x="548640" y="987552"/>
            <a:ext cx="128016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9:00 AM</a:t>
            </a:r>
            <a:endParaRPr lang="en-US" sz="1100" dirty="0"/>
          </a:p>
        </p:txBody>
      </p:sp>
      <p:sp>
        <p:nvSpPr>
          <p:cNvPr id="10" name="Text 8"/>
          <p:cNvSpPr/>
          <p:nvPr/>
        </p:nvSpPr>
        <p:spPr>
          <a:xfrm>
            <a:off x="1965960" y="987552"/>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Welcome Back, Homework Debrief &amp; Day 1 Recap</a:t>
            </a:r>
            <a:endParaRPr lang="en-US" sz="1150" dirty="0"/>
          </a:p>
        </p:txBody>
      </p:sp>
      <p:sp>
        <p:nvSpPr>
          <p:cNvPr id="11" name="Text 9"/>
          <p:cNvSpPr/>
          <p:nvPr/>
        </p:nvSpPr>
        <p:spPr>
          <a:xfrm>
            <a:off x="7132320" y="987552"/>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20 min</a:t>
            </a:r>
            <a:endParaRPr lang="en-US" sz="1050" dirty="0"/>
          </a:p>
        </p:txBody>
      </p:sp>
      <p:sp>
        <p:nvSpPr>
          <p:cNvPr id="12" name="Shape 10"/>
          <p:cNvSpPr/>
          <p:nvPr/>
        </p:nvSpPr>
        <p:spPr>
          <a:xfrm>
            <a:off x="365760" y="1481328"/>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365760" y="1481328"/>
            <a:ext cx="64008" cy="475488"/>
          </a:xfrm>
          <a:prstGeom prst="rect">
            <a:avLst/>
          </a:prstGeom>
          <a:solidFill>
            <a:srgbClr val="FFC20E"/>
          </a:solidFill>
        </p:spPr>
      </p:sp>
      <p:sp>
        <p:nvSpPr>
          <p:cNvPr id="14" name="Text 12"/>
          <p:cNvSpPr/>
          <p:nvPr/>
        </p:nvSpPr>
        <p:spPr>
          <a:xfrm>
            <a:off x="548640" y="1554480"/>
            <a:ext cx="128016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9:20 AM</a:t>
            </a:r>
            <a:endParaRPr lang="en-US" sz="1100" dirty="0"/>
          </a:p>
        </p:txBody>
      </p:sp>
      <p:sp>
        <p:nvSpPr>
          <p:cNvPr id="15" name="Text 13"/>
          <p:cNvSpPr/>
          <p:nvPr/>
        </p:nvSpPr>
        <p:spPr>
          <a:xfrm>
            <a:off x="1965960" y="1554480"/>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Overview of Business Model Types</a:t>
            </a:r>
            <a:endParaRPr lang="en-US" sz="1150" dirty="0"/>
          </a:p>
        </p:txBody>
      </p:sp>
      <p:sp>
        <p:nvSpPr>
          <p:cNvPr id="16" name="Text 14"/>
          <p:cNvSpPr/>
          <p:nvPr/>
        </p:nvSpPr>
        <p:spPr>
          <a:xfrm>
            <a:off x="7132320" y="1554480"/>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25 min</a:t>
            </a:r>
            <a:endParaRPr lang="en-US" sz="1050" dirty="0"/>
          </a:p>
        </p:txBody>
      </p:sp>
      <p:sp>
        <p:nvSpPr>
          <p:cNvPr id="17" name="Shape 15"/>
          <p:cNvSpPr/>
          <p:nvPr/>
        </p:nvSpPr>
        <p:spPr>
          <a:xfrm>
            <a:off x="365760" y="2048256"/>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18" name="Shape 16"/>
          <p:cNvSpPr/>
          <p:nvPr/>
        </p:nvSpPr>
        <p:spPr>
          <a:xfrm>
            <a:off x="365760" y="2048256"/>
            <a:ext cx="64008" cy="475488"/>
          </a:xfrm>
          <a:prstGeom prst="rect">
            <a:avLst/>
          </a:prstGeom>
          <a:solidFill>
            <a:srgbClr val="FFC20E"/>
          </a:solidFill>
        </p:spPr>
      </p:sp>
      <p:sp>
        <p:nvSpPr>
          <p:cNvPr id="19" name="Text 17"/>
          <p:cNvSpPr/>
          <p:nvPr/>
        </p:nvSpPr>
        <p:spPr>
          <a:xfrm>
            <a:off x="548640" y="2121408"/>
            <a:ext cx="128016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9:45 AM</a:t>
            </a:r>
            <a:endParaRPr lang="en-US" sz="1100" dirty="0"/>
          </a:p>
        </p:txBody>
      </p:sp>
      <p:sp>
        <p:nvSpPr>
          <p:cNvPr id="20" name="Text 18"/>
          <p:cNvSpPr/>
          <p:nvPr/>
        </p:nvSpPr>
        <p:spPr>
          <a:xfrm>
            <a:off x="1965960" y="2121408"/>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B2C and B2B Models — Deep Dive</a:t>
            </a:r>
            <a:endParaRPr lang="en-US" sz="1150" dirty="0"/>
          </a:p>
        </p:txBody>
      </p:sp>
      <p:sp>
        <p:nvSpPr>
          <p:cNvPr id="21" name="Text 19"/>
          <p:cNvSpPr/>
          <p:nvPr/>
        </p:nvSpPr>
        <p:spPr>
          <a:xfrm>
            <a:off x="7132320" y="2121408"/>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30 min</a:t>
            </a:r>
            <a:endParaRPr lang="en-US" sz="1050" dirty="0"/>
          </a:p>
        </p:txBody>
      </p:sp>
      <p:sp>
        <p:nvSpPr>
          <p:cNvPr id="22" name="Shape 20"/>
          <p:cNvSpPr/>
          <p:nvPr/>
        </p:nvSpPr>
        <p:spPr>
          <a:xfrm>
            <a:off x="365760" y="2615184"/>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23" name="Shape 21"/>
          <p:cNvSpPr/>
          <p:nvPr/>
        </p:nvSpPr>
        <p:spPr>
          <a:xfrm>
            <a:off x="365760" y="2615184"/>
            <a:ext cx="64008" cy="475488"/>
          </a:xfrm>
          <a:prstGeom prst="rect">
            <a:avLst/>
          </a:prstGeom>
          <a:solidFill>
            <a:srgbClr val="FFC20E"/>
          </a:solidFill>
        </p:spPr>
      </p:sp>
      <p:sp>
        <p:nvSpPr>
          <p:cNvPr id="24" name="Text 22"/>
          <p:cNvSpPr/>
          <p:nvPr/>
        </p:nvSpPr>
        <p:spPr>
          <a:xfrm>
            <a:off x="548640" y="2688336"/>
            <a:ext cx="128016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10:15 AM</a:t>
            </a:r>
            <a:endParaRPr lang="en-US" sz="1100" dirty="0"/>
          </a:p>
        </p:txBody>
      </p:sp>
      <p:sp>
        <p:nvSpPr>
          <p:cNvPr id="25" name="Text 23"/>
          <p:cNvSpPr/>
          <p:nvPr/>
        </p:nvSpPr>
        <p:spPr>
          <a:xfrm>
            <a:off x="1965960" y="2688336"/>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B2G and Platform / Marketplace Models</a:t>
            </a:r>
            <a:endParaRPr lang="en-US" sz="1150" dirty="0"/>
          </a:p>
        </p:txBody>
      </p:sp>
      <p:sp>
        <p:nvSpPr>
          <p:cNvPr id="26" name="Text 24"/>
          <p:cNvSpPr/>
          <p:nvPr/>
        </p:nvSpPr>
        <p:spPr>
          <a:xfrm>
            <a:off x="7132320" y="2688336"/>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
        <p:nvSpPr>
          <p:cNvPr id="27" name="Shape 25"/>
          <p:cNvSpPr/>
          <p:nvPr/>
        </p:nvSpPr>
        <p:spPr>
          <a:xfrm>
            <a:off x="365760" y="3182112"/>
            <a:ext cx="8412480" cy="475488"/>
          </a:xfrm>
          <a:prstGeom prst="rect">
            <a:avLst/>
          </a:prstGeom>
          <a:solidFill>
            <a:srgbClr val="E8F4FD"/>
          </a:solidFill>
          <a:effectLst>
            <a:outerShdw blurRad="101600" dist="25400" dir="8100000" algn="bl" rotWithShape="0">
              <a:srgbClr val="000000">
                <a:alpha val="10000"/>
              </a:srgbClr>
            </a:outerShdw>
          </a:effectLst>
        </p:spPr>
      </p:sp>
      <p:sp>
        <p:nvSpPr>
          <p:cNvPr id="28" name="Shape 26"/>
          <p:cNvSpPr/>
          <p:nvPr/>
        </p:nvSpPr>
        <p:spPr>
          <a:xfrm>
            <a:off x="365760" y="3182112"/>
            <a:ext cx="64008" cy="475488"/>
          </a:xfrm>
          <a:prstGeom prst="rect">
            <a:avLst/>
          </a:prstGeom>
          <a:solidFill>
            <a:srgbClr val="64748B"/>
          </a:solidFill>
        </p:spPr>
      </p:sp>
      <p:sp>
        <p:nvSpPr>
          <p:cNvPr id="29" name="Text 27"/>
          <p:cNvSpPr/>
          <p:nvPr/>
        </p:nvSpPr>
        <p:spPr>
          <a:xfrm>
            <a:off x="548640" y="3255264"/>
            <a:ext cx="1280160" cy="310896"/>
          </a:xfrm>
          <a:prstGeom prst="rect">
            <a:avLst/>
          </a:prstGeom>
          <a:noFill/>
        </p:spPr>
        <p:txBody>
          <a:bodyPr wrap="square" lIns="0" tIns="0" rIns="0" bIns="0" rtlCol="0" anchor="ctr"/>
          <a:lstStyle/>
          <a:p>
            <a:pPr marL="0" indent="0">
              <a:buNone/>
            </a:pPr>
            <a:r>
              <a:rPr lang="en-US" sz="11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10:30 AM</a:t>
            </a:r>
            <a:endParaRPr lang="en-US" sz="1100" dirty="0"/>
          </a:p>
        </p:txBody>
      </p:sp>
      <p:sp>
        <p:nvSpPr>
          <p:cNvPr id="30" name="Text 28"/>
          <p:cNvSpPr/>
          <p:nvPr/>
        </p:nvSpPr>
        <p:spPr>
          <a:xfrm>
            <a:off x="1965960" y="3255264"/>
            <a:ext cx="5029200" cy="310896"/>
          </a:xfrm>
          <a:prstGeom prst="rect">
            <a:avLst/>
          </a:prstGeom>
          <a:noFill/>
        </p:spPr>
        <p:txBody>
          <a:bodyPr wrap="square" lIns="0" tIns="0" rIns="0" bIns="0" rtlCol="0" anchor="ctr"/>
          <a:lstStyle/>
          <a:p>
            <a:pPr marL="0" indent="0">
              <a:buNone/>
            </a:pPr>
            <a:r>
              <a:rPr lang="en-US" sz="1150" i="1" dirty="0">
                <a:solidFill>
                  <a:srgbClr val="1E293B"/>
                </a:solidFill>
                <a:latin typeface="Calibri" panose="020F05020202040A0204" pitchFamily="34" charset="0"/>
                <a:ea typeface="Calibri" panose="020F05020202040A0204" pitchFamily="34" charset="-122"/>
                <a:cs typeface="Calibri" panose="020F05020202040A0204" pitchFamily="34" charset="-120"/>
              </a:rPr>
              <a:t>MORNING BREAK</a:t>
            </a:r>
            <a:endParaRPr lang="en-US" sz="1150" dirty="0"/>
          </a:p>
        </p:txBody>
      </p:sp>
      <p:sp>
        <p:nvSpPr>
          <p:cNvPr id="31" name="Text 29"/>
          <p:cNvSpPr/>
          <p:nvPr/>
        </p:nvSpPr>
        <p:spPr>
          <a:xfrm>
            <a:off x="7132320" y="3255264"/>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
        <p:nvSpPr>
          <p:cNvPr id="32" name="Shape 30"/>
          <p:cNvSpPr/>
          <p:nvPr/>
        </p:nvSpPr>
        <p:spPr>
          <a:xfrm>
            <a:off x="365760" y="3749040"/>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33" name="Shape 31"/>
          <p:cNvSpPr/>
          <p:nvPr/>
        </p:nvSpPr>
        <p:spPr>
          <a:xfrm>
            <a:off x="365760" y="3749040"/>
            <a:ext cx="64008" cy="475488"/>
          </a:xfrm>
          <a:prstGeom prst="rect">
            <a:avLst/>
          </a:prstGeom>
          <a:solidFill>
            <a:srgbClr val="FFC20E"/>
          </a:solidFill>
        </p:spPr>
      </p:sp>
      <p:sp>
        <p:nvSpPr>
          <p:cNvPr id="34" name="Text 32"/>
          <p:cNvSpPr/>
          <p:nvPr/>
        </p:nvSpPr>
        <p:spPr>
          <a:xfrm>
            <a:off x="548640" y="3822192"/>
            <a:ext cx="128016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10:45 AM</a:t>
            </a:r>
            <a:endParaRPr lang="en-US" sz="1100" dirty="0"/>
          </a:p>
        </p:txBody>
      </p:sp>
      <p:sp>
        <p:nvSpPr>
          <p:cNvPr id="35" name="Text 33"/>
          <p:cNvSpPr/>
          <p:nvPr/>
        </p:nvSpPr>
        <p:spPr>
          <a:xfrm>
            <a:off x="1965960" y="3822192"/>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SaaS, Freemium &amp; Hybrid Models</a:t>
            </a:r>
            <a:endParaRPr lang="en-US" sz="1150" dirty="0"/>
          </a:p>
        </p:txBody>
      </p:sp>
      <p:sp>
        <p:nvSpPr>
          <p:cNvPr id="36" name="Text 34"/>
          <p:cNvSpPr/>
          <p:nvPr/>
        </p:nvSpPr>
        <p:spPr>
          <a:xfrm>
            <a:off x="7132320" y="3822192"/>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30 min</a:t>
            </a:r>
            <a:endParaRPr lang="en-US" sz="1050" dirty="0"/>
          </a:p>
        </p:txBody>
      </p:sp>
      <p:sp>
        <p:nvSpPr>
          <p:cNvPr id="37" name="Shape 35"/>
          <p:cNvSpPr/>
          <p:nvPr/>
        </p:nvSpPr>
        <p:spPr>
          <a:xfrm>
            <a:off x="365760" y="4315968"/>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38" name="Shape 36"/>
          <p:cNvSpPr/>
          <p:nvPr/>
        </p:nvSpPr>
        <p:spPr>
          <a:xfrm>
            <a:off x="365760" y="4315968"/>
            <a:ext cx="64008" cy="475488"/>
          </a:xfrm>
          <a:prstGeom prst="rect">
            <a:avLst/>
          </a:prstGeom>
          <a:solidFill>
            <a:srgbClr val="FFC20E"/>
          </a:solidFill>
        </p:spPr>
      </p:sp>
      <p:sp>
        <p:nvSpPr>
          <p:cNvPr id="39" name="Text 37"/>
          <p:cNvSpPr/>
          <p:nvPr/>
        </p:nvSpPr>
        <p:spPr>
          <a:xfrm>
            <a:off x="548640" y="4389120"/>
            <a:ext cx="128016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11:15 AM</a:t>
            </a:r>
            <a:endParaRPr lang="en-US" sz="1100" dirty="0"/>
          </a:p>
        </p:txBody>
      </p:sp>
      <p:sp>
        <p:nvSpPr>
          <p:cNvPr id="40" name="Text 38"/>
          <p:cNvSpPr/>
          <p:nvPr/>
        </p:nvSpPr>
        <p:spPr>
          <a:xfrm>
            <a:off x="1965960" y="4389120"/>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How to Choose the Right Model — Framework</a:t>
            </a:r>
            <a:endParaRPr lang="en-US" sz="1150" dirty="0"/>
          </a:p>
        </p:txBody>
      </p:sp>
      <p:sp>
        <p:nvSpPr>
          <p:cNvPr id="41" name="Text 39"/>
          <p:cNvSpPr/>
          <p:nvPr/>
        </p:nvSpPr>
        <p:spPr>
          <a:xfrm>
            <a:off x="7132320" y="4389120"/>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30 min</a:t>
            </a:r>
            <a:endParaRPr lang="en-US" sz="1050" dirty="0"/>
          </a:p>
        </p:txBody>
      </p:sp>
      <p:sp>
        <p:nvSpPr>
          <p:cNvPr id="42" name="Shape 40"/>
          <p:cNvSpPr/>
          <p:nvPr/>
        </p:nvSpPr>
        <p:spPr>
          <a:xfrm>
            <a:off x="365760" y="4882896"/>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43" name="Shape 41"/>
          <p:cNvSpPr/>
          <p:nvPr/>
        </p:nvSpPr>
        <p:spPr>
          <a:xfrm>
            <a:off x="365760" y="4882896"/>
            <a:ext cx="64008" cy="475488"/>
          </a:xfrm>
          <a:prstGeom prst="rect">
            <a:avLst/>
          </a:prstGeom>
          <a:solidFill>
            <a:srgbClr val="FFC20E"/>
          </a:solidFill>
        </p:spPr>
      </p:sp>
      <p:sp>
        <p:nvSpPr>
          <p:cNvPr id="44" name="Text 42"/>
          <p:cNvSpPr/>
          <p:nvPr/>
        </p:nvSpPr>
        <p:spPr>
          <a:xfrm>
            <a:off x="548640" y="4956048"/>
            <a:ext cx="128016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11:45 AM</a:t>
            </a:r>
            <a:endParaRPr lang="en-US" sz="1100" dirty="0"/>
          </a:p>
        </p:txBody>
      </p:sp>
      <p:sp>
        <p:nvSpPr>
          <p:cNvPr id="45" name="Text 43"/>
          <p:cNvSpPr/>
          <p:nvPr/>
        </p:nvSpPr>
        <p:spPr>
          <a:xfrm>
            <a:off x="1965960" y="4956048"/>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Common Mistakes in Model Selection</a:t>
            </a:r>
            <a:endParaRPr lang="en-US" sz="1150" dirty="0"/>
          </a:p>
        </p:txBody>
      </p:sp>
      <p:sp>
        <p:nvSpPr>
          <p:cNvPr id="46" name="Text 44"/>
          <p:cNvSpPr/>
          <p:nvPr/>
        </p:nvSpPr>
        <p:spPr>
          <a:xfrm>
            <a:off x="7132320" y="4956048"/>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30 min</a:t>
            </a:r>
            <a:endParaRPr lang="en-US" sz="1050" dirty="0"/>
          </a:p>
        </p:txBody>
      </p:sp>
      <p:sp>
        <p:nvSpPr>
          <p:cNvPr id="47" name="Shape 45"/>
          <p:cNvSpPr/>
          <p:nvPr/>
        </p:nvSpPr>
        <p:spPr>
          <a:xfrm>
            <a:off x="365760" y="5449824"/>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48" name="Shape 46"/>
          <p:cNvSpPr/>
          <p:nvPr/>
        </p:nvSpPr>
        <p:spPr>
          <a:xfrm>
            <a:off x="365760" y="5449824"/>
            <a:ext cx="64008" cy="475488"/>
          </a:xfrm>
          <a:prstGeom prst="rect">
            <a:avLst/>
          </a:prstGeom>
          <a:solidFill>
            <a:srgbClr val="FFC20E"/>
          </a:solidFill>
        </p:spPr>
      </p:sp>
      <p:sp>
        <p:nvSpPr>
          <p:cNvPr id="49" name="Text 47"/>
          <p:cNvSpPr/>
          <p:nvPr/>
        </p:nvSpPr>
        <p:spPr>
          <a:xfrm>
            <a:off x="548640" y="5522976"/>
            <a:ext cx="128016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12:15 PM</a:t>
            </a:r>
            <a:endParaRPr lang="en-US" sz="1100" dirty="0"/>
          </a:p>
        </p:txBody>
      </p:sp>
      <p:sp>
        <p:nvSpPr>
          <p:cNvPr id="50" name="Text 48"/>
          <p:cNvSpPr/>
          <p:nvPr/>
        </p:nvSpPr>
        <p:spPr>
          <a:xfrm>
            <a:off x="1965960" y="5522976"/>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African Market Context — What Works Here</a:t>
            </a:r>
            <a:endParaRPr lang="en-US" sz="1150" dirty="0"/>
          </a:p>
        </p:txBody>
      </p:sp>
      <p:sp>
        <p:nvSpPr>
          <p:cNvPr id="51" name="Text 49"/>
          <p:cNvSpPr/>
          <p:nvPr/>
        </p:nvSpPr>
        <p:spPr>
          <a:xfrm>
            <a:off x="7132320" y="5522976"/>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
        <p:nvSpPr>
          <p:cNvPr id="52" name="Shape 50"/>
          <p:cNvSpPr/>
          <p:nvPr/>
        </p:nvSpPr>
        <p:spPr>
          <a:xfrm>
            <a:off x="365760" y="6016752"/>
            <a:ext cx="8412480" cy="475488"/>
          </a:xfrm>
          <a:prstGeom prst="rect">
            <a:avLst/>
          </a:prstGeom>
          <a:solidFill>
            <a:srgbClr val="E8F4FD"/>
          </a:solidFill>
          <a:effectLst>
            <a:outerShdw blurRad="101600" dist="25400" dir="8100000" algn="bl" rotWithShape="0">
              <a:srgbClr val="000000">
                <a:alpha val="10000"/>
              </a:srgbClr>
            </a:outerShdw>
          </a:effectLst>
        </p:spPr>
      </p:sp>
      <p:sp>
        <p:nvSpPr>
          <p:cNvPr id="53" name="Shape 51"/>
          <p:cNvSpPr/>
          <p:nvPr/>
        </p:nvSpPr>
        <p:spPr>
          <a:xfrm>
            <a:off x="365760" y="6016752"/>
            <a:ext cx="64008" cy="475488"/>
          </a:xfrm>
          <a:prstGeom prst="rect">
            <a:avLst/>
          </a:prstGeom>
          <a:solidFill>
            <a:srgbClr val="64748B"/>
          </a:solidFill>
        </p:spPr>
      </p:sp>
      <p:sp>
        <p:nvSpPr>
          <p:cNvPr id="54" name="Text 52"/>
          <p:cNvSpPr/>
          <p:nvPr/>
        </p:nvSpPr>
        <p:spPr>
          <a:xfrm>
            <a:off x="548640" y="6089904"/>
            <a:ext cx="1280160" cy="310896"/>
          </a:xfrm>
          <a:prstGeom prst="rect">
            <a:avLst/>
          </a:prstGeom>
          <a:noFill/>
        </p:spPr>
        <p:txBody>
          <a:bodyPr wrap="square" lIns="0" tIns="0" rIns="0" bIns="0" rtlCol="0" anchor="ctr"/>
          <a:lstStyle/>
          <a:p>
            <a:pPr marL="0" indent="0">
              <a:buNone/>
            </a:pPr>
            <a:r>
              <a:rPr lang="en-US" sz="11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12:30 PM</a:t>
            </a:r>
            <a:endParaRPr lang="en-US" sz="1100" dirty="0"/>
          </a:p>
        </p:txBody>
      </p:sp>
      <p:sp>
        <p:nvSpPr>
          <p:cNvPr id="55" name="Text 53"/>
          <p:cNvSpPr/>
          <p:nvPr/>
        </p:nvSpPr>
        <p:spPr>
          <a:xfrm>
            <a:off x="1965960" y="6089904"/>
            <a:ext cx="5029200" cy="310896"/>
          </a:xfrm>
          <a:prstGeom prst="rect">
            <a:avLst/>
          </a:prstGeom>
          <a:noFill/>
        </p:spPr>
        <p:txBody>
          <a:bodyPr wrap="square" lIns="0" tIns="0" rIns="0" bIns="0" rtlCol="0" anchor="ctr"/>
          <a:lstStyle/>
          <a:p>
            <a:pPr marL="0" indent="0">
              <a:buNone/>
            </a:pPr>
            <a:r>
              <a:rPr lang="en-US" sz="1150" i="1" dirty="0">
                <a:solidFill>
                  <a:srgbClr val="1E293B"/>
                </a:solidFill>
                <a:latin typeface="Calibri" panose="020F05020202040A0204" pitchFamily="34" charset="0"/>
                <a:ea typeface="Calibri" panose="020F05020202040A0204" pitchFamily="34" charset="-122"/>
                <a:cs typeface="Calibri" panose="020F05020202040A0204" pitchFamily="34" charset="-120"/>
              </a:rPr>
              <a:t>LUNCH BREAK</a:t>
            </a:r>
            <a:endParaRPr lang="en-US" sz="1150" dirty="0"/>
          </a:p>
        </p:txBody>
      </p:sp>
      <p:sp>
        <p:nvSpPr>
          <p:cNvPr id="56" name="Text 54"/>
          <p:cNvSpPr/>
          <p:nvPr/>
        </p:nvSpPr>
        <p:spPr>
          <a:xfrm>
            <a:off x="7132320" y="6089904"/>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57" name="Shape 55"/>
          <p:cNvSpPr/>
          <p:nvPr/>
        </p:nvSpPr>
        <p:spPr>
          <a:xfrm>
            <a:off x="365760" y="6583680"/>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58" name="Shape 56"/>
          <p:cNvSpPr/>
          <p:nvPr/>
        </p:nvSpPr>
        <p:spPr>
          <a:xfrm>
            <a:off x="365760" y="6583680"/>
            <a:ext cx="64008" cy="475488"/>
          </a:xfrm>
          <a:prstGeom prst="rect">
            <a:avLst/>
          </a:prstGeom>
          <a:solidFill>
            <a:srgbClr val="FFC20E"/>
          </a:solidFill>
        </p:spPr>
      </p:sp>
      <p:sp>
        <p:nvSpPr>
          <p:cNvPr id="59" name="Text 57"/>
          <p:cNvSpPr/>
          <p:nvPr/>
        </p:nvSpPr>
        <p:spPr>
          <a:xfrm>
            <a:off x="548640" y="6656832"/>
            <a:ext cx="128016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1:15 PM</a:t>
            </a:r>
            <a:endParaRPr lang="en-US" sz="1100" dirty="0"/>
          </a:p>
        </p:txBody>
      </p:sp>
      <p:sp>
        <p:nvSpPr>
          <p:cNvPr id="60" name="Text 58"/>
          <p:cNvSpPr/>
          <p:nvPr/>
        </p:nvSpPr>
        <p:spPr>
          <a:xfrm>
            <a:off x="1965960" y="6656832"/>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Ghana Case Studies: mPharma &amp; Tonaton</a:t>
            </a:r>
            <a:endParaRPr lang="en-US" sz="1150" dirty="0"/>
          </a:p>
        </p:txBody>
      </p:sp>
      <p:sp>
        <p:nvSpPr>
          <p:cNvPr id="61" name="Text 59"/>
          <p:cNvSpPr/>
          <p:nvPr/>
        </p:nvSpPr>
        <p:spPr>
          <a:xfrm>
            <a:off x="7132320" y="6656832"/>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62" name="Shape 60"/>
          <p:cNvSpPr/>
          <p:nvPr/>
        </p:nvSpPr>
        <p:spPr>
          <a:xfrm>
            <a:off x="365760" y="7150608"/>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63" name="Shape 61"/>
          <p:cNvSpPr/>
          <p:nvPr/>
        </p:nvSpPr>
        <p:spPr>
          <a:xfrm>
            <a:off x="365760" y="7150608"/>
            <a:ext cx="64008" cy="475488"/>
          </a:xfrm>
          <a:prstGeom prst="rect">
            <a:avLst/>
          </a:prstGeom>
          <a:solidFill>
            <a:srgbClr val="FFC20E"/>
          </a:solidFill>
        </p:spPr>
      </p:sp>
      <p:sp>
        <p:nvSpPr>
          <p:cNvPr id="64" name="Text 62"/>
          <p:cNvSpPr/>
          <p:nvPr/>
        </p:nvSpPr>
        <p:spPr>
          <a:xfrm>
            <a:off x="548640" y="7223760"/>
            <a:ext cx="128016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2:00 PM</a:t>
            </a:r>
            <a:endParaRPr lang="en-US" sz="1100" dirty="0"/>
          </a:p>
        </p:txBody>
      </p:sp>
      <p:sp>
        <p:nvSpPr>
          <p:cNvPr id="65" name="Text 63"/>
          <p:cNvSpPr/>
          <p:nvPr/>
        </p:nvSpPr>
        <p:spPr>
          <a:xfrm>
            <a:off x="1965960" y="7223760"/>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Model Testing — How to Validate Your Choice</a:t>
            </a:r>
            <a:endParaRPr lang="en-US" sz="1150" dirty="0"/>
          </a:p>
        </p:txBody>
      </p:sp>
      <p:sp>
        <p:nvSpPr>
          <p:cNvPr id="66" name="Text 64"/>
          <p:cNvSpPr/>
          <p:nvPr/>
        </p:nvSpPr>
        <p:spPr>
          <a:xfrm>
            <a:off x="7132320" y="7223760"/>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67" name="Shape 65"/>
          <p:cNvSpPr/>
          <p:nvPr/>
        </p:nvSpPr>
        <p:spPr>
          <a:xfrm>
            <a:off x="365760" y="7717536"/>
            <a:ext cx="8412480" cy="475488"/>
          </a:xfrm>
          <a:prstGeom prst="rect">
            <a:avLst/>
          </a:prstGeom>
          <a:solidFill>
            <a:srgbClr val="E8F4FD"/>
          </a:solidFill>
          <a:effectLst>
            <a:outerShdw blurRad="101600" dist="25400" dir="8100000" algn="bl" rotWithShape="0">
              <a:srgbClr val="000000">
                <a:alpha val="10000"/>
              </a:srgbClr>
            </a:outerShdw>
          </a:effectLst>
        </p:spPr>
      </p:sp>
      <p:sp>
        <p:nvSpPr>
          <p:cNvPr id="68" name="Shape 66"/>
          <p:cNvSpPr/>
          <p:nvPr/>
        </p:nvSpPr>
        <p:spPr>
          <a:xfrm>
            <a:off x="365760" y="7717536"/>
            <a:ext cx="64008" cy="475488"/>
          </a:xfrm>
          <a:prstGeom prst="rect">
            <a:avLst/>
          </a:prstGeom>
          <a:solidFill>
            <a:srgbClr val="64748B"/>
          </a:solidFill>
        </p:spPr>
      </p:sp>
      <p:sp>
        <p:nvSpPr>
          <p:cNvPr id="69" name="Text 67"/>
          <p:cNvSpPr/>
          <p:nvPr/>
        </p:nvSpPr>
        <p:spPr>
          <a:xfrm>
            <a:off x="548640" y="7790688"/>
            <a:ext cx="1280160" cy="310896"/>
          </a:xfrm>
          <a:prstGeom prst="rect">
            <a:avLst/>
          </a:prstGeom>
          <a:noFill/>
        </p:spPr>
        <p:txBody>
          <a:bodyPr wrap="square" lIns="0" tIns="0" rIns="0" bIns="0" rtlCol="0" anchor="ctr"/>
          <a:lstStyle/>
          <a:p>
            <a:pPr marL="0" indent="0">
              <a:buNone/>
            </a:pPr>
            <a:r>
              <a:rPr lang="en-US" sz="11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2:45 PM</a:t>
            </a:r>
            <a:endParaRPr lang="en-US" sz="1100" dirty="0"/>
          </a:p>
        </p:txBody>
      </p:sp>
      <p:sp>
        <p:nvSpPr>
          <p:cNvPr id="70" name="Text 68"/>
          <p:cNvSpPr/>
          <p:nvPr/>
        </p:nvSpPr>
        <p:spPr>
          <a:xfrm>
            <a:off x="1965960" y="7790688"/>
            <a:ext cx="5029200" cy="310896"/>
          </a:xfrm>
          <a:prstGeom prst="rect">
            <a:avLst/>
          </a:prstGeom>
          <a:noFill/>
        </p:spPr>
        <p:txBody>
          <a:bodyPr wrap="square" lIns="0" tIns="0" rIns="0" bIns="0" rtlCol="0" anchor="ctr"/>
          <a:lstStyle/>
          <a:p>
            <a:pPr marL="0" indent="0">
              <a:buNone/>
            </a:pPr>
            <a:r>
              <a:rPr lang="en-US" sz="1150" i="1" dirty="0">
                <a:solidFill>
                  <a:srgbClr val="1E293B"/>
                </a:solidFill>
                <a:latin typeface="Calibri" panose="020F05020202040A0204" pitchFamily="34" charset="0"/>
                <a:ea typeface="Calibri" panose="020F05020202040A0204" pitchFamily="34" charset="-122"/>
                <a:cs typeface="Calibri" panose="020F05020202040A0204" pitchFamily="34" charset="-120"/>
              </a:rPr>
              <a:t>AFTERNOON BREAK</a:t>
            </a:r>
            <a:endParaRPr lang="en-US" sz="1150" dirty="0"/>
          </a:p>
        </p:txBody>
      </p:sp>
      <p:sp>
        <p:nvSpPr>
          <p:cNvPr id="71" name="Text 69"/>
          <p:cNvSpPr/>
          <p:nvPr/>
        </p:nvSpPr>
        <p:spPr>
          <a:xfrm>
            <a:off x="7132320" y="7790688"/>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
        <p:nvSpPr>
          <p:cNvPr id="72" name="Shape 70"/>
          <p:cNvSpPr/>
          <p:nvPr/>
        </p:nvSpPr>
        <p:spPr>
          <a:xfrm>
            <a:off x="365760" y="8284464"/>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73" name="Shape 71"/>
          <p:cNvSpPr/>
          <p:nvPr/>
        </p:nvSpPr>
        <p:spPr>
          <a:xfrm>
            <a:off x="365760" y="8284464"/>
            <a:ext cx="64008" cy="475488"/>
          </a:xfrm>
          <a:prstGeom prst="rect">
            <a:avLst/>
          </a:prstGeom>
          <a:solidFill>
            <a:srgbClr val="FFC20E"/>
          </a:solidFill>
        </p:spPr>
      </p:sp>
      <p:sp>
        <p:nvSpPr>
          <p:cNvPr id="74" name="Text 72"/>
          <p:cNvSpPr/>
          <p:nvPr/>
        </p:nvSpPr>
        <p:spPr>
          <a:xfrm>
            <a:off x="548640" y="8357616"/>
            <a:ext cx="128016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3:00 PM</a:t>
            </a:r>
            <a:endParaRPr lang="en-US" sz="1100" dirty="0"/>
          </a:p>
        </p:txBody>
      </p:sp>
      <p:sp>
        <p:nvSpPr>
          <p:cNvPr id="75" name="Text 73"/>
          <p:cNvSpPr/>
          <p:nvPr/>
        </p:nvSpPr>
        <p:spPr>
          <a:xfrm>
            <a:off x="1965960" y="8357616"/>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Exercise: Select &amp; Defend Your Business Model</a:t>
            </a:r>
            <a:endParaRPr lang="en-US" sz="1150" dirty="0"/>
          </a:p>
        </p:txBody>
      </p:sp>
      <p:sp>
        <p:nvSpPr>
          <p:cNvPr id="76" name="Text 74"/>
          <p:cNvSpPr/>
          <p:nvPr/>
        </p:nvSpPr>
        <p:spPr>
          <a:xfrm>
            <a:off x="7132320" y="8357616"/>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77" name="Shape 75"/>
          <p:cNvSpPr/>
          <p:nvPr/>
        </p:nvSpPr>
        <p:spPr>
          <a:xfrm>
            <a:off x="365760" y="8851392"/>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78" name="Shape 76"/>
          <p:cNvSpPr/>
          <p:nvPr/>
        </p:nvSpPr>
        <p:spPr>
          <a:xfrm>
            <a:off x="365760" y="8851392"/>
            <a:ext cx="64008" cy="475488"/>
          </a:xfrm>
          <a:prstGeom prst="rect">
            <a:avLst/>
          </a:prstGeom>
          <a:solidFill>
            <a:srgbClr val="FFC20E"/>
          </a:solidFill>
        </p:spPr>
      </p:sp>
      <p:sp>
        <p:nvSpPr>
          <p:cNvPr id="79" name="Text 77"/>
          <p:cNvSpPr/>
          <p:nvPr/>
        </p:nvSpPr>
        <p:spPr>
          <a:xfrm>
            <a:off x="548640" y="8924544"/>
            <a:ext cx="1280160" cy="310896"/>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3:45 PM</a:t>
            </a:r>
            <a:endParaRPr lang="en-US" sz="1100" dirty="0"/>
          </a:p>
        </p:txBody>
      </p:sp>
      <p:sp>
        <p:nvSpPr>
          <p:cNvPr id="80" name="Text 78"/>
          <p:cNvSpPr/>
          <p:nvPr/>
        </p:nvSpPr>
        <p:spPr>
          <a:xfrm>
            <a:off x="1965960" y="8924544"/>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Debrief, Key Takeaways &amp; Homework</a:t>
            </a:r>
            <a:endParaRPr lang="en-US" sz="1150" dirty="0"/>
          </a:p>
        </p:txBody>
      </p:sp>
      <p:sp>
        <p:nvSpPr>
          <p:cNvPr id="81" name="Text 79"/>
          <p:cNvSpPr/>
          <p:nvPr/>
        </p:nvSpPr>
        <p:spPr>
          <a:xfrm>
            <a:off x="7132320" y="8924544"/>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1 Recap — What We Covered</a:t>
            </a:r>
            <a:endParaRPr lang="en-US" sz="2400" dirty="0"/>
          </a:p>
        </p:txBody>
      </p:sp>
      <p:sp>
        <p:nvSpPr>
          <p:cNvPr id="5" name="Shape 3"/>
          <p:cNvSpPr/>
          <p:nvPr/>
        </p:nvSpPr>
        <p:spPr>
          <a:xfrm>
            <a:off x="6949440" y="91440"/>
            <a:ext cx="1828800" cy="384048"/>
          </a:xfrm>
          <a:prstGeom prst="rect">
            <a:avLst/>
          </a:prstGeom>
          <a:solidFill>
            <a:srgbClr val="FFC20E"/>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
        <p:nvSpPr>
          <p:cNvPr id="7" name="Text 5"/>
          <p:cNvSpPr/>
          <p:nvPr/>
        </p:nvSpPr>
        <p:spPr>
          <a:xfrm>
            <a:off x="457200" y="868680"/>
            <a:ext cx="822960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Quick recap before we begin. What do you remember from Day 1 — Business Modeling?</a:t>
            </a:r>
            <a:endParaRPr lang="en-US" sz="1300" dirty="0"/>
          </a:p>
        </p:txBody>
      </p:sp>
      <p:sp>
        <p:nvSpPr>
          <p:cNvPr id="8" name="Shape 6"/>
          <p:cNvSpPr/>
          <p:nvPr/>
        </p:nvSpPr>
        <p:spPr>
          <a:xfrm>
            <a:off x="365760" y="1353312"/>
            <a:ext cx="8412480" cy="658368"/>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353312"/>
            <a:ext cx="64008" cy="658368"/>
          </a:xfrm>
          <a:prstGeom prst="rect">
            <a:avLst/>
          </a:prstGeom>
          <a:solidFill>
            <a:srgbClr val="FFC20E"/>
          </a:solidFill>
        </p:spPr>
      </p:sp>
      <p:sp>
        <p:nvSpPr>
          <p:cNvPr id="10" name="Text 8"/>
          <p:cNvSpPr/>
          <p:nvPr/>
        </p:nvSpPr>
        <p:spPr>
          <a:xfrm>
            <a:off x="566928" y="1508760"/>
            <a:ext cx="795528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A business model describes how you create, deliver and capture value, all three must work together</a:t>
            </a:r>
            <a:endParaRPr lang="en-US" sz="1300" dirty="0"/>
          </a:p>
        </p:txBody>
      </p:sp>
      <p:sp>
        <p:nvSpPr>
          <p:cNvPr id="11" name="Shape 9"/>
          <p:cNvSpPr/>
          <p:nvPr/>
        </p:nvSpPr>
        <p:spPr>
          <a:xfrm>
            <a:off x="365760" y="2139696"/>
            <a:ext cx="8412480" cy="658368"/>
          </a:xfrm>
          <a:prstGeom prst="rect">
            <a:avLst/>
          </a:prstGeom>
          <a:solidFill>
            <a:srgbClr val="F4F8FC"/>
          </a:solidFill>
          <a:effectLst>
            <a:outerShdw blurRad="101600" dist="25400" dir="8100000" algn="bl" rotWithShape="0">
              <a:srgbClr val="000000">
                <a:alpha val="10000"/>
              </a:srgbClr>
            </a:outerShdw>
          </a:effectLst>
        </p:spPr>
      </p:sp>
      <p:sp>
        <p:nvSpPr>
          <p:cNvPr id="12" name="Shape 10"/>
          <p:cNvSpPr/>
          <p:nvPr/>
        </p:nvSpPr>
        <p:spPr>
          <a:xfrm>
            <a:off x="365760" y="2139696"/>
            <a:ext cx="64008" cy="658368"/>
          </a:xfrm>
          <a:prstGeom prst="rect">
            <a:avLst/>
          </a:prstGeom>
          <a:solidFill>
            <a:srgbClr val="FFC20E"/>
          </a:solidFill>
        </p:spPr>
      </p:sp>
      <p:sp>
        <p:nvSpPr>
          <p:cNvPr id="13" name="Text 11"/>
          <p:cNvSpPr/>
          <p:nvPr/>
        </p:nvSpPr>
        <p:spPr>
          <a:xfrm>
            <a:off x="566928" y="2295144"/>
            <a:ext cx="795528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The BMC has 9 blocks: start with Customer Segments, build outward to Value Proposition, then the rest</a:t>
            </a:r>
            <a:endParaRPr lang="en-US" sz="1300" dirty="0"/>
          </a:p>
        </p:txBody>
      </p:sp>
      <p:sp>
        <p:nvSpPr>
          <p:cNvPr id="14" name="Shape 12"/>
          <p:cNvSpPr/>
          <p:nvPr/>
        </p:nvSpPr>
        <p:spPr>
          <a:xfrm>
            <a:off x="365760" y="2926080"/>
            <a:ext cx="8412480" cy="658368"/>
          </a:xfrm>
          <a:prstGeom prst="rect">
            <a:avLst/>
          </a:prstGeom>
          <a:solidFill>
            <a:srgbClr val="FFFFFF"/>
          </a:solidFill>
          <a:effectLst>
            <a:outerShdw blurRad="101600" dist="25400" dir="8100000" algn="bl" rotWithShape="0">
              <a:srgbClr val="000000">
                <a:alpha val="10000"/>
              </a:srgbClr>
            </a:outerShdw>
          </a:effectLst>
        </p:spPr>
      </p:sp>
      <p:sp>
        <p:nvSpPr>
          <p:cNvPr id="15" name="Shape 13"/>
          <p:cNvSpPr/>
          <p:nvPr/>
        </p:nvSpPr>
        <p:spPr>
          <a:xfrm>
            <a:off x="365760" y="2926080"/>
            <a:ext cx="64008" cy="658368"/>
          </a:xfrm>
          <a:prstGeom prst="rect">
            <a:avLst/>
          </a:prstGeom>
          <a:solidFill>
            <a:srgbClr val="FFC20E"/>
          </a:solidFill>
        </p:spPr>
      </p:sp>
      <p:sp>
        <p:nvSpPr>
          <p:cNvPr id="16" name="Text 14"/>
          <p:cNvSpPr/>
          <p:nvPr/>
        </p:nvSpPr>
        <p:spPr>
          <a:xfrm>
            <a:off x="566928" y="3081528"/>
            <a:ext cx="795528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Business diagnostics use real metrics (CAC, LTV, churn, burn rate) to assess model health</a:t>
            </a:r>
            <a:endParaRPr lang="en-US" sz="1300" dirty="0"/>
          </a:p>
        </p:txBody>
      </p:sp>
      <p:sp>
        <p:nvSpPr>
          <p:cNvPr id="17" name="Shape 15"/>
          <p:cNvSpPr/>
          <p:nvPr/>
        </p:nvSpPr>
        <p:spPr>
          <a:xfrm>
            <a:off x="365760" y="3712464"/>
            <a:ext cx="8412480" cy="658368"/>
          </a:xfrm>
          <a:prstGeom prst="rect">
            <a:avLst/>
          </a:prstGeom>
          <a:solidFill>
            <a:srgbClr val="F4F8FC"/>
          </a:solidFill>
          <a:effectLst>
            <a:outerShdw blurRad="101600" dist="25400" dir="8100000" algn="bl" rotWithShape="0">
              <a:srgbClr val="000000">
                <a:alpha val="10000"/>
              </a:srgbClr>
            </a:outerShdw>
          </a:effectLst>
        </p:spPr>
      </p:sp>
      <p:sp>
        <p:nvSpPr>
          <p:cNvPr id="18" name="Shape 16"/>
          <p:cNvSpPr/>
          <p:nvPr/>
        </p:nvSpPr>
        <p:spPr>
          <a:xfrm>
            <a:off x="365760" y="3712464"/>
            <a:ext cx="64008" cy="658368"/>
          </a:xfrm>
          <a:prstGeom prst="rect">
            <a:avLst/>
          </a:prstGeom>
          <a:solidFill>
            <a:srgbClr val="FFC20E"/>
          </a:solidFill>
        </p:spPr>
      </p:sp>
      <p:sp>
        <p:nvSpPr>
          <p:cNvPr id="19" name="Text 17"/>
          <p:cNvSpPr/>
          <p:nvPr/>
        </p:nvSpPr>
        <p:spPr>
          <a:xfrm>
            <a:off x="566928" y="3867912"/>
            <a:ext cx="795528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Every block on the BMC is an assumption until validated by a real customer paying real money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Today's Learning Objectives</a:t>
            </a:r>
            <a:endParaRPr lang="en-US" sz="2400" dirty="0"/>
          </a:p>
        </p:txBody>
      </p:sp>
      <p:sp>
        <p:nvSpPr>
          <p:cNvPr id="5" name="Shape 3"/>
          <p:cNvSpPr/>
          <p:nvPr/>
        </p:nvSpPr>
        <p:spPr>
          <a:xfrm>
            <a:off x="6949440" y="91440"/>
            <a:ext cx="1828800" cy="384048"/>
          </a:xfrm>
          <a:prstGeom prst="rect">
            <a:avLst/>
          </a:prstGeom>
          <a:solidFill>
            <a:srgbClr val="FFC20E"/>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
        <p:nvSpPr>
          <p:cNvPr id="7" name="Text 5"/>
          <p:cNvSpPr/>
          <p:nvPr/>
        </p:nvSpPr>
        <p:spPr>
          <a:xfrm>
            <a:off x="457200" y="868680"/>
            <a:ext cx="822960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By the end of today, you will be able to:</a:t>
            </a:r>
            <a:endParaRPr lang="en-US" sz="1300" dirty="0"/>
          </a:p>
        </p:txBody>
      </p:sp>
      <p:sp>
        <p:nvSpPr>
          <p:cNvPr id="8" name="Shape 6"/>
          <p:cNvSpPr/>
          <p:nvPr/>
        </p:nvSpPr>
        <p:spPr>
          <a:xfrm>
            <a:off x="365760" y="132588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457200" y="1472184"/>
            <a:ext cx="402336" cy="402336"/>
          </a:xfrm>
          <a:prstGeom prst="ellipse">
            <a:avLst/>
          </a:prstGeom>
          <a:solidFill>
            <a:srgbClr val="FFC20E"/>
          </a:solidFill>
        </p:spPr>
      </p:sp>
      <p:sp>
        <p:nvSpPr>
          <p:cNvPr id="10" name="Text 8"/>
          <p:cNvSpPr/>
          <p:nvPr/>
        </p:nvSpPr>
        <p:spPr>
          <a:xfrm>
            <a:off x="457200" y="147218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1</a:t>
            </a:r>
            <a:endParaRPr lang="en-US" sz="1300" dirty="0"/>
          </a:p>
        </p:txBody>
      </p:sp>
      <p:sp>
        <p:nvSpPr>
          <p:cNvPr id="11" name="Text 9"/>
          <p:cNvSpPr/>
          <p:nvPr/>
        </p:nvSpPr>
        <p:spPr>
          <a:xfrm>
            <a:off x="1024128" y="148132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Identify and explain at least 6 major business model types with African examples</a:t>
            </a:r>
            <a:endParaRPr lang="en-US" sz="1300" dirty="0"/>
          </a:p>
        </p:txBody>
      </p:sp>
      <p:sp>
        <p:nvSpPr>
          <p:cNvPr id="12" name="Shape 10"/>
          <p:cNvSpPr/>
          <p:nvPr/>
        </p:nvSpPr>
        <p:spPr>
          <a:xfrm>
            <a:off x="365760" y="214884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457200" y="2295144"/>
            <a:ext cx="402336" cy="402336"/>
          </a:xfrm>
          <a:prstGeom prst="ellipse">
            <a:avLst/>
          </a:prstGeom>
          <a:solidFill>
            <a:srgbClr val="FFC20E"/>
          </a:solidFill>
        </p:spPr>
      </p:sp>
      <p:sp>
        <p:nvSpPr>
          <p:cNvPr id="14" name="Text 12"/>
          <p:cNvSpPr/>
          <p:nvPr/>
        </p:nvSpPr>
        <p:spPr>
          <a:xfrm>
            <a:off x="457200" y="229514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2</a:t>
            </a:r>
            <a:endParaRPr lang="en-US" sz="1300" dirty="0"/>
          </a:p>
        </p:txBody>
      </p:sp>
      <p:sp>
        <p:nvSpPr>
          <p:cNvPr id="15" name="Text 13"/>
          <p:cNvSpPr/>
          <p:nvPr/>
        </p:nvSpPr>
        <p:spPr>
          <a:xfrm>
            <a:off x="1024128" y="230428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Apply a structured decision framework to choose the right model for your venture</a:t>
            </a:r>
            <a:endParaRPr lang="en-US" sz="1300" dirty="0"/>
          </a:p>
        </p:txBody>
      </p:sp>
      <p:sp>
        <p:nvSpPr>
          <p:cNvPr id="16" name="Shape 14"/>
          <p:cNvSpPr/>
          <p:nvPr/>
        </p:nvSpPr>
        <p:spPr>
          <a:xfrm>
            <a:off x="365760" y="297180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7" name="Shape 15"/>
          <p:cNvSpPr/>
          <p:nvPr/>
        </p:nvSpPr>
        <p:spPr>
          <a:xfrm>
            <a:off x="457200" y="3118104"/>
            <a:ext cx="402336" cy="402336"/>
          </a:xfrm>
          <a:prstGeom prst="ellipse">
            <a:avLst/>
          </a:prstGeom>
          <a:solidFill>
            <a:srgbClr val="FFC20E"/>
          </a:solidFill>
        </p:spPr>
      </p:sp>
      <p:sp>
        <p:nvSpPr>
          <p:cNvPr id="18" name="Text 16"/>
          <p:cNvSpPr/>
          <p:nvPr/>
        </p:nvSpPr>
        <p:spPr>
          <a:xfrm>
            <a:off x="457200" y="311810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3</a:t>
            </a:r>
            <a:endParaRPr lang="en-US" sz="1300" dirty="0"/>
          </a:p>
        </p:txBody>
      </p:sp>
      <p:sp>
        <p:nvSpPr>
          <p:cNvPr id="19" name="Text 17"/>
          <p:cNvSpPr/>
          <p:nvPr/>
        </p:nvSpPr>
        <p:spPr>
          <a:xfrm>
            <a:off x="1024128" y="312724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Recognise the 3 most common model selection mistakes and how to avoid them</a:t>
            </a:r>
            <a:endParaRPr lang="en-US" sz="1300" dirty="0"/>
          </a:p>
        </p:txBody>
      </p:sp>
      <p:sp>
        <p:nvSpPr>
          <p:cNvPr id="20" name="Shape 18"/>
          <p:cNvSpPr/>
          <p:nvPr/>
        </p:nvSpPr>
        <p:spPr>
          <a:xfrm>
            <a:off x="365760" y="379476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21" name="Shape 19"/>
          <p:cNvSpPr/>
          <p:nvPr/>
        </p:nvSpPr>
        <p:spPr>
          <a:xfrm>
            <a:off x="457200" y="3941064"/>
            <a:ext cx="402336" cy="402336"/>
          </a:xfrm>
          <a:prstGeom prst="ellipse">
            <a:avLst/>
          </a:prstGeom>
          <a:solidFill>
            <a:srgbClr val="FFC20E"/>
          </a:solidFill>
        </p:spPr>
      </p:sp>
      <p:sp>
        <p:nvSpPr>
          <p:cNvPr id="22" name="Text 20"/>
          <p:cNvSpPr/>
          <p:nvPr/>
        </p:nvSpPr>
        <p:spPr>
          <a:xfrm>
            <a:off x="457200" y="394106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4</a:t>
            </a:r>
            <a:endParaRPr lang="en-US" sz="1300" dirty="0"/>
          </a:p>
        </p:txBody>
      </p:sp>
      <p:sp>
        <p:nvSpPr>
          <p:cNvPr id="23" name="Text 21"/>
          <p:cNvSpPr/>
          <p:nvPr/>
        </p:nvSpPr>
        <p:spPr>
          <a:xfrm>
            <a:off x="1024128" y="395020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Explain how to test and validate your chosen business model before scaling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Business Model Types: The Landscape</a:t>
            </a:r>
            <a:endParaRPr lang="en-US" sz="2400" dirty="0"/>
          </a:p>
        </p:txBody>
      </p:sp>
      <p:sp>
        <p:nvSpPr>
          <p:cNvPr id="5" name="Shape 3"/>
          <p:cNvSpPr/>
          <p:nvPr/>
        </p:nvSpPr>
        <p:spPr>
          <a:xfrm>
            <a:off x="6949440" y="91440"/>
            <a:ext cx="1828800" cy="384048"/>
          </a:xfrm>
          <a:prstGeom prst="rect">
            <a:avLst/>
          </a:prstGeom>
          <a:solidFill>
            <a:srgbClr val="FFC20E"/>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
        <p:nvSpPr>
          <p:cNvPr id="7" name="Text 5"/>
          <p:cNvSpPr/>
          <p:nvPr/>
        </p:nvSpPr>
        <p:spPr>
          <a:xfrm>
            <a:off x="457200" y="868680"/>
            <a:ext cx="8229600" cy="411480"/>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Different business model types suit different problems, customers and contexts. Choosing correctly can be the difference between growth and stagnation.</a:t>
            </a:r>
            <a:endParaRPr lang="en-US" sz="1300" dirty="0"/>
          </a:p>
        </p:txBody>
      </p:sp>
      <p:sp>
        <p:nvSpPr>
          <p:cNvPr id="8" name="Shape 6"/>
          <p:cNvSpPr/>
          <p:nvPr/>
        </p:nvSpPr>
        <p:spPr>
          <a:xfrm>
            <a:off x="320040" y="1417320"/>
            <a:ext cx="2743200" cy="1554480"/>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20040" y="1417320"/>
            <a:ext cx="2743200" cy="64008"/>
          </a:xfrm>
          <a:prstGeom prst="rect">
            <a:avLst/>
          </a:prstGeom>
          <a:solidFill>
            <a:srgbClr val="00AEEF"/>
          </a:solidFill>
        </p:spPr>
      </p:sp>
      <p:sp>
        <p:nvSpPr>
          <p:cNvPr id="10" name="Text 8"/>
          <p:cNvSpPr/>
          <p:nvPr/>
        </p:nvSpPr>
        <p:spPr>
          <a:xfrm>
            <a:off x="457200" y="1545336"/>
            <a:ext cx="2468880" cy="502920"/>
          </a:xfrm>
          <a:prstGeom prst="rect">
            <a:avLst/>
          </a:prstGeom>
          <a:noFill/>
        </p:spPr>
        <p:txBody>
          <a:bodyPr wrap="square" lIns="0" tIns="0" rIns="0" bIns="0" rtlCol="0" anchor="ctr"/>
          <a:lstStyle/>
          <a:p>
            <a:pPr marL="0" indent="0">
              <a:buNone/>
            </a:pPr>
            <a:r>
              <a:rPr lang="en-US" sz="22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B2C</a:t>
            </a:r>
            <a:endParaRPr lang="en-US" sz="2200" dirty="0"/>
          </a:p>
        </p:txBody>
      </p:sp>
      <p:sp>
        <p:nvSpPr>
          <p:cNvPr id="11" name="Text 9"/>
          <p:cNvSpPr/>
          <p:nvPr/>
        </p:nvSpPr>
        <p:spPr>
          <a:xfrm>
            <a:off x="457200" y="2075688"/>
            <a:ext cx="2468880" cy="292608"/>
          </a:xfrm>
          <a:prstGeom prst="rect">
            <a:avLst/>
          </a:prstGeom>
          <a:noFill/>
        </p:spPr>
        <p:txBody>
          <a:bodyPr wrap="square" lIns="0" tIns="0" rIns="0" bIns="0" rtlCol="0" anchor="ctr"/>
          <a:lstStyle/>
          <a:p>
            <a:pPr marL="0" indent="0">
              <a:buNone/>
            </a:pPr>
            <a:r>
              <a:rPr lang="en-US" sz="11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Business to Consumer</a:t>
            </a:r>
            <a:endParaRPr lang="en-US" sz="1100" dirty="0"/>
          </a:p>
        </p:txBody>
      </p:sp>
      <p:sp>
        <p:nvSpPr>
          <p:cNvPr id="12" name="Text 10"/>
          <p:cNvSpPr/>
          <p:nvPr/>
        </p:nvSpPr>
        <p:spPr>
          <a:xfrm>
            <a:off x="457200" y="2395728"/>
            <a:ext cx="2468880" cy="475488"/>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A0204" pitchFamily="34" charset="0"/>
                <a:ea typeface="Calibri" panose="020F05020202040A0204" pitchFamily="34" charset="-122"/>
                <a:cs typeface="Calibri" panose="020F05020202040A0204" pitchFamily="34" charset="-120"/>
              </a:rPr>
              <a:t>e.g. Jumia, Zeepay, Farmerline (consumer)</a:t>
            </a:r>
            <a:endParaRPr lang="en-US" sz="1000" dirty="0"/>
          </a:p>
        </p:txBody>
      </p:sp>
      <p:sp>
        <p:nvSpPr>
          <p:cNvPr id="13" name="Shape 11"/>
          <p:cNvSpPr/>
          <p:nvPr/>
        </p:nvSpPr>
        <p:spPr>
          <a:xfrm>
            <a:off x="3246120" y="1417320"/>
            <a:ext cx="2743200" cy="1554480"/>
          </a:xfrm>
          <a:prstGeom prst="rect">
            <a:avLst/>
          </a:prstGeom>
          <a:solidFill>
            <a:srgbClr val="FFFFFF"/>
          </a:solidFill>
          <a:effectLst>
            <a:outerShdw blurRad="101600" dist="25400" dir="8100000" algn="bl" rotWithShape="0">
              <a:srgbClr val="000000">
                <a:alpha val="10000"/>
              </a:srgbClr>
            </a:outerShdw>
          </a:effectLst>
        </p:spPr>
      </p:sp>
      <p:sp>
        <p:nvSpPr>
          <p:cNvPr id="14" name="Shape 12"/>
          <p:cNvSpPr/>
          <p:nvPr/>
        </p:nvSpPr>
        <p:spPr>
          <a:xfrm>
            <a:off x="3246120" y="1417320"/>
            <a:ext cx="2743200" cy="64008"/>
          </a:xfrm>
          <a:prstGeom prst="rect">
            <a:avLst/>
          </a:prstGeom>
          <a:solidFill>
            <a:srgbClr val="FFC20E"/>
          </a:solidFill>
        </p:spPr>
      </p:sp>
      <p:sp>
        <p:nvSpPr>
          <p:cNvPr id="15" name="Text 13"/>
          <p:cNvSpPr/>
          <p:nvPr/>
        </p:nvSpPr>
        <p:spPr>
          <a:xfrm>
            <a:off x="3383280" y="1545336"/>
            <a:ext cx="2468880" cy="502920"/>
          </a:xfrm>
          <a:prstGeom prst="rect">
            <a:avLst/>
          </a:prstGeom>
          <a:noFill/>
        </p:spPr>
        <p:txBody>
          <a:bodyPr wrap="square" lIns="0" tIns="0" rIns="0" bIns="0" rtlCol="0" anchor="ctr"/>
          <a:lstStyle/>
          <a:p>
            <a:pPr marL="0" indent="0">
              <a:buNone/>
            </a:pPr>
            <a:r>
              <a:rPr lang="en-US" sz="22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B2B</a:t>
            </a:r>
            <a:endParaRPr lang="en-US" sz="2200" dirty="0"/>
          </a:p>
        </p:txBody>
      </p:sp>
      <p:sp>
        <p:nvSpPr>
          <p:cNvPr id="16" name="Text 14"/>
          <p:cNvSpPr/>
          <p:nvPr/>
        </p:nvSpPr>
        <p:spPr>
          <a:xfrm>
            <a:off x="3383280" y="2075688"/>
            <a:ext cx="2468880" cy="292608"/>
          </a:xfrm>
          <a:prstGeom prst="rect">
            <a:avLst/>
          </a:prstGeom>
          <a:noFill/>
        </p:spPr>
        <p:txBody>
          <a:bodyPr wrap="square" lIns="0" tIns="0" rIns="0" bIns="0" rtlCol="0" anchor="ctr"/>
          <a:lstStyle/>
          <a:p>
            <a:pPr marL="0" indent="0">
              <a:buNone/>
            </a:pPr>
            <a:r>
              <a:rPr lang="en-US" sz="11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Business to Business</a:t>
            </a:r>
            <a:endParaRPr lang="en-US" sz="1100" dirty="0"/>
          </a:p>
        </p:txBody>
      </p:sp>
      <p:sp>
        <p:nvSpPr>
          <p:cNvPr id="17" name="Text 15"/>
          <p:cNvSpPr/>
          <p:nvPr/>
        </p:nvSpPr>
        <p:spPr>
          <a:xfrm>
            <a:off x="3383280" y="2395728"/>
            <a:ext cx="2468880" cy="475488"/>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A0204" pitchFamily="34" charset="0"/>
                <a:ea typeface="Calibri" panose="020F05020202040A0204" pitchFamily="34" charset="-122"/>
                <a:cs typeface="Calibri" panose="020F05020202040A0204" pitchFamily="34" charset="-120"/>
              </a:rPr>
              <a:t>e.g. Hubtel, mPharma, Turntabl Ghana</a:t>
            </a:r>
            <a:endParaRPr lang="en-US" sz="1000" dirty="0"/>
          </a:p>
        </p:txBody>
      </p:sp>
      <p:sp>
        <p:nvSpPr>
          <p:cNvPr id="18" name="Shape 16"/>
          <p:cNvSpPr/>
          <p:nvPr/>
        </p:nvSpPr>
        <p:spPr>
          <a:xfrm>
            <a:off x="6172200" y="1417320"/>
            <a:ext cx="2743200" cy="1554480"/>
          </a:xfrm>
          <a:prstGeom prst="rect">
            <a:avLst/>
          </a:prstGeom>
          <a:solidFill>
            <a:srgbClr val="FFFFFF"/>
          </a:solidFill>
          <a:effectLst>
            <a:outerShdw blurRad="101600" dist="25400" dir="8100000" algn="bl" rotWithShape="0">
              <a:srgbClr val="000000">
                <a:alpha val="10000"/>
              </a:srgbClr>
            </a:outerShdw>
          </a:effectLst>
        </p:spPr>
      </p:sp>
      <p:sp>
        <p:nvSpPr>
          <p:cNvPr id="19" name="Shape 17"/>
          <p:cNvSpPr/>
          <p:nvPr/>
        </p:nvSpPr>
        <p:spPr>
          <a:xfrm>
            <a:off x="6172200" y="1417320"/>
            <a:ext cx="2743200" cy="64008"/>
          </a:xfrm>
          <a:prstGeom prst="rect">
            <a:avLst/>
          </a:prstGeom>
          <a:solidFill>
            <a:srgbClr val="009A44"/>
          </a:solidFill>
        </p:spPr>
      </p:sp>
      <p:sp>
        <p:nvSpPr>
          <p:cNvPr id="20" name="Text 18"/>
          <p:cNvSpPr/>
          <p:nvPr/>
        </p:nvSpPr>
        <p:spPr>
          <a:xfrm>
            <a:off x="6309360" y="1545336"/>
            <a:ext cx="2468880" cy="502920"/>
          </a:xfrm>
          <a:prstGeom prst="rect">
            <a:avLst/>
          </a:prstGeom>
          <a:noFill/>
        </p:spPr>
        <p:txBody>
          <a:bodyPr wrap="square" lIns="0" tIns="0" rIns="0" bIns="0" rtlCol="0" anchor="ctr"/>
          <a:lstStyle/>
          <a:p>
            <a:pPr marL="0" indent="0">
              <a:buNone/>
            </a:pPr>
            <a:r>
              <a:rPr lang="en-US" sz="22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B2G</a:t>
            </a:r>
            <a:endParaRPr lang="en-US" sz="2200" dirty="0"/>
          </a:p>
        </p:txBody>
      </p:sp>
      <p:sp>
        <p:nvSpPr>
          <p:cNvPr id="21" name="Text 19"/>
          <p:cNvSpPr/>
          <p:nvPr/>
        </p:nvSpPr>
        <p:spPr>
          <a:xfrm>
            <a:off x="6309360" y="2075688"/>
            <a:ext cx="2468880" cy="292608"/>
          </a:xfrm>
          <a:prstGeom prst="rect">
            <a:avLst/>
          </a:prstGeom>
          <a:noFill/>
        </p:spPr>
        <p:txBody>
          <a:bodyPr wrap="square" lIns="0" tIns="0" rIns="0" bIns="0" rtlCol="0" anchor="ctr"/>
          <a:lstStyle/>
          <a:p>
            <a:pPr marL="0" indent="0">
              <a:buNone/>
            </a:pPr>
            <a:r>
              <a:rPr lang="en-US" sz="11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Business to Government</a:t>
            </a:r>
            <a:endParaRPr lang="en-US" sz="1100" dirty="0"/>
          </a:p>
        </p:txBody>
      </p:sp>
      <p:sp>
        <p:nvSpPr>
          <p:cNvPr id="22" name="Text 20"/>
          <p:cNvSpPr/>
          <p:nvPr/>
        </p:nvSpPr>
        <p:spPr>
          <a:xfrm>
            <a:off x="6309360" y="2395728"/>
            <a:ext cx="2468880" cy="475488"/>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A0204" pitchFamily="34" charset="0"/>
                <a:ea typeface="Calibri" panose="020F05020202040A0204" pitchFamily="34" charset="-122"/>
                <a:cs typeface="Calibri" panose="020F05020202040A0204" pitchFamily="34" charset="-120"/>
              </a:rPr>
              <a:t>e.g. GhanaPost GPS, GovTech startups</a:t>
            </a:r>
            <a:endParaRPr lang="en-US" sz="1000" dirty="0"/>
          </a:p>
        </p:txBody>
      </p:sp>
      <p:sp>
        <p:nvSpPr>
          <p:cNvPr id="23" name="Shape 21"/>
          <p:cNvSpPr/>
          <p:nvPr/>
        </p:nvSpPr>
        <p:spPr>
          <a:xfrm>
            <a:off x="320040" y="3154680"/>
            <a:ext cx="2743200" cy="1554480"/>
          </a:xfrm>
          <a:prstGeom prst="rect">
            <a:avLst/>
          </a:prstGeom>
          <a:solidFill>
            <a:srgbClr val="FFFFFF"/>
          </a:solidFill>
          <a:effectLst>
            <a:outerShdw blurRad="101600" dist="25400" dir="8100000" algn="bl" rotWithShape="0">
              <a:srgbClr val="000000">
                <a:alpha val="10000"/>
              </a:srgbClr>
            </a:outerShdw>
          </a:effectLst>
        </p:spPr>
      </p:sp>
      <p:sp>
        <p:nvSpPr>
          <p:cNvPr id="24" name="Shape 22"/>
          <p:cNvSpPr/>
          <p:nvPr/>
        </p:nvSpPr>
        <p:spPr>
          <a:xfrm>
            <a:off x="320040" y="3154680"/>
            <a:ext cx="2743200" cy="64008"/>
          </a:xfrm>
          <a:prstGeom prst="rect">
            <a:avLst/>
          </a:prstGeom>
          <a:solidFill>
            <a:srgbClr val="0A2540"/>
          </a:solidFill>
        </p:spPr>
      </p:sp>
      <p:sp>
        <p:nvSpPr>
          <p:cNvPr id="25" name="Text 23"/>
          <p:cNvSpPr/>
          <p:nvPr/>
        </p:nvSpPr>
        <p:spPr>
          <a:xfrm>
            <a:off x="457200" y="3282696"/>
            <a:ext cx="2468880" cy="502920"/>
          </a:xfrm>
          <a:prstGeom prst="rect">
            <a:avLst/>
          </a:prstGeom>
          <a:noFill/>
        </p:spPr>
        <p:txBody>
          <a:bodyPr wrap="square" lIns="0" tIns="0" rIns="0" bIns="0" rtlCol="0" anchor="ctr"/>
          <a:lstStyle/>
          <a:p>
            <a:pPr marL="0" indent="0">
              <a:buNone/>
            </a:pPr>
            <a:r>
              <a:rPr lang="en-US" sz="22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Platform</a:t>
            </a:r>
            <a:endParaRPr lang="en-US" sz="2200" dirty="0"/>
          </a:p>
        </p:txBody>
      </p:sp>
      <p:sp>
        <p:nvSpPr>
          <p:cNvPr id="26" name="Text 24"/>
          <p:cNvSpPr/>
          <p:nvPr/>
        </p:nvSpPr>
        <p:spPr>
          <a:xfrm>
            <a:off x="457200" y="3813048"/>
            <a:ext cx="2468880" cy="292608"/>
          </a:xfrm>
          <a:prstGeom prst="rect">
            <a:avLst/>
          </a:prstGeom>
          <a:noFill/>
        </p:spPr>
        <p:txBody>
          <a:bodyPr wrap="square" lIns="0" tIns="0" rIns="0" bIns="0" rtlCol="0" anchor="ctr"/>
          <a:lstStyle/>
          <a:p>
            <a:pPr marL="0" indent="0">
              <a:buNone/>
            </a:pPr>
            <a:r>
              <a:rPr lang="en-US" sz="11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Multi-sided Marketplace</a:t>
            </a:r>
            <a:endParaRPr lang="en-US" sz="1100" dirty="0"/>
          </a:p>
        </p:txBody>
      </p:sp>
      <p:sp>
        <p:nvSpPr>
          <p:cNvPr id="27" name="Text 25"/>
          <p:cNvSpPr/>
          <p:nvPr/>
        </p:nvSpPr>
        <p:spPr>
          <a:xfrm>
            <a:off x="457200" y="4133088"/>
            <a:ext cx="2468880" cy="475488"/>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A0204" pitchFamily="34" charset="0"/>
                <a:ea typeface="Calibri" panose="020F05020202040A0204" pitchFamily="34" charset="-122"/>
                <a:cs typeface="Calibri" panose="020F05020202040A0204" pitchFamily="34" charset="-120"/>
              </a:rPr>
              <a:t>e.g. Tonaton, Meqasa, SafeBoda (Uganda)</a:t>
            </a:r>
            <a:endParaRPr lang="en-US" sz="1000" dirty="0"/>
          </a:p>
        </p:txBody>
      </p:sp>
      <p:sp>
        <p:nvSpPr>
          <p:cNvPr id="28" name="Shape 26"/>
          <p:cNvSpPr/>
          <p:nvPr/>
        </p:nvSpPr>
        <p:spPr>
          <a:xfrm>
            <a:off x="3246120" y="3154680"/>
            <a:ext cx="2743200" cy="1554480"/>
          </a:xfrm>
          <a:prstGeom prst="rect">
            <a:avLst/>
          </a:prstGeom>
          <a:solidFill>
            <a:srgbClr val="FFFFFF"/>
          </a:solidFill>
          <a:effectLst>
            <a:outerShdw blurRad="101600" dist="25400" dir="8100000" algn="bl" rotWithShape="0">
              <a:srgbClr val="000000">
                <a:alpha val="10000"/>
              </a:srgbClr>
            </a:outerShdw>
          </a:effectLst>
        </p:spPr>
      </p:sp>
      <p:sp>
        <p:nvSpPr>
          <p:cNvPr id="29" name="Shape 27"/>
          <p:cNvSpPr/>
          <p:nvPr/>
        </p:nvSpPr>
        <p:spPr>
          <a:xfrm>
            <a:off x="3246120" y="3154680"/>
            <a:ext cx="2743200" cy="64008"/>
          </a:xfrm>
          <a:prstGeom prst="rect">
            <a:avLst/>
          </a:prstGeom>
          <a:solidFill>
            <a:srgbClr val="00539C"/>
          </a:solidFill>
        </p:spPr>
      </p:sp>
      <p:sp>
        <p:nvSpPr>
          <p:cNvPr id="30" name="Text 28"/>
          <p:cNvSpPr/>
          <p:nvPr/>
        </p:nvSpPr>
        <p:spPr>
          <a:xfrm>
            <a:off x="3383280" y="3282696"/>
            <a:ext cx="2468880" cy="502920"/>
          </a:xfrm>
          <a:prstGeom prst="rect">
            <a:avLst/>
          </a:prstGeom>
          <a:noFill/>
        </p:spPr>
        <p:txBody>
          <a:bodyPr wrap="square" lIns="0" tIns="0" rIns="0" bIns="0" rtlCol="0" anchor="ctr"/>
          <a:lstStyle/>
          <a:p>
            <a:pPr marL="0" indent="0">
              <a:buNone/>
            </a:pPr>
            <a:r>
              <a:rPr lang="en-US" sz="22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SaaS</a:t>
            </a:r>
            <a:endParaRPr lang="en-US" sz="2200" dirty="0"/>
          </a:p>
        </p:txBody>
      </p:sp>
      <p:sp>
        <p:nvSpPr>
          <p:cNvPr id="31" name="Text 29"/>
          <p:cNvSpPr/>
          <p:nvPr/>
        </p:nvSpPr>
        <p:spPr>
          <a:xfrm>
            <a:off x="3383280" y="3813048"/>
            <a:ext cx="2468880" cy="292608"/>
          </a:xfrm>
          <a:prstGeom prst="rect">
            <a:avLst/>
          </a:prstGeom>
          <a:noFill/>
        </p:spPr>
        <p:txBody>
          <a:bodyPr wrap="square" lIns="0" tIns="0" rIns="0" bIns="0" rtlCol="0" anchor="ctr"/>
          <a:lstStyle/>
          <a:p>
            <a:pPr marL="0" indent="0">
              <a:buNone/>
            </a:pPr>
            <a:r>
              <a:rPr lang="en-US" sz="11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Software as a Service</a:t>
            </a:r>
            <a:endParaRPr lang="en-US" sz="1100" dirty="0"/>
          </a:p>
        </p:txBody>
      </p:sp>
      <p:sp>
        <p:nvSpPr>
          <p:cNvPr id="32" name="Text 30"/>
          <p:cNvSpPr/>
          <p:nvPr/>
        </p:nvSpPr>
        <p:spPr>
          <a:xfrm>
            <a:off x="3383280" y="4133088"/>
            <a:ext cx="2468880" cy="475488"/>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A0204" pitchFamily="34" charset="0"/>
                <a:ea typeface="Calibri" panose="020F05020202040A0204" pitchFamily="34" charset="-122"/>
                <a:cs typeface="Calibri" panose="020F05020202040A0204" pitchFamily="34" charset="-120"/>
              </a:rPr>
              <a:t>e.g. Paystack, Zoho, Cornerstone EdTech</a:t>
            </a:r>
            <a:endParaRPr lang="en-US" sz="1000" dirty="0"/>
          </a:p>
        </p:txBody>
      </p:sp>
      <p:sp>
        <p:nvSpPr>
          <p:cNvPr id="33" name="Shape 31"/>
          <p:cNvSpPr/>
          <p:nvPr/>
        </p:nvSpPr>
        <p:spPr>
          <a:xfrm>
            <a:off x="6172200" y="3154680"/>
            <a:ext cx="2743200" cy="1554480"/>
          </a:xfrm>
          <a:prstGeom prst="rect">
            <a:avLst/>
          </a:prstGeom>
          <a:solidFill>
            <a:srgbClr val="FFFFFF"/>
          </a:solidFill>
          <a:effectLst>
            <a:outerShdw blurRad="101600" dist="25400" dir="8100000" algn="bl" rotWithShape="0">
              <a:srgbClr val="000000">
                <a:alpha val="10000"/>
              </a:srgbClr>
            </a:outerShdw>
          </a:effectLst>
        </p:spPr>
      </p:sp>
      <p:sp>
        <p:nvSpPr>
          <p:cNvPr id="34" name="Shape 32"/>
          <p:cNvSpPr/>
          <p:nvPr/>
        </p:nvSpPr>
        <p:spPr>
          <a:xfrm>
            <a:off x="6172200" y="3154680"/>
            <a:ext cx="2743200" cy="64008"/>
          </a:xfrm>
          <a:prstGeom prst="rect">
            <a:avLst/>
          </a:prstGeom>
          <a:solidFill>
            <a:srgbClr val="64748B"/>
          </a:solidFill>
        </p:spPr>
      </p:sp>
      <p:sp>
        <p:nvSpPr>
          <p:cNvPr id="35" name="Text 33"/>
          <p:cNvSpPr/>
          <p:nvPr/>
        </p:nvSpPr>
        <p:spPr>
          <a:xfrm>
            <a:off x="6309360" y="3282696"/>
            <a:ext cx="2468880" cy="502920"/>
          </a:xfrm>
          <a:prstGeom prst="rect">
            <a:avLst/>
          </a:prstGeom>
          <a:noFill/>
        </p:spPr>
        <p:txBody>
          <a:bodyPr wrap="square" lIns="0" tIns="0" rIns="0" bIns="0" rtlCol="0" anchor="ctr"/>
          <a:lstStyle/>
          <a:p>
            <a:pPr marL="0" indent="0">
              <a:buNone/>
            </a:pPr>
            <a:r>
              <a:rPr lang="en-US" sz="22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Hybrid</a:t>
            </a:r>
            <a:endParaRPr lang="en-US" sz="2200" dirty="0"/>
          </a:p>
        </p:txBody>
      </p:sp>
      <p:sp>
        <p:nvSpPr>
          <p:cNvPr id="36" name="Text 34"/>
          <p:cNvSpPr/>
          <p:nvPr/>
        </p:nvSpPr>
        <p:spPr>
          <a:xfrm>
            <a:off x="6309360" y="3813048"/>
            <a:ext cx="2468880" cy="292608"/>
          </a:xfrm>
          <a:prstGeom prst="rect">
            <a:avLst/>
          </a:prstGeom>
          <a:noFill/>
        </p:spPr>
        <p:txBody>
          <a:bodyPr wrap="square" lIns="0" tIns="0" rIns="0" bIns="0" rtlCol="0" anchor="ctr"/>
          <a:lstStyle/>
          <a:p>
            <a:pPr marL="0" indent="0">
              <a:buNone/>
            </a:pPr>
            <a:r>
              <a:rPr lang="en-US" sz="11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Blended Model</a:t>
            </a:r>
            <a:endParaRPr lang="en-US" sz="1100" dirty="0"/>
          </a:p>
        </p:txBody>
      </p:sp>
      <p:sp>
        <p:nvSpPr>
          <p:cNvPr id="37" name="Text 35"/>
          <p:cNvSpPr/>
          <p:nvPr/>
        </p:nvSpPr>
        <p:spPr>
          <a:xfrm>
            <a:off x="6309360" y="4133088"/>
            <a:ext cx="2468880" cy="475488"/>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A0204" pitchFamily="34" charset="0"/>
                <a:ea typeface="Calibri" panose="020F05020202040A0204" pitchFamily="34" charset="-122"/>
                <a:cs typeface="Calibri" panose="020F05020202040A0204" pitchFamily="34" charset="-120"/>
              </a:rPr>
              <a:t>e.g. Farmerline B2B+B2C, Zeepay B2C+B2B API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B2C vs B2B: The Core Trade-offs</a:t>
            </a:r>
            <a:endParaRPr lang="en-US" sz="2400" dirty="0"/>
          </a:p>
        </p:txBody>
      </p:sp>
      <p:sp>
        <p:nvSpPr>
          <p:cNvPr id="5" name="Shape 3"/>
          <p:cNvSpPr/>
          <p:nvPr/>
        </p:nvSpPr>
        <p:spPr>
          <a:xfrm>
            <a:off x="6949440" y="91440"/>
            <a:ext cx="1828800" cy="384048"/>
          </a:xfrm>
          <a:prstGeom prst="rect">
            <a:avLst/>
          </a:prstGeom>
          <a:solidFill>
            <a:srgbClr val="FFC20E"/>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
        <p:nvSpPr>
          <p:cNvPr id="7" name="Shape 5"/>
          <p:cNvSpPr/>
          <p:nvPr/>
        </p:nvSpPr>
        <p:spPr>
          <a:xfrm>
            <a:off x="365760" y="914400"/>
            <a:ext cx="4023360" cy="2926080"/>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2926080"/>
          </a:xfrm>
          <a:prstGeom prst="rect">
            <a:avLst/>
          </a:prstGeom>
          <a:solidFill>
            <a:srgbClr val="00AEEF"/>
          </a:solidFill>
        </p:spPr>
      </p:sp>
      <p:sp>
        <p:nvSpPr>
          <p:cNvPr id="9" name="Text 7"/>
          <p:cNvSpPr/>
          <p:nvPr/>
        </p:nvSpPr>
        <p:spPr>
          <a:xfrm>
            <a:off x="530352" y="1005840"/>
            <a:ext cx="379476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B2C — Business to Consumer</a:t>
            </a:r>
            <a:endParaRPr lang="en-US" sz="1300" dirty="0"/>
          </a:p>
        </p:txBody>
      </p:sp>
      <p:sp>
        <p:nvSpPr>
          <p:cNvPr id="10" name="Text 8"/>
          <p:cNvSpPr/>
          <p:nvPr/>
        </p:nvSpPr>
        <p:spPr>
          <a:xfrm>
            <a:off x="530352" y="1408176"/>
            <a:ext cx="3794760" cy="233172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Your paying customer is an individual end-user</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Pros: large addressable market; viral growth possible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Cons: high marketing spend; price-sensitive customers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Lower revenue per customer — must reach many</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Trust matters enormously in Ghana (word of mouth)</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examples: Zeepay, Jumia, Farmerline SMS users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Metrics focus: CAC, conversion rate, viral coefficient</a:t>
            </a:r>
            <a:endParaRPr lang="en-US" sz="1150" dirty="0"/>
          </a:p>
        </p:txBody>
      </p:sp>
      <p:sp>
        <p:nvSpPr>
          <p:cNvPr id="11" name="Shape 9"/>
          <p:cNvSpPr/>
          <p:nvPr/>
        </p:nvSpPr>
        <p:spPr>
          <a:xfrm>
            <a:off x="4572000" y="914400"/>
            <a:ext cx="4206240" cy="2926080"/>
          </a:xfrm>
          <a:prstGeom prst="rect">
            <a:avLst/>
          </a:prstGeom>
          <a:solidFill>
            <a:srgbClr val="FFFFFF"/>
          </a:solidFill>
          <a:effectLst>
            <a:outerShdw blurRad="101600" dist="25400" dir="8100000" algn="bl" rotWithShape="0">
              <a:srgbClr val="000000">
                <a:alpha val="10000"/>
              </a:srgbClr>
            </a:outerShdw>
          </a:effectLst>
        </p:spPr>
      </p:sp>
      <p:sp>
        <p:nvSpPr>
          <p:cNvPr id="12" name="Shape 10"/>
          <p:cNvSpPr/>
          <p:nvPr/>
        </p:nvSpPr>
        <p:spPr>
          <a:xfrm>
            <a:off x="4572000" y="914400"/>
            <a:ext cx="64008" cy="2926080"/>
          </a:xfrm>
          <a:prstGeom prst="rect">
            <a:avLst/>
          </a:prstGeom>
          <a:solidFill>
            <a:srgbClr val="FFC20E"/>
          </a:solidFill>
        </p:spPr>
      </p:sp>
      <p:sp>
        <p:nvSpPr>
          <p:cNvPr id="13" name="Text 11"/>
          <p:cNvSpPr/>
          <p:nvPr/>
        </p:nvSpPr>
        <p:spPr>
          <a:xfrm>
            <a:off x="4736592" y="1005840"/>
            <a:ext cx="39776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B2B — Business to Business</a:t>
            </a:r>
            <a:endParaRPr lang="en-US" sz="1300" dirty="0"/>
          </a:p>
        </p:txBody>
      </p:sp>
      <p:sp>
        <p:nvSpPr>
          <p:cNvPr id="14" name="Text 12"/>
          <p:cNvSpPr/>
          <p:nvPr/>
        </p:nvSpPr>
        <p:spPr>
          <a:xfrm>
            <a:off x="4736592" y="1408176"/>
            <a:ext cx="3977640" cy="233172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Your paying customer is another company or organisation</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Pros: higher revenue per client; longer relationships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Cons: longer sales cycle; procurement processes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Often SaaS model: monthly/annual contracts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Key: personal relationships drive deals in Ghana</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examples: Hubtel, mPharma, Turntabl</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Metrics focus: MRR, contract value, churn, NPS</a:t>
            </a:r>
            <a:endParaRPr lang="en-US" sz="1150" dirty="0"/>
          </a:p>
        </p:txBody>
      </p:sp>
      <p:sp>
        <p:nvSpPr>
          <p:cNvPr id="15" name="Shape 13"/>
          <p:cNvSpPr/>
          <p:nvPr/>
        </p:nvSpPr>
        <p:spPr>
          <a:xfrm>
            <a:off x="365760" y="4005072"/>
            <a:ext cx="8412480" cy="777240"/>
          </a:xfrm>
          <a:prstGeom prst="rect">
            <a:avLst/>
          </a:prstGeom>
          <a:solidFill>
            <a:srgbClr val="E8F4FD"/>
          </a:solidFill>
        </p:spPr>
      </p:sp>
      <p:sp>
        <p:nvSpPr>
          <p:cNvPr id="16" name="Shape 14"/>
          <p:cNvSpPr/>
          <p:nvPr/>
        </p:nvSpPr>
        <p:spPr>
          <a:xfrm>
            <a:off x="365760" y="4005072"/>
            <a:ext cx="64008" cy="777240"/>
          </a:xfrm>
          <a:prstGeom prst="rect">
            <a:avLst/>
          </a:prstGeom>
          <a:solidFill>
            <a:srgbClr val="FFC20E"/>
          </a:solidFill>
        </p:spPr>
      </p:sp>
      <p:sp>
        <p:nvSpPr>
          <p:cNvPr id="17" name="Text 15"/>
          <p:cNvSpPr/>
          <p:nvPr/>
        </p:nvSpPr>
        <p:spPr>
          <a:xfrm>
            <a:off x="566928" y="4096512"/>
            <a:ext cx="8092440" cy="594360"/>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Key insight: B2B in Ghana typically yields 10–50x higher revenue per customer than B2C. A single hospital (B2B) may pay more than 1,000 individual patients. Consider whether your product could be repositioned to serve organisations instead of — or in addition to — individuals.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B2G and Platform / Marketplace Models</a:t>
            </a:r>
            <a:endParaRPr lang="en-US" sz="2400" dirty="0"/>
          </a:p>
        </p:txBody>
      </p:sp>
      <p:sp>
        <p:nvSpPr>
          <p:cNvPr id="5" name="Shape 3"/>
          <p:cNvSpPr/>
          <p:nvPr/>
        </p:nvSpPr>
        <p:spPr>
          <a:xfrm>
            <a:off x="6949440" y="91440"/>
            <a:ext cx="1828800" cy="384048"/>
          </a:xfrm>
          <a:prstGeom prst="rect">
            <a:avLst/>
          </a:prstGeom>
          <a:solidFill>
            <a:srgbClr val="FFC20E"/>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
        <p:nvSpPr>
          <p:cNvPr id="7" name="Shape 5"/>
          <p:cNvSpPr/>
          <p:nvPr/>
        </p:nvSpPr>
        <p:spPr>
          <a:xfrm>
            <a:off x="365760" y="914400"/>
            <a:ext cx="4023360" cy="2194560"/>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2194560"/>
          </a:xfrm>
          <a:prstGeom prst="rect">
            <a:avLst/>
          </a:prstGeom>
          <a:solidFill>
            <a:srgbClr val="009A44"/>
          </a:solidFill>
        </p:spPr>
      </p:sp>
      <p:sp>
        <p:nvSpPr>
          <p:cNvPr id="9" name="Text 7"/>
          <p:cNvSpPr/>
          <p:nvPr/>
        </p:nvSpPr>
        <p:spPr>
          <a:xfrm>
            <a:off x="530352" y="1005840"/>
            <a:ext cx="379476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B2G — Business to Government</a:t>
            </a:r>
            <a:endParaRPr lang="en-US" sz="1300" dirty="0"/>
          </a:p>
        </p:txBody>
      </p:sp>
      <p:sp>
        <p:nvSpPr>
          <p:cNvPr id="10" name="Text 8"/>
          <p:cNvSpPr/>
          <p:nvPr/>
        </p:nvSpPr>
        <p:spPr>
          <a:xfrm>
            <a:off x="530352" y="1408176"/>
            <a:ext cx="3794760" cy="160020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Customer is a government ministry, agency, or local authority</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Largest contracts in Ghana — National Health Insurance, GRA, GhanaPost</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Pros: massive scale; long contracts; prestigious reference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Cons: very long sales cycles (1–3 years); payment delays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Requires procurement compliance and formal tendering</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Tip: Start with pilot projects and use results as evidence</a:t>
            </a:r>
            <a:endParaRPr lang="en-US" sz="1150" dirty="0"/>
          </a:p>
        </p:txBody>
      </p:sp>
      <p:sp>
        <p:nvSpPr>
          <p:cNvPr id="11" name="Shape 9"/>
          <p:cNvSpPr/>
          <p:nvPr/>
        </p:nvSpPr>
        <p:spPr>
          <a:xfrm>
            <a:off x="4572000" y="914400"/>
            <a:ext cx="4206240" cy="2194560"/>
          </a:xfrm>
          <a:prstGeom prst="rect">
            <a:avLst/>
          </a:prstGeom>
          <a:solidFill>
            <a:srgbClr val="FFFFFF"/>
          </a:solidFill>
          <a:effectLst>
            <a:outerShdw blurRad="101600" dist="25400" dir="8100000" algn="bl" rotWithShape="0">
              <a:srgbClr val="000000">
                <a:alpha val="10000"/>
              </a:srgbClr>
            </a:outerShdw>
          </a:effectLst>
        </p:spPr>
      </p:sp>
      <p:sp>
        <p:nvSpPr>
          <p:cNvPr id="12" name="Shape 10"/>
          <p:cNvSpPr/>
          <p:nvPr/>
        </p:nvSpPr>
        <p:spPr>
          <a:xfrm>
            <a:off x="4572000" y="914400"/>
            <a:ext cx="64008" cy="2194560"/>
          </a:xfrm>
          <a:prstGeom prst="rect">
            <a:avLst/>
          </a:prstGeom>
          <a:solidFill>
            <a:srgbClr val="0A2540"/>
          </a:solidFill>
        </p:spPr>
      </p:sp>
      <p:sp>
        <p:nvSpPr>
          <p:cNvPr id="13" name="Text 11"/>
          <p:cNvSpPr/>
          <p:nvPr/>
        </p:nvSpPr>
        <p:spPr>
          <a:xfrm>
            <a:off x="4736592" y="1005840"/>
            <a:ext cx="39776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Platform / Marketplace Models</a:t>
            </a:r>
            <a:endParaRPr lang="en-US" sz="1300" dirty="0"/>
          </a:p>
        </p:txBody>
      </p:sp>
      <p:sp>
        <p:nvSpPr>
          <p:cNvPr id="14" name="Text 12"/>
          <p:cNvSpPr/>
          <p:nvPr/>
        </p:nvSpPr>
        <p:spPr>
          <a:xfrm>
            <a:off x="4736592" y="1408176"/>
            <a:ext cx="3977640" cy="160020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Creates value by connecting two or more distinct groups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Earns from facilitating exchanges between the groups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Network effects: value increases as more users join both sides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Challenge: the cold-start problem — you need BOTH sides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examples: Tonaton (buyers+sellers), Meqasa (landlords+tenants)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Africa: SafeBoda (Uganda), Sokowatch/Wasoko (B2B FMCG)</a:t>
            </a:r>
            <a:endParaRPr lang="en-US" sz="1150" dirty="0"/>
          </a:p>
        </p:txBody>
      </p:sp>
      <p:sp>
        <p:nvSpPr>
          <p:cNvPr id="15" name="Shape 13"/>
          <p:cNvSpPr/>
          <p:nvPr/>
        </p:nvSpPr>
        <p:spPr>
          <a:xfrm>
            <a:off x="365760" y="3273552"/>
            <a:ext cx="8412480" cy="1481328"/>
          </a:xfrm>
          <a:prstGeom prst="rect">
            <a:avLst/>
          </a:prstGeom>
          <a:solidFill>
            <a:srgbClr val="FFFFFF"/>
          </a:solidFill>
          <a:effectLst>
            <a:outerShdw blurRad="101600" dist="25400" dir="8100000" algn="bl" rotWithShape="0">
              <a:srgbClr val="000000">
                <a:alpha val="10000"/>
              </a:srgbClr>
            </a:outerShdw>
          </a:effectLst>
        </p:spPr>
      </p:sp>
      <p:sp>
        <p:nvSpPr>
          <p:cNvPr id="16" name="Shape 14"/>
          <p:cNvSpPr/>
          <p:nvPr/>
        </p:nvSpPr>
        <p:spPr>
          <a:xfrm>
            <a:off x="365760" y="3273552"/>
            <a:ext cx="64008" cy="1481328"/>
          </a:xfrm>
          <a:prstGeom prst="rect">
            <a:avLst/>
          </a:prstGeom>
          <a:solidFill>
            <a:srgbClr val="FFC20E"/>
          </a:solidFill>
        </p:spPr>
      </p:sp>
      <p:sp>
        <p:nvSpPr>
          <p:cNvPr id="17" name="Text 15"/>
          <p:cNvSpPr/>
          <p:nvPr/>
        </p:nvSpPr>
        <p:spPr>
          <a:xfrm>
            <a:off x="566928" y="3383280"/>
            <a:ext cx="80924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The Platform Cold-Start Problem — How To Solve It:</a:t>
            </a:r>
            <a:endParaRPr lang="en-US" sz="1300" dirty="0"/>
          </a:p>
        </p:txBody>
      </p:sp>
      <p:sp>
        <p:nvSpPr>
          <p:cNvPr id="18" name="Text 16"/>
          <p:cNvSpPr/>
          <p:nvPr/>
        </p:nvSpPr>
        <p:spPr>
          <a:xfrm>
            <a:off x="566928" y="3767328"/>
            <a:ext cx="8092440" cy="896112"/>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Tonaton initially focused ONLY on sellers — fill one side first with quality listings. Buyers followed naturally. SafeBoda recruited and trained 1,000 drivers in Kampala before opening to riders. Rule: subsidise the harder-to-acquire side, charge the easier side. Ask: which side of your platform is harder to get?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SaaS, Freemium &amp; Hybrid Models</a:t>
            </a:r>
            <a:endParaRPr lang="en-US" sz="2400" dirty="0"/>
          </a:p>
        </p:txBody>
      </p:sp>
      <p:sp>
        <p:nvSpPr>
          <p:cNvPr id="5" name="Shape 3"/>
          <p:cNvSpPr/>
          <p:nvPr/>
        </p:nvSpPr>
        <p:spPr>
          <a:xfrm>
            <a:off x="6949440" y="91440"/>
            <a:ext cx="1828800" cy="384048"/>
          </a:xfrm>
          <a:prstGeom prst="rect">
            <a:avLst/>
          </a:prstGeom>
          <a:solidFill>
            <a:srgbClr val="FFC20E"/>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
        <p:nvSpPr>
          <p:cNvPr id="7" name="Shape 5"/>
          <p:cNvSpPr/>
          <p:nvPr/>
        </p:nvSpPr>
        <p:spPr>
          <a:xfrm>
            <a:off x="320040" y="914400"/>
            <a:ext cx="2697480" cy="3383280"/>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20040" y="914400"/>
            <a:ext cx="64008" cy="3383280"/>
          </a:xfrm>
          <a:prstGeom prst="rect">
            <a:avLst/>
          </a:prstGeom>
          <a:solidFill>
            <a:srgbClr val="00539C"/>
          </a:solidFill>
        </p:spPr>
      </p:sp>
      <p:sp>
        <p:nvSpPr>
          <p:cNvPr id="9" name="Text 7"/>
          <p:cNvSpPr/>
          <p:nvPr/>
        </p:nvSpPr>
        <p:spPr>
          <a:xfrm>
            <a:off x="484632" y="1005840"/>
            <a:ext cx="24688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SaaS Model</a:t>
            </a:r>
            <a:endParaRPr lang="en-US" sz="1300" dirty="0"/>
          </a:p>
        </p:txBody>
      </p:sp>
      <p:sp>
        <p:nvSpPr>
          <p:cNvPr id="10" name="Text 8"/>
          <p:cNvSpPr/>
          <p:nvPr/>
        </p:nvSpPr>
        <p:spPr>
          <a:xfrm>
            <a:off x="484632" y="1408176"/>
            <a:ext cx="2468880" cy="278892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Software delivered over the internet, billed monthly or annually</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Customer never owns the software — they subscribe to access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Key metrics: MRR, ARR, churn rate, NRR (net revenue retention)</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Ghana examples: Paystack, Hubtel, Cornerstone EdTech platform</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Best for: recurring B2B problems (HR, payments, logistics, EHR)</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SaaS economics: high fixed cost, near-zero marginal cost per extra user</a:t>
            </a:r>
            <a:endParaRPr lang="en-US" sz="1150" dirty="0"/>
          </a:p>
        </p:txBody>
      </p:sp>
      <p:sp>
        <p:nvSpPr>
          <p:cNvPr id="11" name="Shape 9"/>
          <p:cNvSpPr/>
          <p:nvPr/>
        </p:nvSpPr>
        <p:spPr>
          <a:xfrm>
            <a:off x="3246120" y="914400"/>
            <a:ext cx="2697480" cy="3383280"/>
          </a:xfrm>
          <a:prstGeom prst="rect">
            <a:avLst/>
          </a:prstGeom>
          <a:solidFill>
            <a:srgbClr val="FFFFFF"/>
          </a:solidFill>
          <a:effectLst>
            <a:outerShdw blurRad="101600" dist="25400" dir="8100000" algn="bl" rotWithShape="0">
              <a:srgbClr val="000000">
                <a:alpha val="10000"/>
              </a:srgbClr>
            </a:outerShdw>
          </a:effectLst>
        </p:spPr>
      </p:sp>
      <p:sp>
        <p:nvSpPr>
          <p:cNvPr id="12" name="Shape 10"/>
          <p:cNvSpPr/>
          <p:nvPr/>
        </p:nvSpPr>
        <p:spPr>
          <a:xfrm>
            <a:off x="3246120" y="914400"/>
            <a:ext cx="64008" cy="3383280"/>
          </a:xfrm>
          <a:prstGeom prst="rect">
            <a:avLst/>
          </a:prstGeom>
          <a:solidFill>
            <a:srgbClr val="009A44"/>
          </a:solidFill>
        </p:spPr>
      </p:sp>
      <p:sp>
        <p:nvSpPr>
          <p:cNvPr id="13" name="Text 11"/>
          <p:cNvSpPr/>
          <p:nvPr/>
        </p:nvSpPr>
        <p:spPr>
          <a:xfrm>
            <a:off x="3410712" y="1005840"/>
            <a:ext cx="24688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Freemium Model</a:t>
            </a:r>
            <a:endParaRPr lang="en-US" sz="1300" dirty="0"/>
          </a:p>
        </p:txBody>
      </p:sp>
      <p:sp>
        <p:nvSpPr>
          <p:cNvPr id="14" name="Text 12"/>
          <p:cNvSpPr/>
          <p:nvPr/>
        </p:nvSpPr>
        <p:spPr>
          <a:xfrm>
            <a:off x="3410712" y="1408176"/>
            <a:ext cx="2468880" cy="278892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Core product is free; premium features require payment</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Requires large user base to generate meaningful paid conversions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Typical conversion rate: 2–5% of free users to paid</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Works when: free tier has genuine value AND there is a clear premium</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Risk in Ghana: users may be happy with free tier indefinitely</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Tip: make the free tier viral — design it to spread</a:t>
            </a:r>
            <a:endParaRPr lang="en-US" sz="1150" dirty="0"/>
          </a:p>
        </p:txBody>
      </p:sp>
      <p:sp>
        <p:nvSpPr>
          <p:cNvPr id="15" name="Shape 13"/>
          <p:cNvSpPr/>
          <p:nvPr/>
        </p:nvSpPr>
        <p:spPr>
          <a:xfrm>
            <a:off x="6172200" y="914400"/>
            <a:ext cx="2697480" cy="3383280"/>
          </a:xfrm>
          <a:prstGeom prst="rect">
            <a:avLst/>
          </a:prstGeom>
          <a:solidFill>
            <a:srgbClr val="FFFFFF"/>
          </a:solidFill>
          <a:effectLst>
            <a:outerShdw blurRad="101600" dist="25400" dir="8100000" algn="bl" rotWithShape="0">
              <a:srgbClr val="000000">
                <a:alpha val="10000"/>
              </a:srgbClr>
            </a:outerShdw>
          </a:effectLst>
        </p:spPr>
      </p:sp>
      <p:sp>
        <p:nvSpPr>
          <p:cNvPr id="16" name="Shape 14"/>
          <p:cNvSpPr/>
          <p:nvPr/>
        </p:nvSpPr>
        <p:spPr>
          <a:xfrm>
            <a:off x="6172200" y="914400"/>
            <a:ext cx="64008" cy="3383280"/>
          </a:xfrm>
          <a:prstGeom prst="rect">
            <a:avLst/>
          </a:prstGeom>
          <a:solidFill>
            <a:srgbClr val="FFC20E"/>
          </a:solidFill>
        </p:spPr>
      </p:sp>
      <p:sp>
        <p:nvSpPr>
          <p:cNvPr id="17" name="Text 15"/>
          <p:cNvSpPr/>
          <p:nvPr/>
        </p:nvSpPr>
        <p:spPr>
          <a:xfrm>
            <a:off x="6336792" y="1005840"/>
            <a:ext cx="24688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Hybrid / Blended</a:t>
            </a:r>
            <a:endParaRPr lang="en-US" sz="1300" dirty="0"/>
          </a:p>
        </p:txBody>
      </p:sp>
      <p:sp>
        <p:nvSpPr>
          <p:cNvPr id="18" name="Text 16"/>
          <p:cNvSpPr/>
          <p:nvPr/>
        </p:nvSpPr>
        <p:spPr>
          <a:xfrm>
            <a:off x="6336792" y="1408176"/>
            <a:ext cx="2468880" cy="278892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Two or more model types combined intentionally</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e.g. Farmerline: B2C micro-payments + B2B SaaS + donor grants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e.g. Zeepay: B2C remittance + B2B API licensing + float income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Reduces revenue risk — if one stream dips, others compensate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Complexity risk: each stream needs its own GTM approach</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Start with ONE validated stream before adding a second</a:t>
            </a:r>
            <a:endParaRPr lang="en-US" sz="1150" dirty="0"/>
          </a:p>
        </p:txBody>
      </p:sp>
      <p:sp>
        <p:nvSpPr>
          <p:cNvPr id="19" name="Text 17"/>
          <p:cNvSpPr/>
          <p:nvPr/>
        </p:nvSpPr>
        <p:spPr>
          <a:xfrm>
            <a:off x="320040" y="4407408"/>
            <a:ext cx="8503920" cy="347472"/>
          </a:xfrm>
          <a:prstGeom prst="rect">
            <a:avLst/>
          </a:prstGeom>
          <a:noFill/>
        </p:spPr>
        <p:txBody>
          <a:bodyPr wrap="square" lIns="0" tIns="0" rIns="0" bIns="0" rtlCol="0" anchor="ctr"/>
          <a:lstStyle/>
          <a:p>
            <a:pPr marL="0" indent="0">
              <a:buNone/>
            </a:pPr>
            <a:r>
              <a:rPr lang="en-US" sz="1100" i="1" dirty="0">
                <a:solidFill>
                  <a:srgbClr val="64748B"/>
                </a:solidFill>
                <a:latin typeface="Calibri" panose="020F05020202040A0204" pitchFamily="34" charset="0"/>
                <a:ea typeface="Calibri" panose="020F05020202040A0204" pitchFamily="34" charset="-122"/>
                <a:cs typeface="Calibri" panose="020F05020202040A0204" pitchFamily="34" charset="-120"/>
              </a:rPr>
              <a:t>Most successful African startups become hybrid over time. Build the first model right before adding complexity.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How to Choose the Right Business Model</a:t>
            </a:r>
            <a:endParaRPr lang="en-US" sz="2400" dirty="0"/>
          </a:p>
        </p:txBody>
      </p:sp>
      <p:sp>
        <p:nvSpPr>
          <p:cNvPr id="5" name="Shape 3"/>
          <p:cNvSpPr/>
          <p:nvPr/>
        </p:nvSpPr>
        <p:spPr>
          <a:xfrm>
            <a:off x="6949440" y="91440"/>
            <a:ext cx="1828800" cy="384048"/>
          </a:xfrm>
          <a:prstGeom prst="rect">
            <a:avLst/>
          </a:prstGeom>
          <a:solidFill>
            <a:srgbClr val="FFC20E"/>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
        <p:nvSpPr>
          <p:cNvPr id="7" name="Shape 5"/>
          <p:cNvSpPr/>
          <p:nvPr/>
        </p:nvSpPr>
        <p:spPr>
          <a:xfrm>
            <a:off x="365760" y="841375"/>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841375"/>
            <a:ext cx="64008" cy="694944"/>
          </a:xfrm>
          <a:prstGeom prst="rect">
            <a:avLst/>
          </a:prstGeom>
          <a:solidFill>
            <a:srgbClr val="FFC20E"/>
          </a:solidFill>
        </p:spPr>
      </p:sp>
      <p:sp>
        <p:nvSpPr>
          <p:cNvPr id="9" name="Text 7"/>
          <p:cNvSpPr/>
          <p:nvPr/>
        </p:nvSpPr>
        <p:spPr>
          <a:xfrm>
            <a:off x="566928" y="932815"/>
            <a:ext cx="365760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Q1: Who is your paying customer?</a:t>
            </a:r>
            <a:endParaRPr lang="en-US" sz="1300" dirty="0"/>
          </a:p>
        </p:txBody>
      </p:sp>
      <p:sp>
        <p:nvSpPr>
          <p:cNvPr id="10" name="Text 8"/>
          <p:cNvSpPr/>
          <p:nvPr/>
        </p:nvSpPr>
        <p:spPr>
          <a:xfrm>
            <a:off x="4389120" y="932815"/>
            <a:ext cx="4251960" cy="475488"/>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Individual person → B2C. Company/organisation → B2B. Government → B2G.</a:t>
            </a:r>
            <a:endParaRPr lang="en-US" sz="1150" dirty="0"/>
          </a:p>
        </p:txBody>
      </p:sp>
      <p:sp>
        <p:nvSpPr>
          <p:cNvPr id="11" name="Shape 9"/>
          <p:cNvSpPr/>
          <p:nvPr/>
        </p:nvSpPr>
        <p:spPr>
          <a:xfrm>
            <a:off x="365760" y="1664335"/>
            <a:ext cx="8412480" cy="694944"/>
          </a:xfrm>
          <a:prstGeom prst="rect">
            <a:avLst/>
          </a:prstGeom>
          <a:solidFill>
            <a:srgbClr val="F4F8FC"/>
          </a:solidFill>
          <a:effectLst>
            <a:outerShdw blurRad="101600" dist="25400" dir="8100000" algn="bl" rotWithShape="0">
              <a:srgbClr val="000000">
                <a:alpha val="10000"/>
              </a:srgbClr>
            </a:outerShdw>
          </a:effectLst>
        </p:spPr>
      </p:sp>
      <p:sp>
        <p:nvSpPr>
          <p:cNvPr id="12" name="Shape 10"/>
          <p:cNvSpPr/>
          <p:nvPr/>
        </p:nvSpPr>
        <p:spPr>
          <a:xfrm>
            <a:off x="365760" y="1664335"/>
            <a:ext cx="64008" cy="694944"/>
          </a:xfrm>
          <a:prstGeom prst="rect">
            <a:avLst/>
          </a:prstGeom>
          <a:solidFill>
            <a:srgbClr val="00539C"/>
          </a:solidFill>
        </p:spPr>
      </p:sp>
      <p:sp>
        <p:nvSpPr>
          <p:cNvPr id="13" name="Text 11"/>
          <p:cNvSpPr/>
          <p:nvPr/>
        </p:nvSpPr>
        <p:spPr>
          <a:xfrm>
            <a:off x="566928" y="1755775"/>
            <a:ext cx="365760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Q2: What is your core value creation?</a:t>
            </a:r>
            <a:endParaRPr lang="en-US" sz="1300" dirty="0"/>
          </a:p>
        </p:txBody>
      </p:sp>
      <p:sp>
        <p:nvSpPr>
          <p:cNvPr id="14" name="Text 12"/>
          <p:cNvSpPr/>
          <p:nvPr/>
        </p:nvSpPr>
        <p:spPr>
          <a:xfrm>
            <a:off x="4389120" y="1755775"/>
            <a:ext cx="4251960" cy="475488"/>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Software/platform → SaaS. Matching two groups → Marketplace. Content → Media.</a:t>
            </a:r>
            <a:endParaRPr lang="en-US" sz="1150" dirty="0"/>
          </a:p>
        </p:txBody>
      </p:sp>
      <p:sp>
        <p:nvSpPr>
          <p:cNvPr id="15" name="Shape 13"/>
          <p:cNvSpPr/>
          <p:nvPr/>
        </p:nvSpPr>
        <p:spPr>
          <a:xfrm>
            <a:off x="365760" y="2487295"/>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6" name="Shape 14"/>
          <p:cNvSpPr/>
          <p:nvPr/>
        </p:nvSpPr>
        <p:spPr>
          <a:xfrm>
            <a:off x="365760" y="2487295"/>
            <a:ext cx="64008" cy="694944"/>
          </a:xfrm>
          <a:prstGeom prst="rect">
            <a:avLst/>
          </a:prstGeom>
          <a:solidFill>
            <a:srgbClr val="FFC20E"/>
          </a:solidFill>
        </p:spPr>
      </p:sp>
      <p:sp>
        <p:nvSpPr>
          <p:cNvPr id="17" name="Text 15"/>
          <p:cNvSpPr/>
          <p:nvPr/>
        </p:nvSpPr>
        <p:spPr>
          <a:xfrm>
            <a:off x="566928" y="2578735"/>
            <a:ext cx="365760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Q3: What is your cost structure?</a:t>
            </a:r>
            <a:endParaRPr lang="en-US" sz="1300" dirty="0"/>
          </a:p>
        </p:txBody>
      </p:sp>
      <p:sp>
        <p:nvSpPr>
          <p:cNvPr id="18" name="Text 16"/>
          <p:cNvSpPr/>
          <p:nvPr/>
        </p:nvSpPr>
        <p:spPr>
          <a:xfrm>
            <a:off x="4389120" y="2578735"/>
            <a:ext cx="4251960" cy="475488"/>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High fixed tech costs → Subscription. Low fixed, high variable → Transaction.</a:t>
            </a:r>
            <a:endParaRPr lang="en-US" sz="1150" dirty="0"/>
          </a:p>
        </p:txBody>
      </p:sp>
      <p:sp>
        <p:nvSpPr>
          <p:cNvPr id="19" name="Shape 17"/>
          <p:cNvSpPr/>
          <p:nvPr/>
        </p:nvSpPr>
        <p:spPr>
          <a:xfrm>
            <a:off x="365760" y="3310255"/>
            <a:ext cx="8412480" cy="694944"/>
          </a:xfrm>
          <a:prstGeom prst="rect">
            <a:avLst/>
          </a:prstGeom>
          <a:solidFill>
            <a:srgbClr val="F4F8FC"/>
          </a:solidFill>
          <a:effectLst>
            <a:outerShdw blurRad="101600" dist="25400" dir="8100000" algn="bl" rotWithShape="0">
              <a:srgbClr val="000000">
                <a:alpha val="10000"/>
              </a:srgbClr>
            </a:outerShdw>
          </a:effectLst>
        </p:spPr>
      </p:sp>
      <p:sp>
        <p:nvSpPr>
          <p:cNvPr id="20" name="Shape 18"/>
          <p:cNvSpPr/>
          <p:nvPr/>
        </p:nvSpPr>
        <p:spPr>
          <a:xfrm>
            <a:off x="365760" y="3310255"/>
            <a:ext cx="64008" cy="694944"/>
          </a:xfrm>
          <a:prstGeom prst="rect">
            <a:avLst/>
          </a:prstGeom>
          <a:solidFill>
            <a:srgbClr val="009A44"/>
          </a:solidFill>
        </p:spPr>
      </p:sp>
      <p:sp>
        <p:nvSpPr>
          <p:cNvPr id="21" name="Text 19"/>
          <p:cNvSpPr/>
          <p:nvPr/>
        </p:nvSpPr>
        <p:spPr>
          <a:xfrm>
            <a:off x="566928" y="3401695"/>
            <a:ext cx="365760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Q4: How do you reach your customer?</a:t>
            </a:r>
            <a:endParaRPr lang="en-US" sz="1300" dirty="0"/>
          </a:p>
        </p:txBody>
      </p:sp>
      <p:sp>
        <p:nvSpPr>
          <p:cNvPr id="22" name="Text 20"/>
          <p:cNvSpPr/>
          <p:nvPr/>
        </p:nvSpPr>
        <p:spPr>
          <a:xfrm>
            <a:off x="4389120" y="3401695"/>
            <a:ext cx="4251960" cy="475488"/>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Direct (digital, agents) → Own channel. Through another business → Partner.</a:t>
            </a:r>
            <a:endParaRPr lang="en-US" sz="1150" dirty="0"/>
          </a:p>
        </p:txBody>
      </p:sp>
      <p:sp>
        <p:nvSpPr>
          <p:cNvPr id="23" name="Shape 21"/>
          <p:cNvSpPr/>
          <p:nvPr/>
        </p:nvSpPr>
        <p:spPr>
          <a:xfrm>
            <a:off x="365760" y="4133215"/>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24" name="Shape 22"/>
          <p:cNvSpPr/>
          <p:nvPr/>
        </p:nvSpPr>
        <p:spPr>
          <a:xfrm>
            <a:off x="365760" y="4133215"/>
            <a:ext cx="64008" cy="694944"/>
          </a:xfrm>
          <a:prstGeom prst="rect">
            <a:avLst/>
          </a:prstGeom>
          <a:solidFill>
            <a:srgbClr val="0A2540"/>
          </a:solidFill>
        </p:spPr>
      </p:sp>
      <p:sp>
        <p:nvSpPr>
          <p:cNvPr id="25" name="Text 23"/>
          <p:cNvSpPr/>
          <p:nvPr/>
        </p:nvSpPr>
        <p:spPr>
          <a:xfrm>
            <a:off x="566928" y="4224655"/>
            <a:ext cx="365760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Q5: What does your market expect?</a:t>
            </a:r>
            <a:endParaRPr lang="en-US" sz="1300" dirty="0"/>
          </a:p>
        </p:txBody>
      </p:sp>
      <p:sp>
        <p:nvSpPr>
          <p:cNvPr id="26" name="Text 24"/>
          <p:cNvSpPr/>
          <p:nvPr/>
        </p:nvSpPr>
        <p:spPr>
          <a:xfrm>
            <a:off x="4389120" y="4224655"/>
            <a:ext cx="4251960" cy="475488"/>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In Ghana: mobile-first, trust-based, low-cost entry. Design for this reality.</a:t>
            </a:r>
            <a:endParaRPr lang="en-US" sz="1150" dirty="0"/>
          </a:p>
        </p:txBody>
      </p:sp>
      <p:sp>
        <p:nvSpPr>
          <p:cNvPr id="27" name="Text 25"/>
          <p:cNvSpPr/>
          <p:nvPr/>
        </p:nvSpPr>
        <p:spPr>
          <a:xfrm>
            <a:off x="365760" y="4862195"/>
            <a:ext cx="8412480" cy="164592"/>
          </a:xfrm>
          <a:prstGeom prst="rect">
            <a:avLst/>
          </a:prstGeom>
          <a:noFill/>
        </p:spPr>
        <p:txBody>
          <a:bodyPr wrap="square" lIns="0" tIns="0" rIns="0" bIns="0" rtlCol="0" anchor="ctr"/>
          <a:lstStyle/>
          <a:p>
            <a:pPr marL="0" indent="0">
              <a:buNone/>
            </a:pPr>
            <a:r>
              <a:rPr lang="en-US" sz="1100" i="1" dirty="0">
                <a:solidFill>
                  <a:srgbClr val="64748B"/>
                </a:solidFill>
                <a:latin typeface="Calibri" panose="020F05020202040A0204" pitchFamily="34" charset="0"/>
                <a:ea typeface="Calibri" panose="020F05020202040A0204" pitchFamily="34" charset="-122"/>
                <a:cs typeface="Calibri" panose="020F05020202040A0204" pitchFamily="34" charset="-120"/>
              </a:rPr>
              <a:t>Note: There is no universally correct model. Validate assumptions, test with real customers, then commit.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3 Common Business Model Selection Mistakes</a:t>
            </a:r>
            <a:endParaRPr lang="en-US" sz="2400" dirty="0"/>
          </a:p>
        </p:txBody>
      </p:sp>
      <p:sp>
        <p:nvSpPr>
          <p:cNvPr id="5" name="Shape 3"/>
          <p:cNvSpPr/>
          <p:nvPr/>
        </p:nvSpPr>
        <p:spPr>
          <a:xfrm>
            <a:off x="6949440" y="91440"/>
            <a:ext cx="1828800" cy="384048"/>
          </a:xfrm>
          <a:prstGeom prst="rect">
            <a:avLst/>
          </a:prstGeom>
          <a:solidFill>
            <a:srgbClr val="FFC20E"/>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
        <p:nvSpPr>
          <p:cNvPr id="7" name="Shape 5"/>
          <p:cNvSpPr/>
          <p:nvPr/>
        </p:nvSpPr>
        <p:spPr>
          <a:xfrm>
            <a:off x="365760" y="914400"/>
            <a:ext cx="8412480" cy="1261872"/>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1261872"/>
          </a:xfrm>
          <a:prstGeom prst="rect">
            <a:avLst/>
          </a:prstGeom>
          <a:solidFill>
            <a:srgbClr val="FFC20E"/>
          </a:solidFill>
        </p:spPr>
      </p:sp>
      <p:sp>
        <p:nvSpPr>
          <p:cNvPr id="9" name="Shape 7"/>
          <p:cNvSpPr/>
          <p:nvPr/>
        </p:nvSpPr>
        <p:spPr>
          <a:xfrm>
            <a:off x="457200" y="1051560"/>
            <a:ext cx="402336" cy="402336"/>
          </a:xfrm>
          <a:prstGeom prst="ellipse">
            <a:avLst/>
          </a:prstGeom>
          <a:solidFill>
            <a:srgbClr val="FFC20E"/>
          </a:solidFill>
        </p:spPr>
      </p:sp>
      <p:sp>
        <p:nvSpPr>
          <p:cNvPr id="10" name="Text 8"/>
          <p:cNvSpPr/>
          <p:nvPr/>
        </p:nvSpPr>
        <p:spPr>
          <a:xfrm>
            <a:off x="457200" y="1051560"/>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01</a:t>
            </a:r>
            <a:endParaRPr lang="en-US" sz="1300" dirty="0"/>
          </a:p>
        </p:txBody>
      </p:sp>
      <p:sp>
        <p:nvSpPr>
          <p:cNvPr id="11" name="Text 9"/>
          <p:cNvSpPr/>
          <p:nvPr/>
        </p:nvSpPr>
        <p:spPr>
          <a:xfrm>
            <a:off x="1024128" y="1051560"/>
            <a:ext cx="7315200" cy="347472"/>
          </a:xfrm>
          <a:prstGeom prst="rect">
            <a:avLst/>
          </a:prstGeom>
          <a:noFill/>
        </p:spPr>
        <p:txBody>
          <a:bodyPr wrap="square" lIns="0" tIns="0" rIns="0" bIns="0" rtlCol="0" anchor="ctr"/>
          <a:lstStyle/>
          <a:p>
            <a:pPr marL="0" indent="0">
              <a:buNone/>
            </a:pPr>
            <a:r>
              <a:rPr lang="en-US" sz="1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Copying a foreign model without localising it</a:t>
            </a:r>
            <a:endParaRPr lang="en-US" sz="1400" dirty="0"/>
          </a:p>
        </p:txBody>
      </p:sp>
      <p:sp>
        <p:nvSpPr>
          <p:cNvPr id="12" name="Text 10"/>
          <p:cNvSpPr/>
          <p:nvPr/>
        </p:nvSpPr>
        <p:spPr>
          <a:xfrm>
            <a:off x="566928" y="1435608"/>
            <a:ext cx="7955280" cy="384048"/>
          </a:xfrm>
          <a:prstGeom prst="rect">
            <a:avLst/>
          </a:prstGeom>
          <a:noFill/>
        </p:spPr>
        <p:txBody>
          <a:bodyPr wrap="square" lIns="0" tIns="0" rIns="0" bIns="0" rtlCol="0" anchor="ctr"/>
          <a:lstStyle/>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Airbnb's model requires trust in strangers and a property-owning middle class, conditions that don't exist the same way in most African cities. Jumia copied Amazon and has struggled with last-mile logistics and return fraud for years.</a:t>
            </a:r>
            <a:endParaRPr lang="en-US" sz="1150" dirty="0"/>
          </a:p>
        </p:txBody>
      </p:sp>
      <p:sp>
        <p:nvSpPr>
          <p:cNvPr id="13" name="Text 11"/>
          <p:cNvSpPr/>
          <p:nvPr/>
        </p:nvSpPr>
        <p:spPr>
          <a:xfrm>
            <a:off x="566928" y="1847088"/>
            <a:ext cx="7955280" cy="256032"/>
          </a:xfrm>
          <a:prstGeom prst="rect">
            <a:avLst/>
          </a:prstGeom>
          <a:noFill/>
        </p:spPr>
        <p:txBody>
          <a:bodyPr wrap="square" lIns="0" tIns="0" rIns="0" bIns="0" rtlCol="0" anchor="ctr"/>
          <a:lstStyle/>
          <a:p>
            <a:pPr marL="0" indent="0">
              <a:buNone/>
            </a:pPr>
            <a:r>
              <a:rPr lang="en-US" sz="1100" i="1" dirty="0">
                <a:solidFill>
                  <a:srgbClr val="FFC20E"/>
                </a:solidFill>
                <a:latin typeface="Calibri" panose="020F05020202040A0204" pitchFamily="34" charset="0"/>
                <a:ea typeface="Calibri" panose="020F05020202040A0204" pitchFamily="34" charset="-122"/>
                <a:cs typeface="Calibri" panose="020F05020202040A0204" pitchFamily="34" charset="-120"/>
              </a:rPr>
              <a:t>Fix: always ask 'What is the Ghana-specific adaptation this model needs?' before committing.</a:t>
            </a:r>
            <a:endParaRPr lang="en-US" sz="1100" dirty="0"/>
          </a:p>
        </p:txBody>
      </p:sp>
      <p:sp>
        <p:nvSpPr>
          <p:cNvPr id="14" name="Shape 12"/>
          <p:cNvSpPr/>
          <p:nvPr/>
        </p:nvSpPr>
        <p:spPr>
          <a:xfrm>
            <a:off x="365760" y="2304288"/>
            <a:ext cx="8412480" cy="1261872"/>
          </a:xfrm>
          <a:prstGeom prst="rect">
            <a:avLst/>
          </a:prstGeom>
          <a:solidFill>
            <a:srgbClr val="FFFFFF"/>
          </a:solidFill>
          <a:effectLst>
            <a:outerShdw blurRad="101600" dist="25400" dir="8100000" algn="bl" rotWithShape="0">
              <a:srgbClr val="000000">
                <a:alpha val="10000"/>
              </a:srgbClr>
            </a:outerShdw>
          </a:effectLst>
        </p:spPr>
      </p:sp>
      <p:sp>
        <p:nvSpPr>
          <p:cNvPr id="15" name="Shape 13"/>
          <p:cNvSpPr/>
          <p:nvPr/>
        </p:nvSpPr>
        <p:spPr>
          <a:xfrm>
            <a:off x="365760" y="2304288"/>
            <a:ext cx="64008" cy="1261872"/>
          </a:xfrm>
          <a:prstGeom prst="rect">
            <a:avLst/>
          </a:prstGeom>
          <a:solidFill>
            <a:srgbClr val="00539C"/>
          </a:solidFill>
        </p:spPr>
      </p:sp>
      <p:sp>
        <p:nvSpPr>
          <p:cNvPr id="16" name="Shape 14"/>
          <p:cNvSpPr/>
          <p:nvPr/>
        </p:nvSpPr>
        <p:spPr>
          <a:xfrm>
            <a:off x="457200" y="2441448"/>
            <a:ext cx="402336" cy="402336"/>
          </a:xfrm>
          <a:prstGeom prst="ellipse">
            <a:avLst/>
          </a:prstGeom>
          <a:solidFill>
            <a:srgbClr val="00539C"/>
          </a:solidFill>
        </p:spPr>
      </p:sp>
      <p:sp>
        <p:nvSpPr>
          <p:cNvPr id="17" name="Text 15"/>
          <p:cNvSpPr/>
          <p:nvPr/>
        </p:nvSpPr>
        <p:spPr>
          <a:xfrm>
            <a:off x="457200" y="244144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02</a:t>
            </a:r>
            <a:endParaRPr lang="en-US" sz="1300" dirty="0"/>
          </a:p>
        </p:txBody>
      </p:sp>
      <p:sp>
        <p:nvSpPr>
          <p:cNvPr id="18" name="Text 16"/>
          <p:cNvSpPr/>
          <p:nvPr/>
        </p:nvSpPr>
        <p:spPr>
          <a:xfrm>
            <a:off x="1024128" y="2441448"/>
            <a:ext cx="7315200" cy="347472"/>
          </a:xfrm>
          <a:prstGeom prst="rect">
            <a:avLst/>
          </a:prstGeom>
          <a:noFill/>
        </p:spPr>
        <p:txBody>
          <a:bodyPr wrap="square" lIns="0" tIns="0" rIns="0" bIns="0" rtlCol="0" anchor="ctr"/>
          <a:lstStyle/>
          <a:p>
            <a:pPr marL="0" indent="0">
              <a:buNone/>
            </a:pPr>
            <a:r>
              <a:rPr lang="en-US" sz="1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Choosing a model based on what sounds impressive</a:t>
            </a:r>
            <a:endParaRPr lang="en-US" sz="1400" dirty="0"/>
          </a:p>
        </p:txBody>
      </p:sp>
      <p:sp>
        <p:nvSpPr>
          <p:cNvPr id="19" name="Text 17"/>
          <p:cNvSpPr/>
          <p:nvPr/>
        </p:nvSpPr>
        <p:spPr>
          <a:xfrm>
            <a:off x="566928" y="2825496"/>
            <a:ext cx="7955280" cy="384048"/>
          </a:xfrm>
          <a:prstGeom prst="rect">
            <a:avLst/>
          </a:prstGeom>
          <a:noFill/>
        </p:spPr>
        <p:txBody>
          <a:bodyPr wrap="square" lIns="0" tIns="0" rIns="0" bIns="0" rtlCol="0" anchor="ctr"/>
          <a:lstStyle/>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Many founders say 'We are a Platform' or 'We are B2B SaaS' because these sound investable, not because these models fit their actual customer and cost structure.</a:t>
            </a:r>
            <a:endParaRPr lang="en-US" sz="1150" dirty="0"/>
          </a:p>
        </p:txBody>
      </p:sp>
      <p:sp>
        <p:nvSpPr>
          <p:cNvPr id="20" name="Text 18"/>
          <p:cNvSpPr/>
          <p:nvPr/>
        </p:nvSpPr>
        <p:spPr>
          <a:xfrm>
            <a:off x="566928" y="3236976"/>
            <a:ext cx="7955280" cy="256032"/>
          </a:xfrm>
          <a:prstGeom prst="rect">
            <a:avLst/>
          </a:prstGeom>
          <a:noFill/>
        </p:spPr>
        <p:txBody>
          <a:bodyPr wrap="square" lIns="0" tIns="0" rIns="0" bIns="0" rtlCol="0" anchor="ctr"/>
          <a:lstStyle/>
          <a:p>
            <a:pPr marL="0" indent="0">
              <a:buNone/>
            </a:pPr>
            <a:r>
              <a:rPr lang="en-US" sz="1100" i="1" dirty="0">
                <a:solidFill>
                  <a:srgbClr val="00539C"/>
                </a:solidFill>
                <a:latin typeface="Calibri" panose="020F05020202040A0204" pitchFamily="34" charset="0"/>
                <a:ea typeface="Calibri" panose="020F05020202040A0204" pitchFamily="34" charset="-122"/>
                <a:cs typeface="Calibri" panose="020F05020202040A0204" pitchFamily="34" charset="-120"/>
              </a:rPr>
              <a:t>Fix: work backwards from your customer's willingness to pay and your cost structure — let those drive the model choice.</a:t>
            </a:r>
            <a:endParaRPr lang="en-US" sz="1100" dirty="0"/>
          </a:p>
        </p:txBody>
      </p:sp>
      <p:sp>
        <p:nvSpPr>
          <p:cNvPr id="21" name="Shape 19"/>
          <p:cNvSpPr/>
          <p:nvPr/>
        </p:nvSpPr>
        <p:spPr>
          <a:xfrm>
            <a:off x="365760" y="3694176"/>
            <a:ext cx="8412480" cy="1261872"/>
          </a:xfrm>
          <a:prstGeom prst="rect">
            <a:avLst/>
          </a:prstGeom>
          <a:solidFill>
            <a:srgbClr val="FFFFFF"/>
          </a:solidFill>
          <a:effectLst>
            <a:outerShdw blurRad="101600" dist="25400" dir="8100000" algn="bl" rotWithShape="0">
              <a:srgbClr val="000000">
                <a:alpha val="10000"/>
              </a:srgbClr>
            </a:outerShdw>
          </a:effectLst>
        </p:spPr>
      </p:sp>
      <p:sp>
        <p:nvSpPr>
          <p:cNvPr id="22" name="Shape 20"/>
          <p:cNvSpPr/>
          <p:nvPr/>
        </p:nvSpPr>
        <p:spPr>
          <a:xfrm>
            <a:off x="365760" y="3694176"/>
            <a:ext cx="64008" cy="1261872"/>
          </a:xfrm>
          <a:prstGeom prst="rect">
            <a:avLst/>
          </a:prstGeom>
          <a:solidFill>
            <a:srgbClr val="0A2540"/>
          </a:solidFill>
        </p:spPr>
      </p:sp>
      <p:sp>
        <p:nvSpPr>
          <p:cNvPr id="23" name="Shape 21"/>
          <p:cNvSpPr/>
          <p:nvPr/>
        </p:nvSpPr>
        <p:spPr>
          <a:xfrm>
            <a:off x="457200" y="3831336"/>
            <a:ext cx="402336" cy="402336"/>
          </a:xfrm>
          <a:prstGeom prst="ellipse">
            <a:avLst/>
          </a:prstGeom>
          <a:solidFill>
            <a:srgbClr val="0A2540"/>
          </a:solidFill>
        </p:spPr>
      </p:sp>
      <p:sp>
        <p:nvSpPr>
          <p:cNvPr id="24" name="Text 22"/>
          <p:cNvSpPr/>
          <p:nvPr/>
        </p:nvSpPr>
        <p:spPr>
          <a:xfrm>
            <a:off x="457200" y="3831336"/>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03</a:t>
            </a:r>
            <a:endParaRPr lang="en-US" sz="1300" dirty="0"/>
          </a:p>
        </p:txBody>
      </p:sp>
      <p:sp>
        <p:nvSpPr>
          <p:cNvPr id="25" name="Text 23"/>
          <p:cNvSpPr/>
          <p:nvPr/>
        </p:nvSpPr>
        <p:spPr>
          <a:xfrm>
            <a:off x="1024128" y="3831336"/>
            <a:ext cx="7315200" cy="347472"/>
          </a:xfrm>
          <a:prstGeom prst="rect">
            <a:avLst/>
          </a:prstGeom>
          <a:noFill/>
        </p:spPr>
        <p:txBody>
          <a:bodyPr wrap="square" lIns="0" tIns="0" rIns="0" bIns="0" rtlCol="0" anchor="ctr"/>
          <a:lstStyle/>
          <a:p>
            <a:pPr marL="0" indent="0">
              <a:buNone/>
            </a:pPr>
            <a:r>
              <a:rPr lang="en-US" sz="1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Launching with too many model streams simultaneously</a:t>
            </a:r>
            <a:endParaRPr lang="en-US" sz="1400" dirty="0"/>
          </a:p>
        </p:txBody>
      </p:sp>
      <p:sp>
        <p:nvSpPr>
          <p:cNvPr id="26" name="Text 24"/>
          <p:cNvSpPr/>
          <p:nvPr/>
        </p:nvSpPr>
        <p:spPr>
          <a:xfrm>
            <a:off x="566928" y="4215384"/>
            <a:ext cx="7955280" cy="384048"/>
          </a:xfrm>
          <a:prstGeom prst="rect">
            <a:avLst/>
          </a:prstGeom>
          <a:noFill/>
        </p:spPr>
        <p:txBody>
          <a:bodyPr wrap="square" lIns="0" tIns="0" rIns="0" bIns="0" rtlCol="0" anchor="ctr"/>
          <a:lstStyle/>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Trying to run B2C and B2B and B2G at the same time with a 5-person team is a recipe for being mediocre at all three. You dilute your GTM, confuse your sales team, and build no depth.</a:t>
            </a:r>
            <a:endParaRPr lang="en-US" sz="1150" dirty="0"/>
          </a:p>
        </p:txBody>
      </p:sp>
      <p:sp>
        <p:nvSpPr>
          <p:cNvPr id="27" name="Text 25"/>
          <p:cNvSpPr/>
          <p:nvPr/>
        </p:nvSpPr>
        <p:spPr>
          <a:xfrm>
            <a:off x="566928" y="4626864"/>
            <a:ext cx="7955280" cy="256032"/>
          </a:xfrm>
          <a:prstGeom prst="rect">
            <a:avLst/>
          </a:prstGeom>
          <a:noFill/>
        </p:spPr>
        <p:txBody>
          <a:bodyPr wrap="square" lIns="0" tIns="0" rIns="0" bIns="0" rtlCol="0" anchor="ctr"/>
          <a:lstStyle/>
          <a:p>
            <a:pPr marL="0" indent="0">
              <a:buNone/>
            </a:pPr>
            <a:r>
              <a:rPr lang="en-US" sz="1100" i="1" dirty="0">
                <a:solidFill>
                  <a:srgbClr val="0A2540"/>
                </a:solidFill>
                <a:latin typeface="Calibri" panose="020F05020202040A0204" pitchFamily="34" charset="0"/>
                <a:ea typeface="Calibri" panose="020F05020202040A0204" pitchFamily="34" charset="-122"/>
                <a:cs typeface="Calibri" panose="020F05020202040A0204" pitchFamily="34" charset="-120"/>
              </a:rPr>
              <a:t>Fix: focus on ONE model until you have 10 paying customers who love you. Then add the second stream.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What Business Models Win in Africa?</a:t>
            </a:r>
            <a:endParaRPr lang="en-US" sz="2400" dirty="0"/>
          </a:p>
        </p:txBody>
      </p:sp>
      <p:sp>
        <p:nvSpPr>
          <p:cNvPr id="5" name="Shape 3"/>
          <p:cNvSpPr/>
          <p:nvPr/>
        </p:nvSpPr>
        <p:spPr>
          <a:xfrm>
            <a:off x="6949440" y="91440"/>
            <a:ext cx="1828800" cy="384048"/>
          </a:xfrm>
          <a:prstGeom prst="rect">
            <a:avLst/>
          </a:prstGeom>
          <a:solidFill>
            <a:srgbClr val="FFC20E"/>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
        <p:nvSpPr>
          <p:cNvPr id="7" name="Text 5"/>
          <p:cNvSpPr/>
          <p:nvPr/>
        </p:nvSpPr>
        <p:spPr>
          <a:xfrm>
            <a:off x="457200" y="868680"/>
            <a:ext cx="822960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Africa is not a monolith — but certain structural realities shape which models succeed here.</a:t>
            </a:r>
            <a:endParaRPr lang="en-US" sz="1300" dirty="0"/>
          </a:p>
        </p:txBody>
      </p:sp>
      <p:sp>
        <p:nvSpPr>
          <p:cNvPr id="8" name="Shape 6"/>
          <p:cNvSpPr/>
          <p:nvPr/>
        </p:nvSpPr>
        <p:spPr>
          <a:xfrm>
            <a:off x="365760" y="1371600"/>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371600"/>
            <a:ext cx="64008" cy="566928"/>
          </a:xfrm>
          <a:prstGeom prst="rect">
            <a:avLst/>
          </a:prstGeom>
          <a:solidFill>
            <a:srgbClr val="00AEEF"/>
          </a:solidFill>
        </p:spPr>
      </p:sp>
      <p:sp>
        <p:nvSpPr>
          <p:cNvPr id="10" name="Text 8"/>
          <p:cNvSpPr/>
          <p:nvPr/>
        </p:nvSpPr>
        <p:spPr>
          <a:xfrm>
            <a:off x="566928" y="1481328"/>
            <a:ext cx="2011680" cy="347472"/>
          </a:xfrm>
          <a:prstGeom prst="rect">
            <a:avLst/>
          </a:prstGeom>
          <a:noFill/>
        </p:spPr>
        <p:txBody>
          <a:bodyPr wrap="square" lIns="0" tIns="0" rIns="0" bIns="0" rtlCol="0" anchor="ctr"/>
          <a:lstStyle/>
          <a:p>
            <a:pPr marL="0" indent="0">
              <a:buNone/>
            </a:pPr>
            <a:r>
              <a:rPr lang="en-US" sz="13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Mobile-First Models</a:t>
            </a:r>
            <a:endParaRPr lang="en-US" sz="1300" dirty="0"/>
          </a:p>
        </p:txBody>
      </p:sp>
      <p:sp>
        <p:nvSpPr>
          <p:cNvPr id="11" name="Text 9"/>
          <p:cNvSpPr/>
          <p:nvPr/>
        </p:nvSpPr>
        <p:spPr>
          <a:xfrm>
            <a:off x="2743200" y="1481328"/>
            <a:ext cx="5897880" cy="347472"/>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70%+ of internet access in sub-Saharan Africa is via mobile. Build mobile-first, desktop-second.</a:t>
            </a:r>
            <a:endParaRPr lang="en-US" sz="1200" dirty="0"/>
          </a:p>
        </p:txBody>
      </p:sp>
      <p:sp>
        <p:nvSpPr>
          <p:cNvPr id="12" name="Shape 10"/>
          <p:cNvSpPr/>
          <p:nvPr/>
        </p:nvSpPr>
        <p:spPr>
          <a:xfrm>
            <a:off x="365760" y="2066544"/>
            <a:ext cx="8412480" cy="566928"/>
          </a:xfrm>
          <a:prstGeom prst="rect">
            <a:avLst/>
          </a:prstGeom>
          <a:solidFill>
            <a:srgbClr val="F4F8FC"/>
          </a:solidFill>
          <a:effectLst>
            <a:outerShdw blurRad="101600" dist="25400" dir="8100000" algn="bl" rotWithShape="0">
              <a:srgbClr val="000000">
                <a:alpha val="10000"/>
              </a:srgbClr>
            </a:outerShdw>
          </a:effectLst>
        </p:spPr>
      </p:sp>
      <p:sp>
        <p:nvSpPr>
          <p:cNvPr id="13" name="Shape 11"/>
          <p:cNvSpPr/>
          <p:nvPr/>
        </p:nvSpPr>
        <p:spPr>
          <a:xfrm>
            <a:off x="365760" y="2066544"/>
            <a:ext cx="64008" cy="566928"/>
          </a:xfrm>
          <a:prstGeom prst="rect">
            <a:avLst/>
          </a:prstGeom>
          <a:solidFill>
            <a:srgbClr val="FFC20E"/>
          </a:solidFill>
        </p:spPr>
      </p:sp>
      <p:sp>
        <p:nvSpPr>
          <p:cNvPr id="14" name="Text 12"/>
          <p:cNvSpPr/>
          <p:nvPr/>
        </p:nvSpPr>
        <p:spPr>
          <a:xfrm>
            <a:off x="566928" y="2176272"/>
            <a:ext cx="2011680" cy="347472"/>
          </a:xfrm>
          <a:prstGeom prst="rect">
            <a:avLst/>
          </a:prstGeom>
          <a:noFill/>
        </p:spPr>
        <p:txBody>
          <a:bodyPr wrap="square" lIns="0" tIns="0" rIns="0" bIns="0" rtlCol="0" anchor="ctr"/>
          <a:lstStyle/>
          <a:p>
            <a:pPr marL="0" indent="0">
              <a:buNone/>
            </a:pPr>
            <a:r>
              <a:rPr lang="en-US" sz="13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Agent-Based Delivery</a:t>
            </a:r>
            <a:endParaRPr lang="en-US" sz="1300" dirty="0"/>
          </a:p>
        </p:txBody>
      </p:sp>
      <p:sp>
        <p:nvSpPr>
          <p:cNvPr id="15" name="Text 13"/>
          <p:cNvSpPr/>
          <p:nvPr/>
        </p:nvSpPr>
        <p:spPr>
          <a:xfrm>
            <a:off x="2743200" y="2176272"/>
            <a:ext cx="5897880" cy="347472"/>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MTN Ghana has 165,000+ agents. Partnering with agent networks solves last-mile distribution.</a:t>
            </a:r>
            <a:endParaRPr lang="en-US" sz="1200" dirty="0"/>
          </a:p>
        </p:txBody>
      </p:sp>
      <p:sp>
        <p:nvSpPr>
          <p:cNvPr id="16" name="Shape 14"/>
          <p:cNvSpPr/>
          <p:nvPr/>
        </p:nvSpPr>
        <p:spPr>
          <a:xfrm>
            <a:off x="365760" y="2761488"/>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17" name="Shape 15"/>
          <p:cNvSpPr/>
          <p:nvPr/>
        </p:nvSpPr>
        <p:spPr>
          <a:xfrm>
            <a:off x="365760" y="2761488"/>
            <a:ext cx="64008" cy="566928"/>
          </a:xfrm>
          <a:prstGeom prst="rect">
            <a:avLst/>
          </a:prstGeom>
          <a:solidFill>
            <a:srgbClr val="009A44"/>
          </a:solidFill>
        </p:spPr>
      </p:sp>
      <p:sp>
        <p:nvSpPr>
          <p:cNvPr id="18" name="Text 16"/>
          <p:cNvSpPr/>
          <p:nvPr/>
        </p:nvSpPr>
        <p:spPr>
          <a:xfrm>
            <a:off x="566928" y="2871216"/>
            <a:ext cx="2011680" cy="347472"/>
          </a:xfrm>
          <a:prstGeom prst="rect">
            <a:avLst/>
          </a:prstGeom>
          <a:noFill/>
        </p:spPr>
        <p:txBody>
          <a:bodyPr wrap="square" lIns="0" tIns="0" rIns="0" bIns="0" rtlCol="0" anchor="ctr"/>
          <a:lstStyle/>
          <a:p>
            <a:pPr marL="0" indent="0">
              <a:buNone/>
            </a:pPr>
            <a:r>
              <a:rPr lang="en-US" sz="13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Offline Capability</a:t>
            </a:r>
            <a:endParaRPr lang="en-US" sz="1300" dirty="0"/>
          </a:p>
        </p:txBody>
      </p:sp>
      <p:sp>
        <p:nvSpPr>
          <p:cNvPr id="19" name="Text 17"/>
          <p:cNvSpPr/>
          <p:nvPr/>
        </p:nvSpPr>
        <p:spPr>
          <a:xfrm>
            <a:off x="2743200" y="2871216"/>
            <a:ext cx="5897880" cy="347472"/>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Intermittent data access is the norm outside major cities. Apps must work offline-first.</a:t>
            </a:r>
            <a:endParaRPr lang="en-US" sz="1200" dirty="0"/>
          </a:p>
        </p:txBody>
      </p:sp>
      <p:sp>
        <p:nvSpPr>
          <p:cNvPr id="20" name="Shape 18"/>
          <p:cNvSpPr/>
          <p:nvPr/>
        </p:nvSpPr>
        <p:spPr>
          <a:xfrm>
            <a:off x="365760" y="3456432"/>
            <a:ext cx="8412480" cy="566928"/>
          </a:xfrm>
          <a:prstGeom prst="rect">
            <a:avLst/>
          </a:prstGeom>
          <a:solidFill>
            <a:srgbClr val="F4F8FC"/>
          </a:solidFill>
          <a:effectLst>
            <a:outerShdw blurRad="101600" dist="25400" dir="8100000" algn="bl" rotWithShape="0">
              <a:srgbClr val="000000">
                <a:alpha val="10000"/>
              </a:srgbClr>
            </a:outerShdw>
          </a:effectLst>
        </p:spPr>
      </p:sp>
      <p:sp>
        <p:nvSpPr>
          <p:cNvPr id="21" name="Shape 19"/>
          <p:cNvSpPr/>
          <p:nvPr/>
        </p:nvSpPr>
        <p:spPr>
          <a:xfrm>
            <a:off x="365760" y="3456432"/>
            <a:ext cx="64008" cy="566928"/>
          </a:xfrm>
          <a:prstGeom prst="rect">
            <a:avLst/>
          </a:prstGeom>
          <a:solidFill>
            <a:srgbClr val="00539C"/>
          </a:solidFill>
        </p:spPr>
      </p:sp>
      <p:sp>
        <p:nvSpPr>
          <p:cNvPr id="22" name="Text 20"/>
          <p:cNvSpPr/>
          <p:nvPr/>
        </p:nvSpPr>
        <p:spPr>
          <a:xfrm>
            <a:off x="566928" y="3566160"/>
            <a:ext cx="2011680" cy="347472"/>
          </a:xfrm>
          <a:prstGeom prst="rect">
            <a:avLst/>
          </a:prstGeom>
          <a:noFill/>
        </p:spPr>
        <p:txBody>
          <a:bodyPr wrap="square" lIns="0" tIns="0" rIns="0" bIns="0" rtlCol="0" anchor="ctr"/>
          <a:lstStyle/>
          <a:p>
            <a:pPr marL="0" indent="0">
              <a:buNone/>
            </a:pPr>
            <a:r>
              <a:rPr lang="en-US" sz="13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Trust-Embedded</a:t>
            </a:r>
            <a:endParaRPr lang="en-US" sz="1300" dirty="0"/>
          </a:p>
        </p:txBody>
      </p:sp>
      <p:sp>
        <p:nvSpPr>
          <p:cNvPr id="23" name="Text 21"/>
          <p:cNvSpPr/>
          <p:nvPr/>
        </p:nvSpPr>
        <p:spPr>
          <a:xfrm>
            <a:off x="2743200" y="3566160"/>
            <a:ext cx="5897880" cy="347472"/>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Word-of-mouth and community endorsement are more powerful than digital ads in most markets.</a:t>
            </a:r>
            <a:endParaRPr lang="en-US" sz="1200" dirty="0"/>
          </a:p>
        </p:txBody>
      </p:sp>
      <p:sp>
        <p:nvSpPr>
          <p:cNvPr id="24" name="Shape 22"/>
          <p:cNvSpPr/>
          <p:nvPr/>
        </p:nvSpPr>
        <p:spPr>
          <a:xfrm>
            <a:off x="365760" y="4151376"/>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25" name="Shape 23"/>
          <p:cNvSpPr/>
          <p:nvPr/>
        </p:nvSpPr>
        <p:spPr>
          <a:xfrm>
            <a:off x="365760" y="4151376"/>
            <a:ext cx="64008" cy="566928"/>
          </a:xfrm>
          <a:prstGeom prst="rect">
            <a:avLst/>
          </a:prstGeom>
          <a:solidFill>
            <a:srgbClr val="0A2540"/>
          </a:solidFill>
        </p:spPr>
      </p:sp>
      <p:sp>
        <p:nvSpPr>
          <p:cNvPr id="26" name="Text 24"/>
          <p:cNvSpPr/>
          <p:nvPr/>
        </p:nvSpPr>
        <p:spPr>
          <a:xfrm>
            <a:off x="566928" y="4261104"/>
            <a:ext cx="20116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Micro-Transactions</a:t>
            </a:r>
            <a:endParaRPr lang="en-US" sz="1300" dirty="0"/>
          </a:p>
        </p:txBody>
      </p:sp>
      <p:sp>
        <p:nvSpPr>
          <p:cNvPr id="27" name="Text 25"/>
          <p:cNvSpPr/>
          <p:nvPr/>
        </p:nvSpPr>
        <p:spPr>
          <a:xfrm>
            <a:off x="2743200" y="4261104"/>
            <a:ext cx="5897880" cy="347472"/>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Low-income segments use small, frequent payments rather than large annual subscriptions.</a:t>
            </a:r>
            <a:endParaRPr lang="en-US" sz="1200" dirty="0"/>
          </a:p>
        </p:txBody>
      </p:sp>
      <p:sp>
        <p:nvSpPr>
          <p:cNvPr id="28" name="Text 26"/>
          <p:cNvSpPr/>
          <p:nvPr/>
        </p:nvSpPr>
        <p:spPr>
          <a:xfrm>
            <a:off x="365760" y="4816983"/>
            <a:ext cx="8412480" cy="201168"/>
          </a:xfrm>
          <a:prstGeom prst="rect">
            <a:avLst/>
          </a:prstGeom>
          <a:noFill/>
        </p:spPr>
        <p:txBody>
          <a:bodyPr wrap="square" lIns="0" tIns="0" rIns="0" bIns="0" rtlCol="0" anchor="ctr"/>
          <a:lstStyle/>
          <a:p>
            <a:pPr marL="0" indent="0">
              <a:buNone/>
            </a:pPr>
            <a:r>
              <a:rPr lang="en-US" sz="1050" i="1" dirty="0">
                <a:solidFill>
                  <a:srgbClr val="64748B"/>
                </a:solidFill>
                <a:latin typeface="Calibri" panose="020F05020202040A0204" pitchFamily="34" charset="0"/>
                <a:ea typeface="Calibri" panose="020F05020202040A0204" pitchFamily="34" charset="-122"/>
                <a:cs typeface="Calibri" panose="020F05020202040A0204" pitchFamily="34" charset="-120"/>
              </a:rPr>
              <a:t>Models that consistently underperform in Ghana/Africa: pure e-commerce without last-mile infrastructure; pure subscription without a free entry tier; desktop-first software for mass markets.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7315200" y="-1097280"/>
            <a:ext cx="2743200" cy="2743200"/>
          </a:xfrm>
          <a:prstGeom prst="ellipse">
            <a:avLst/>
          </a:prstGeom>
          <a:solidFill>
            <a:srgbClr val="FFC20E">
              <a:alpha val="15000"/>
            </a:srgbClr>
          </a:solidFill>
        </p:spPr>
      </p:sp>
      <p:sp>
        <p:nvSpPr>
          <p:cNvPr id="3" name="Shape 1"/>
          <p:cNvSpPr/>
          <p:nvPr/>
        </p:nvSpPr>
        <p:spPr>
          <a:xfrm>
            <a:off x="0" y="0"/>
            <a:ext cx="164592" cy="5143500"/>
          </a:xfrm>
          <a:prstGeom prst="rect">
            <a:avLst/>
          </a:prstGeom>
          <a:solidFill>
            <a:srgbClr val="FFC20E"/>
          </a:solidFill>
        </p:spPr>
      </p:sp>
      <p:sp>
        <p:nvSpPr>
          <p:cNvPr id="4" name="Text 2"/>
          <p:cNvSpPr/>
          <p:nvPr/>
        </p:nvSpPr>
        <p:spPr>
          <a:xfrm>
            <a:off x="347472" y="104648"/>
            <a:ext cx="4572000" cy="347472"/>
          </a:xfrm>
          <a:prstGeom prst="rect">
            <a:avLst/>
          </a:prstGeom>
          <a:noFill/>
        </p:spPr>
        <p:txBody>
          <a:bodyPr wrap="square" lIns="0" tIns="0" rIns="0" bIns="0" rtlCol="0" anchor="ctr"/>
          <a:lstStyle/>
          <a:p>
            <a:pPr marL="0" indent="0">
              <a:buNone/>
            </a:pPr>
            <a:r>
              <a:rPr lang="en-US" sz="1100" kern="0" spc="300" dirty="0">
                <a:solidFill>
                  <a:srgbClr val="FFC20E"/>
                </a:solidFill>
                <a:latin typeface="Calibri" panose="020F05020202040A0204" pitchFamily="34" charset="0"/>
                <a:ea typeface="Calibri" panose="020F05020202040A0204" pitchFamily="34" charset="-122"/>
                <a:cs typeface="Calibri" panose="020F05020202040A0204" pitchFamily="34" charset="-120"/>
              </a:rPr>
              <a:t>GHANA CASE STUDY</a:t>
            </a:r>
            <a:endParaRPr lang="en-US" sz="1100" dirty="0"/>
          </a:p>
        </p:txBody>
      </p:sp>
      <p:sp>
        <p:nvSpPr>
          <p:cNvPr id="5" name="Text 3"/>
          <p:cNvSpPr/>
          <p:nvPr/>
        </p:nvSpPr>
        <p:spPr>
          <a:xfrm>
            <a:off x="347472" y="470408"/>
            <a:ext cx="6858000" cy="804672"/>
          </a:xfrm>
          <a:prstGeom prst="rect">
            <a:avLst/>
          </a:prstGeom>
          <a:noFill/>
        </p:spPr>
        <p:txBody>
          <a:bodyPr wrap="square" lIns="0" tIns="0" rIns="0" bIns="0" rtlCol="0" anchor="ctr"/>
          <a:lstStyle/>
          <a:p>
            <a:pPr marL="0" indent="0">
              <a:buNone/>
            </a:pPr>
            <a:r>
              <a:rPr lang="en-US" sz="40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mPharma</a:t>
            </a:r>
            <a:endParaRPr lang="en-US" sz="4000" dirty="0"/>
          </a:p>
        </p:txBody>
      </p:sp>
      <p:sp>
        <p:nvSpPr>
          <p:cNvPr id="6" name="Text 4"/>
          <p:cNvSpPr/>
          <p:nvPr/>
        </p:nvSpPr>
        <p:spPr>
          <a:xfrm>
            <a:off x="347472" y="1311656"/>
            <a:ext cx="6400800" cy="365760"/>
          </a:xfrm>
          <a:prstGeom prst="rect">
            <a:avLst/>
          </a:prstGeom>
          <a:noFill/>
        </p:spPr>
        <p:txBody>
          <a:bodyPr wrap="square" lIns="0" tIns="0" rIns="0" bIns="0" rtlCol="0" anchor="ctr"/>
          <a:lstStyle/>
          <a:p>
            <a:pPr marL="0" indent="0">
              <a:buNone/>
            </a:pPr>
            <a:r>
              <a:rPr lang="en-US" sz="1400" dirty="0">
                <a:solidFill>
                  <a:srgbClr val="FFC20E"/>
                </a:solidFill>
                <a:latin typeface="Calibri" panose="020F05020202040A0204" pitchFamily="34" charset="0"/>
                <a:ea typeface="Calibri" panose="020F05020202040A0204" pitchFamily="34" charset="-122"/>
                <a:cs typeface="Calibri" panose="020F05020202040A0204" pitchFamily="34" charset="-120"/>
              </a:rPr>
              <a:t>HealthTech  |  Accra, Ghana  |  Founded 2013  |  9 countries</a:t>
            </a:r>
            <a:endParaRPr lang="en-US" sz="1400" dirty="0"/>
          </a:p>
        </p:txBody>
      </p:sp>
      <p:sp>
        <p:nvSpPr>
          <p:cNvPr id="7" name="Shape 5"/>
          <p:cNvSpPr/>
          <p:nvPr/>
        </p:nvSpPr>
        <p:spPr>
          <a:xfrm>
            <a:off x="347472" y="1805432"/>
            <a:ext cx="8412480" cy="457200"/>
          </a:xfrm>
          <a:prstGeom prst="rect">
            <a:avLst/>
          </a:prstGeom>
          <a:solidFill>
            <a:srgbClr val="0D1E35"/>
          </a:solidFill>
        </p:spPr>
      </p:sp>
      <p:sp>
        <p:nvSpPr>
          <p:cNvPr id="8" name="Shape 6"/>
          <p:cNvSpPr/>
          <p:nvPr/>
        </p:nvSpPr>
        <p:spPr>
          <a:xfrm>
            <a:off x="347472" y="1805432"/>
            <a:ext cx="64008" cy="457200"/>
          </a:xfrm>
          <a:prstGeom prst="rect">
            <a:avLst/>
          </a:prstGeom>
          <a:solidFill>
            <a:srgbClr val="FFC20E"/>
          </a:solidFill>
        </p:spPr>
      </p:sp>
      <p:sp>
        <p:nvSpPr>
          <p:cNvPr id="9" name="Text 7"/>
          <p:cNvSpPr/>
          <p:nvPr/>
        </p:nvSpPr>
        <p:spPr>
          <a:xfrm>
            <a:off x="530352" y="1887728"/>
            <a:ext cx="1417320" cy="274320"/>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Problem:</a:t>
            </a:r>
            <a:endParaRPr lang="en-US" sz="1100" dirty="0"/>
          </a:p>
        </p:txBody>
      </p:sp>
      <p:sp>
        <p:nvSpPr>
          <p:cNvPr id="10" name="Text 8"/>
          <p:cNvSpPr/>
          <p:nvPr/>
        </p:nvSpPr>
        <p:spPr>
          <a:xfrm>
            <a:off x="2011680" y="1887728"/>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Medicines stockouts, price opacity, and counterfeit drugs across Africa's fragmented pharmacy sector</a:t>
            </a:r>
            <a:endParaRPr lang="en-US" sz="1100" dirty="0"/>
          </a:p>
        </p:txBody>
      </p:sp>
      <p:sp>
        <p:nvSpPr>
          <p:cNvPr id="11" name="Shape 9"/>
          <p:cNvSpPr/>
          <p:nvPr/>
        </p:nvSpPr>
        <p:spPr>
          <a:xfrm>
            <a:off x="347472" y="2335784"/>
            <a:ext cx="8412480" cy="457200"/>
          </a:xfrm>
          <a:prstGeom prst="rect">
            <a:avLst/>
          </a:prstGeom>
          <a:solidFill>
            <a:srgbClr val="0D1E35"/>
          </a:solidFill>
        </p:spPr>
      </p:sp>
      <p:sp>
        <p:nvSpPr>
          <p:cNvPr id="12" name="Shape 10"/>
          <p:cNvSpPr/>
          <p:nvPr/>
        </p:nvSpPr>
        <p:spPr>
          <a:xfrm>
            <a:off x="347472" y="2335784"/>
            <a:ext cx="64008" cy="457200"/>
          </a:xfrm>
          <a:prstGeom prst="rect">
            <a:avLst/>
          </a:prstGeom>
          <a:solidFill>
            <a:srgbClr val="FFC20E"/>
          </a:solidFill>
        </p:spPr>
      </p:sp>
      <p:sp>
        <p:nvSpPr>
          <p:cNvPr id="13" name="Text 11"/>
          <p:cNvSpPr/>
          <p:nvPr/>
        </p:nvSpPr>
        <p:spPr>
          <a:xfrm>
            <a:off x="530352" y="2418080"/>
            <a:ext cx="1417320" cy="274320"/>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Model Type:</a:t>
            </a:r>
            <a:endParaRPr lang="en-US" sz="1100" dirty="0"/>
          </a:p>
        </p:txBody>
      </p:sp>
      <p:sp>
        <p:nvSpPr>
          <p:cNvPr id="14" name="Text 12"/>
          <p:cNvSpPr/>
          <p:nvPr/>
        </p:nvSpPr>
        <p:spPr>
          <a:xfrm>
            <a:off x="2011680" y="2418080"/>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B2B SaaS + Marketplace — connects manufacturers to clinics and pharmacies via a digital platform</a:t>
            </a:r>
            <a:endParaRPr lang="en-US" sz="1100" dirty="0"/>
          </a:p>
        </p:txBody>
      </p:sp>
      <p:sp>
        <p:nvSpPr>
          <p:cNvPr id="15" name="Shape 13"/>
          <p:cNvSpPr/>
          <p:nvPr/>
        </p:nvSpPr>
        <p:spPr>
          <a:xfrm>
            <a:off x="347472" y="2866136"/>
            <a:ext cx="8412480" cy="457200"/>
          </a:xfrm>
          <a:prstGeom prst="rect">
            <a:avLst/>
          </a:prstGeom>
          <a:solidFill>
            <a:srgbClr val="0D1E35"/>
          </a:solidFill>
        </p:spPr>
      </p:sp>
      <p:sp>
        <p:nvSpPr>
          <p:cNvPr id="16" name="Shape 14"/>
          <p:cNvSpPr/>
          <p:nvPr/>
        </p:nvSpPr>
        <p:spPr>
          <a:xfrm>
            <a:off x="347472" y="2866136"/>
            <a:ext cx="64008" cy="457200"/>
          </a:xfrm>
          <a:prstGeom prst="rect">
            <a:avLst/>
          </a:prstGeom>
          <a:solidFill>
            <a:srgbClr val="FFC20E"/>
          </a:solidFill>
        </p:spPr>
      </p:sp>
      <p:sp>
        <p:nvSpPr>
          <p:cNvPr id="17" name="Text 15"/>
          <p:cNvSpPr/>
          <p:nvPr/>
        </p:nvSpPr>
        <p:spPr>
          <a:xfrm>
            <a:off x="530352" y="2948432"/>
            <a:ext cx="1417320" cy="274320"/>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Segments:</a:t>
            </a:r>
            <a:endParaRPr lang="en-US" sz="1100" dirty="0"/>
          </a:p>
        </p:txBody>
      </p:sp>
      <p:sp>
        <p:nvSpPr>
          <p:cNvPr id="18" name="Text 16"/>
          <p:cNvSpPr/>
          <p:nvPr/>
        </p:nvSpPr>
        <p:spPr>
          <a:xfrm>
            <a:off x="2011680" y="2948432"/>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Pharmacies and clinics (buyers); pharmaceutical manufacturers and distributors (sellers)</a:t>
            </a:r>
            <a:endParaRPr lang="en-US" sz="1100" dirty="0"/>
          </a:p>
        </p:txBody>
      </p:sp>
      <p:sp>
        <p:nvSpPr>
          <p:cNvPr id="19" name="Shape 17"/>
          <p:cNvSpPr/>
          <p:nvPr/>
        </p:nvSpPr>
        <p:spPr>
          <a:xfrm>
            <a:off x="347472" y="3396488"/>
            <a:ext cx="8412480" cy="457200"/>
          </a:xfrm>
          <a:prstGeom prst="rect">
            <a:avLst/>
          </a:prstGeom>
          <a:solidFill>
            <a:srgbClr val="0D1E35"/>
          </a:solidFill>
        </p:spPr>
      </p:sp>
      <p:sp>
        <p:nvSpPr>
          <p:cNvPr id="20" name="Shape 18"/>
          <p:cNvSpPr/>
          <p:nvPr/>
        </p:nvSpPr>
        <p:spPr>
          <a:xfrm>
            <a:off x="347472" y="3396488"/>
            <a:ext cx="64008" cy="457200"/>
          </a:xfrm>
          <a:prstGeom prst="rect">
            <a:avLst/>
          </a:prstGeom>
          <a:solidFill>
            <a:srgbClr val="FFC20E"/>
          </a:solidFill>
        </p:spPr>
      </p:sp>
      <p:sp>
        <p:nvSpPr>
          <p:cNvPr id="21" name="Text 19"/>
          <p:cNvSpPr/>
          <p:nvPr/>
        </p:nvSpPr>
        <p:spPr>
          <a:xfrm>
            <a:off x="530352" y="3478784"/>
            <a:ext cx="1417320" cy="274320"/>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Revenue:</a:t>
            </a:r>
            <a:endParaRPr lang="en-US" sz="1100" dirty="0"/>
          </a:p>
        </p:txBody>
      </p:sp>
      <p:sp>
        <p:nvSpPr>
          <p:cNvPr id="22" name="Text 20"/>
          <p:cNvSpPr/>
          <p:nvPr/>
        </p:nvSpPr>
        <p:spPr>
          <a:xfrm>
            <a:off x="2011680" y="3478784"/>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SaaS platform subscription from pharmacies + transaction margin on medicine procurement</a:t>
            </a:r>
            <a:endParaRPr lang="en-US" sz="1100" dirty="0"/>
          </a:p>
        </p:txBody>
      </p:sp>
      <p:sp>
        <p:nvSpPr>
          <p:cNvPr id="23" name="Shape 21"/>
          <p:cNvSpPr/>
          <p:nvPr/>
        </p:nvSpPr>
        <p:spPr>
          <a:xfrm>
            <a:off x="347472" y="3926840"/>
            <a:ext cx="8412480" cy="457200"/>
          </a:xfrm>
          <a:prstGeom prst="rect">
            <a:avLst/>
          </a:prstGeom>
          <a:solidFill>
            <a:srgbClr val="0D1E35"/>
          </a:solidFill>
        </p:spPr>
      </p:sp>
      <p:sp>
        <p:nvSpPr>
          <p:cNvPr id="24" name="Shape 22"/>
          <p:cNvSpPr/>
          <p:nvPr/>
        </p:nvSpPr>
        <p:spPr>
          <a:xfrm>
            <a:off x="347472" y="3926840"/>
            <a:ext cx="64008" cy="457200"/>
          </a:xfrm>
          <a:prstGeom prst="rect">
            <a:avLst/>
          </a:prstGeom>
          <a:solidFill>
            <a:srgbClr val="FFC20E"/>
          </a:solidFill>
        </p:spPr>
      </p:sp>
      <p:sp>
        <p:nvSpPr>
          <p:cNvPr id="25" name="Text 23"/>
          <p:cNvSpPr/>
          <p:nvPr/>
        </p:nvSpPr>
        <p:spPr>
          <a:xfrm>
            <a:off x="530352" y="4009136"/>
            <a:ext cx="1417320" cy="274320"/>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Key Insight:</a:t>
            </a:r>
            <a:endParaRPr lang="en-US" sz="1100" dirty="0"/>
          </a:p>
        </p:txBody>
      </p:sp>
      <p:sp>
        <p:nvSpPr>
          <p:cNvPr id="26" name="Text 24"/>
          <p:cNvSpPr/>
          <p:nvPr/>
        </p:nvSpPr>
        <p:spPr>
          <a:xfrm>
            <a:off x="2011680" y="4009136"/>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Aggregating demand from fragmented pharmacies gives mPharma negotiating power with manufacturers</a:t>
            </a:r>
            <a:endParaRPr lang="en-US" sz="1100" dirty="0"/>
          </a:p>
        </p:txBody>
      </p:sp>
      <p:sp>
        <p:nvSpPr>
          <p:cNvPr id="27" name="Shape 25"/>
          <p:cNvSpPr/>
          <p:nvPr/>
        </p:nvSpPr>
        <p:spPr>
          <a:xfrm>
            <a:off x="347472" y="4457192"/>
            <a:ext cx="8412480" cy="457200"/>
          </a:xfrm>
          <a:prstGeom prst="rect">
            <a:avLst/>
          </a:prstGeom>
          <a:solidFill>
            <a:srgbClr val="0D1E35"/>
          </a:solidFill>
        </p:spPr>
      </p:sp>
      <p:sp>
        <p:nvSpPr>
          <p:cNvPr id="28" name="Shape 26"/>
          <p:cNvSpPr/>
          <p:nvPr/>
        </p:nvSpPr>
        <p:spPr>
          <a:xfrm>
            <a:off x="347472" y="4457192"/>
            <a:ext cx="64008" cy="457200"/>
          </a:xfrm>
          <a:prstGeom prst="rect">
            <a:avLst/>
          </a:prstGeom>
          <a:solidFill>
            <a:srgbClr val="FFC20E"/>
          </a:solidFill>
        </p:spPr>
      </p:sp>
      <p:sp>
        <p:nvSpPr>
          <p:cNvPr id="29" name="Text 27"/>
          <p:cNvSpPr/>
          <p:nvPr/>
        </p:nvSpPr>
        <p:spPr>
          <a:xfrm>
            <a:off x="530352" y="4539488"/>
            <a:ext cx="1417320" cy="274320"/>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Scale:</a:t>
            </a:r>
            <a:endParaRPr lang="en-US" sz="1100" dirty="0"/>
          </a:p>
        </p:txBody>
      </p:sp>
      <p:sp>
        <p:nvSpPr>
          <p:cNvPr id="30" name="Text 28"/>
          <p:cNvSpPr/>
          <p:nvPr/>
        </p:nvSpPr>
        <p:spPr>
          <a:xfrm>
            <a:off x="2011680" y="4539488"/>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Operating in Ghana, Kenya, Nigeria, Zambia, Rwanda, Ethiopia, Zimbabwe and more</a:t>
            </a:r>
            <a:endParaRPr lang="en-US" sz="1100" dirty="0"/>
          </a:p>
        </p:txBody>
      </p:sp>
      <p:sp>
        <p:nvSpPr>
          <p:cNvPr id="31" name="Shape 29"/>
          <p:cNvSpPr/>
          <p:nvPr/>
        </p:nvSpPr>
        <p:spPr>
          <a:xfrm>
            <a:off x="6949440" y="91440"/>
            <a:ext cx="1828800" cy="384048"/>
          </a:xfrm>
          <a:prstGeom prst="rect">
            <a:avLst/>
          </a:prstGeom>
          <a:solidFill>
            <a:srgbClr val="FFC20E"/>
          </a:solidFill>
        </p:spPr>
      </p:sp>
      <p:sp>
        <p:nvSpPr>
          <p:cNvPr id="32" name="Text 30"/>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7315200" y="-1097280"/>
            <a:ext cx="2743200" cy="2743200"/>
          </a:xfrm>
          <a:prstGeom prst="ellipse">
            <a:avLst/>
          </a:prstGeom>
          <a:solidFill>
            <a:srgbClr val="FFC20E">
              <a:alpha val="15000"/>
            </a:srgbClr>
          </a:solidFill>
        </p:spPr>
      </p:sp>
      <p:sp>
        <p:nvSpPr>
          <p:cNvPr id="3" name="Shape 1"/>
          <p:cNvSpPr/>
          <p:nvPr/>
        </p:nvSpPr>
        <p:spPr>
          <a:xfrm>
            <a:off x="0" y="0"/>
            <a:ext cx="164592" cy="5143500"/>
          </a:xfrm>
          <a:prstGeom prst="rect">
            <a:avLst/>
          </a:prstGeom>
          <a:solidFill>
            <a:srgbClr val="FFC20E"/>
          </a:solidFill>
        </p:spPr>
      </p:sp>
      <p:sp>
        <p:nvSpPr>
          <p:cNvPr id="4" name="Text 2"/>
          <p:cNvSpPr/>
          <p:nvPr/>
        </p:nvSpPr>
        <p:spPr>
          <a:xfrm>
            <a:off x="347472" y="104013"/>
            <a:ext cx="4572000" cy="347472"/>
          </a:xfrm>
          <a:prstGeom prst="rect">
            <a:avLst/>
          </a:prstGeom>
          <a:noFill/>
        </p:spPr>
        <p:txBody>
          <a:bodyPr wrap="square" lIns="0" tIns="0" rIns="0" bIns="0" rtlCol="0" anchor="ctr"/>
          <a:lstStyle/>
          <a:p>
            <a:pPr marL="0" indent="0">
              <a:buNone/>
            </a:pPr>
            <a:r>
              <a:rPr lang="en-US" sz="1100" kern="0" spc="300" dirty="0">
                <a:solidFill>
                  <a:srgbClr val="FFC20E"/>
                </a:solidFill>
                <a:latin typeface="Calibri" panose="020F05020202040A0204" pitchFamily="34" charset="0"/>
                <a:ea typeface="Calibri" panose="020F05020202040A0204" pitchFamily="34" charset="-122"/>
                <a:cs typeface="Calibri" panose="020F05020202040A0204" pitchFamily="34" charset="-120"/>
              </a:rPr>
              <a:t>GHANA CASE STUDY</a:t>
            </a:r>
            <a:endParaRPr lang="en-US" sz="1100" dirty="0"/>
          </a:p>
        </p:txBody>
      </p:sp>
      <p:sp>
        <p:nvSpPr>
          <p:cNvPr id="5" name="Text 3"/>
          <p:cNvSpPr/>
          <p:nvPr/>
        </p:nvSpPr>
        <p:spPr>
          <a:xfrm>
            <a:off x="347472" y="469773"/>
            <a:ext cx="6858000" cy="804672"/>
          </a:xfrm>
          <a:prstGeom prst="rect">
            <a:avLst/>
          </a:prstGeom>
          <a:noFill/>
        </p:spPr>
        <p:txBody>
          <a:bodyPr wrap="square" lIns="0" tIns="0" rIns="0" bIns="0" rtlCol="0" anchor="ctr"/>
          <a:lstStyle/>
          <a:p>
            <a:pPr marL="0" indent="0">
              <a:buNone/>
            </a:pPr>
            <a:r>
              <a:rPr lang="en-US" sz="40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Tonaton</a:t>
            </a:r>
            <a:endParaRPr lang="en-US" sz="4000" dirty="0"/>
          </a:p>
        </p:txBody>
      </p:sp>
      <p:sp>
        <p:nvSpPr>
          <p:cNvPr id="6" name="Text 4"/>
          <p:cNvSpPr/>
          <p:nvPr/>
        </p:nvSpPr>
        <p:spPr>
          <a:xfrm>
            <a:off x="347472" y="1311021"/>
            <a:ext cx="6400800" cy="365760"/>
          </a:xfrm>
          <a:prstGeom prst="rect">
            <a:avLst/>
          </a:prstGeom>
          <a:noFill/>
        </p:spPr>
        <p:txBody>
          <a:bodyPr wrap="square" lIns="0" tIns="0" rIns="0" bIns="0" rtlCol="0" anchor="ctr"/>
          <a:lstStyle/>
          <a:p>
            <a:pPr marL="0" indent="0">
              <a:buNone/>
            </a:pPr>
            <a:r>
              <a:rPr lang="en-US" sz="1400" dirty="0">
                <a:solidFill>
                  <a:srgbClr val="FFC20E"/>
                </a:solidFill>
                <a:latin typeface="Calibri" panose="020F05020202040A0204" pitchFamily="34" charset="0"/>
                <a:ea typeface="Calibri" panose="020F05020202040A0204" pitchFamily="34" charset="-122"/>
                <a:cs typeface="Calibri" panose="020F05020202040A0204" pitchFamily="34" charset="-120"/>
              </a:rPr>
              <a:t>Marketplace / Classifieds  |  Accra, Ghana  |  Founded 2013</a:t>
            </a:r>
            <a:endParaRPr lang="en-US" sz="1400" dirty="0"/>
          </a:p>
        </p:txBody>
      </p:sp>
      <p:sp>
        <p:nvSpPr>
          <p:cNvPr id="7" name="Shape 5"/>
          <p:cNvSpPr/>
          <p:nvPr/>
        </p:nvSpPr>
        <p:spPr>
          <a:xfrm>
            <a:off x="347472" y="1804797"/>
            <a:ext cx="8412480" cy="457200"/>
          </a:xfrm>
          <a:prstGeom prst="rect">
            <a:avLst/>
          </a:prstGeom>
          <a:solidFill>
            <a:srgbClr val="0D1E35"/>
          </a:solidFill>
        </p:spPr>
      </p:sp>
      <p:sp>
        <p:nvSpPr>
          <p:cNvPr id="8" name="Shape 6"/>
          <p:cNvSpPr/>
          <p:nvPr/>
        </p:nvSpPr>
        <p:spPr>
          <a:xfrm>
            <a:off x="347472" y="1804797"/>
            <a:ext cx="64008" cy="457200"/>
          </a:xfrm>
          <a:prstGeom prst="rect">
            <a:avLst/>
          </a:prstGeom>
          <a:solidFill>
            <a:srgbClr val="FFC20E"/>
          </a:solidFill>
        </p:spPr>
      </p:sp>
      <p:sp>
        <p:nvSpPr>
          <p:cNvPr id="9" name="Text 7"/>
          <p:cNvSpPr/>
          <p:nvPr/>
        </p:nvSpPr>
        <p:spPr>
          <a:xfrm>
            <a:off x="530352" y="1887093"/>
            <a:ext cx="1417320" cy="274320"/>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Problem:</a:t>
            </a:r>
            <a:endParaRPr lang="en-US" sz="1100" dirty="0"/>
          </a:p>
        </p:txBody>
      </p:sp>
      <p:sp>
        <p:nvSpPr>
          <p:cNvPr id="10" name="Text 8"/>
          <p:cNvSpPr/>
          <p:nvPr/>
        </p:nvSpPr>
        <p:spPr>
          <a:xfrm>
            <a:off x="2011680" y="1887093"/>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No trusted online marketplace for buying/selling second-hand goods and services in Ghana</a:t>
            </a:r>
            <a:endParaRPr lang="en-US" sz="1100" dirty="0"/>
          </a:p>
        </p:txBody>
      </p:sp>
      <p:sp>
        <p:nvSpPr>
          <p:cNvPr id="11" name="Shape 9"/>
          <p:cNvSpPr/>
          <p:nvPr/>
        </p:nvSpPr>
        <p:spPr>
          <a:xfrm>
            <a:off x="347472" y="2335149"/>
            <a:ext cx="8412480" cy="457200"/>
          </a:xfrm>
          <a:prstGeom prst="rect">
            <a:avLst/>
          </a:prstGeom>
          <a:solidFill>
            <a:srgbClr val="0D1E35"/>
          </a:solidFill>
        </p:spPr>
      </p:sp>
      <p:sp>
        <p:nvSpPr>
          <p:cNvPr id="12" name="Shape 10"/>
          <p:cNvSpPr/>
          <p:nvPr/>
        </p:nvSpPr>
        <p:spPr>
          <a:xfrm>
            <a:off x="347472" y="2335149"/>
            <a:ext cx="64008" cy="457200"/>
          </a:xfrm>
          <a:prstGeom prst="rect">
            <a:avLst/>
          </a:prstGeom>
          <a:solidFill>
            <a:srgbClr val="FFC20E"/>
          </a:solidFill>
        </p:spPr>
      </p:sp>
      <p:sp>
        <p:nvSpPr>
          <p:cNvPr id="13" name="Text 11"/>
          <p:cNvSpPr/>
          <p:nvPr/>
        </p:nvSpPr>
        <p:spPr>
          <a:xfrm>
            <a:off x="530352" y="2417445"/>
            <a:ext cx="1417320" cy="274320"/>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Model Type:</a:t>
            </a:r>
            <a:endParaRPr lang="en-US" sz="1100" dirty="0"/>
          </a:p>
        </p:txBody>
      </p:sp>
      <p:sp>
        <p:nvSpPr>
          <p:cNvPr id="14" name="Text 12"/>
          <p:cNvSpPr/>
          <p:nvPr/>
        </p:nvSpPr>
        <p:spPr>
          <a:xfrm>
            <a:off x="2011680" y="2417445"/>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Platform / Marketplace — connects individual sellers and buyers of goods and services</a:t>
            </a:r>
            <a:endParaRPr lang="en-US" sz="1100" dirty="0"/>
          </a:p>
        </p:txBody>
      </p:sp>
      <p:sp>
        <p:nvSpPr>
          <p:cNvPr id="15" name="Shape 13"/>
          <p:cNvSpPr/>
          <p:nvPr/>
        </p:nvSpPr>
        <p:spPr>
          <a:xfrm>
            <a:off x="347472" y="2865501"/>
            <a:ext cx="8412480" cy="457200"/>
          </a:xfrm>
          <a:prstGeom prst="rect">
            <a:avLst/>
          </a:prstGeom>
          <a:solidFill>
            <a:srgbClr val="0D1E35"/>
          </a:solidFill>
        </p:spPr>
      </p:sp>
      <p:sp>
        <p:nvSpPr>
          <p:cNvPr id="16" name="Shape 14"/>
          <p:cNvSpPr/>
          <p:nvPr/>
        </p:nvSpPr>
        <p:spPr>
          <a:xfrm>
            <a:off x="347472" y="2865501"/>
            <a:ext cx="64008" cy="457200"/>
          </a:xfrm>
          <a:prstGeom prst="rect">
            <a:avLst/>
          </a:prstGeom>
          <a:solidFill>
            <a:srgbClr val="FFC20E"/>
          </a:solidFill>
        </p:spPr>
      </p:sp>
      <p:sp>
        <p:nvSpPr>
          <p:cNvPr id="17" name="Text 15"/>
          <p:cNvSpPr/>
          <p:nvPr/>
        </p:nvSpPr>
        <p:spPr>
          <a:xfrm>
            <a:off x="530352" y="2947797"/>
            <a:ext cx="1417320" cy="274320"/>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Revenue:</a:t>
            </a:r>
            <a:endParaRPr lang="en-US" sz="1100" dirty="0"/>
          </a:p>
        </p:txBody>
      </p:sp>
      <p:sp>
        <p:nvSpPr>
          <p:cNvPr id="18" name="Text 16"/>
          <p:cNvSpPr/>
          <p:nvPr/>
        </p:nvSpPr>
        <p:spPr>
          <a:xfrm>
            <a:off x="2011680" y="2947797"/>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Promoted listings (sellers pay for visibility boost), featured categories, and subscription seller plans</a:t>
            </a:r>
            <a:endParaRPr lang="en-US" sz="1100" dirty="0"/>
          </a:p>
        </p:txBody>
      </p:sp>
      <p:sp>
        <p:nvSpPr>
          <p:cNvPr id="19" name="Shape 17"/>
          <p:cNvSpPr/>
          <p:nvPr/>
        </p:nvSpPr>
        <p:spPr>
          <a:xfrm>
            <a:off x="347472" y="3395853"/>
            <a:ext cx="8412480" cy="457200"/>
          </a:xfrm>
          <a:prstGeom prst="rect">
            <a:avLst/>
          </a:prstGeom>
          <a:solidFill>
            <a:srgbClr val="0D1E35"/>
          </a:solidFill>
        </p:spPr>
      </p:sp>
      <p:sp>
        <p:nvSpPr>
          <p:cNvPr id="20" name="Shape 18"/>
          <p:cNvSpPr/>
          <p:nvPr/>
        </p:nvSpPr>
        <p:spPr>
          <a:xfrm>
            <a:off x="347472" y="3395853"/>
            <a:ext cx="64008" cy="457200"/>
          </a:xfrm>
          <a:prstGeom prst="rect">
            <a:avLst/>
          </a:prstGeom>
          <a:solidFill>
            <a:srgbClr val="FFC20E"/>
          </a:solidFill>
        </p:spPr>
      </p:sp>
      <p:sp>
        <p:nvSpPr>
          <p:cNvPr id="21" name="Text 19"/>
          <p:cNvSpPr/>
          <p:nvPr/>
        </p:nvSpPr>
        <p:spPr>
          <a:xfrm>
            <a:off x="530352" y="3478149"/>
            <a:ext cx="1417320" cy="274320"/>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Cold-Start:</a:t>
            </a:r>
            <a:endParaRPr lang="en-US" sz="1100" dirty="0"/>
          </a:p>
        </p:txBody>
      </p:sp>
      <p:sp>
        <p:nvSpPr>
          <p:cNvPr id="22" name="Text 20"/>
          <p:cNvSpPr/>
          <p:nvPr/>
        </p:nvSpPr>
        <p:spPr>
          <a:xfrm>
            <a:off x="2011680" y="3478149"/>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Seeded supply side with free listings from existing communities; quality-controlled early inventory</a:t>
            </a:r>
            <a:endParaRPr lang="en-US" sz="1100" dirty="0"/>
          </a:p>
        </p:txBody>
      </p:sp>
      <p:sp>
        <p:nvSpPr>
          <p:cNvPr id="23" name="Shape 21"/>
          <p:cNvSpPr/>
          <p:nvPr/>
        </p:nvSpPr>
        <p:spPr>
          <a:xfrm>
            <a:off x="347472" y="3926205"/>
            <a:ext cx="8412480" cy="457200"/>
          </a:xfrm>
          <a:prstGeom prst="rect">
            <a:avLst/>
          </a:prstGeom>
          <a:solidFill>
            <a:srgbClr val="0D1E35"/>
          </a:solidFill>
        </p:spPr>
      </p:sp>
      <p:sp>
        <p:nvSpPr>
          <p:cNvPr id="24" name="Shape 22"/>
          <p:cNvSpPr/>
          <p:nvPr/>
        </p:nvSpPr>
        <p:spPr>
          <a:xfrm>
            <a:off x="347472" y="3926205"/>
            <a:ext cx="64008" cy="457200"/>
          </a:xfrm>
          <a:prstGeom prst="rect">
            <a:avLst/>
          </a:prstGeom>
          <a:solidFill>
            <a:srgbClr val="FFC20E"/>
          </a:solidFill>
        </p:spPr>
      </p:sp>
      <p:sp>
        <p:nvSpPr>
          <p:cNvPr id="25" name="Text 23"/>
          <p:cNvSpPr/>
          <p:nvPr/>
        </p:nvSpPr>
        <p:spPr>
          <a:xfrm>
            <a:off x="530352" y="4008501"/>
            <a:ext cx="1417320" cy="274320"/>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Network FX:</a:t>
            </a:r>
            <a:endParaRPr lang="en-US" sz="1100" dirty="0"/>
          </a:p>
        </p:txBody>
      </p:sp>
      <p:sp>
        <p:nvSpPr>
          <p:cNvPr id="26" name="Text 24"/>
          <p:cNvSpPr/>
          <p:nvPr/>
        </p:nvSpPr>
        <p:spPr>
          <a:xfrm>
            <a:off x="2011680" y="4008501"/>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Every new seller makes platform more useful for buyers; every buyer makes platform more attractive for sellers</a:t>
            </a:r>
            <a:endParaRPr lang="en-US" sz="1100" dirty="0"/>
          </a:p>
        </p:txBody>
      </p:sp>
      <p:sp>
        <p:nvSpPr>
          <p:cNvPr id="27" name="Shape 25"/>
          <p:cNvSpPr/>
          <p:nvPr/>
        </p:nvSpPr>
        <p:spPr>
          <a:xfrm>
            <a:off x="347472" y="4456557"/>
            <a:ext cx="8412480" cy="457200"/>
          </a:xfrm>
          <a:prstGeom prst="rect">
            <a:avLst/>
          </a:prstGeom>
          <a:solidFill>
            <a:srgbClr val="0D1E35"/>
          </a:solidFill>
        </p:spPr>
      </p:sp>
      <p:sp>
        <p:nvSpPr>
          <p:cNvPr id="28" name="Shape 26"/>
          <p:cNvSpPr/>
          <p:nvPr/>
        </p:nvSpPr>
        <p:spPr>
          <a:xfrm>
            <a:off x="347472" y="4456557"/>
            <a:ext cx="64008" cy="457200"/>
          </a:xfrm>
          <a:prstGeom prst="rect">
            <a:avLst/>
          </a:prstGeom>
          <a:solidFill>
            <a:srgbClr val="FFC20E"/>
          </a:solidFill>
        </p:spPr>
      </p:sp>
      <p:sp>
        <p:nvSpPr>
          <p:cNvPr id="29" name="Text 27"/>
          <p:cNvSpPr/>
          <p:nvPr/>
        </p:nvSpPr>
        <p:spPr>
          <a:xfrm>
            <a:off x="530352" y="4538853"/>
            <a:ext cx="1417320" cy="274320"/>
          </a:xfrm>
          <a:prstGeom prst="rect">
            <a:avLst/>
          </a:prstGeom>
          <a:noFill/>
        </p:spPr>
        <p:txBody>
          <a:bodyPr wrap="square" lIns="0" tIns="0" rIns="0" bIns="0" rtlCol="0" anchor="ctr"/>
          <a:lstStyle/>
          <a:p>
            <a:pPr marL="0" indent="0">
              <a:buNone/>
            </a:pPr>
            <a:r>
              <a:rPr lang="en-US" sz="11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Key Insight:</a:t>
            </a:r>
            <a:endParaRPr lang="en-US" sz="1100" dirty="0"/>
          </a:p>
        </p:txBody>
      </p:sp>
      <p:sp>
        <p:nvSpPr>
          <p:cNvPr id="30" name="Text 28"/>
          <p:cNvSpPr/>
          <p:nvPr/>
        </p:nvSpPr>
        <p:spPr>
          <a:xfrm>
            <a:off x="2011680" y="4538853"/>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Trust infrastructure (verified profiles, escrow payment) was the product — not just the listing engine</a:t>
            </a:r>
            <a:endParaRPr lang="en-US" sz="1100" dirty="0"/>
          </a:p>
        </p:txBody>
      </p:sp>
      <p:sp>
        <p:nvSpPr>
          <p:cNvPr id="31" name="Shape 29"/>
          <p:cNvSpPr/>
          <p:nvPr/>
        </p:nvSpPr>
        <p:spPr>
          <a:xfrm>
            <a:off x="6949440" y="91440"/>
            <a:ext cx="1828800" cy="384048"/>
          </a:xfrm>
          <a:prstGeom prst="rect">
            <a:avLst/>
          </a:prstGeom>
          <a:solidFill>
            <a:srgbClr val="FFC20E"/>
          </a:solidFill>
        </p:spPr>
      </p:sp>
      <p:sp>
        <p:nvSpPr>
          <p:cNvPr id="32" name="Text 30"/>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How to Test &amp; Validate Your Business Model</a:t>
            </a:r>
            <a:endParaRPr lang="en-US" sz="2400" dirty="0"/>
          </a:p>
        </p:txBody>
      </p:sp>
      <p:sp>
        <p:nvSpPr>
          <p:cNvPr id="5" name="Shape 3"/>
          <p:cNvSpPr/>
          <p:nvPr/>
        </p:nvSpPr>
        <p:spPr>
          <a:xfrm>
            <a:off x="6949440" y="91440"/>
            <a:ext cx="1828800" cy="384048"/>
          </a:xfrm>
          <a:prstGeom prst="rect">
            <a:avLst/>
          </a:prstGeom>
          <a:solidFill>
            <a:srgbClr val="FFC20E"/>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
        <p:nvSpPr>
          <p:cNvPr id="7" name="Text 5"/>
          <p:cNvSpPr/>
          <p:nvPr/>
        </p:nvSpPr>
        <p:spPr>
          <a:xfrm>
            <a:off x="457200" y="868680"/>
            <a:ext cx="822960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Choosing a model type is only half the job. You must validate that it works in your specific context.</a:t>
            </a:r>
            <a:endParaRPr lang="en-US" sz="1300" dirty="0"/>
          </a:p>
        </p:txBody>
      </p:sp>
      <p:sp>
        <p:nvSpPr>
          <p:cNvPr id="8" name="Shape 6"/>
          <p:cNvSpPr/>
          <p:nvPr/>
        </p:nvSpPr>
        <p:spPr>
          <a:xfrm>
            <a:off x="365760" y="1371600"/>
            <a:ext cx="8412480" cy="594360"/>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457200" y="1463040"/>
            <a:ext cx="402336" cy="402336"/>
          </a:xfrm>
          <a:prstGeom prst="ellipse">
            <a:avLst/>
          </a:prstGeom>
          <a:solidFill>
            <a:srgbClr val="FFC20E"/>
          </a:solidFill>
        </p:spPr>
      </p:sp>
      <p:sp>
        <p:nvSpPr>
          <p:cNvPr id="10" name="Text 8"/>
          <p:cNvSpPr/>
          <p:nvPr/>
        </p:nvSpPr>
        <p:spPr>
          <a:xfrm>
            <a:off x="457200" y="1463040"/>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01</a:t>
            </a:r>
            <a:endParaRPr lang="en-US" sz="1300" dirty="0"/>
          </a:p>
        </p:txBody>
      </p:sp>
      <p:sp>
        <p:nvSpPr>
          <p:cNvPr id="11" name="Text 9"/>
          <p:cNvSpPr/>
          <p:nvPr/>
        </p:nvSpPr>
        <p:spPr>
          <a:xfrm>
            <a:off x="1024128" y="1463040"/>
            <a:ext cx="29260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Identify Your Riskiest Assumption</a:t>
            </a:r>
            <a:endParaRPr lang="en-US" sz="1300" dirty="0"/>
          </a:p>
        </p:txBody>
      </p:sp>
      <p:sp>
        <p:nvSpPr>
          <p:cNvPr id="12" name="Text 10"/>
          <p:cNvSpPr/>
          <p:nvPr/>
        </p:nvSpPr>
        <p:spPr>
          <a:xfrm>
            <a:off x="4114800" y="1463040"/>
            <a:ext cx="4617720" cy="411480"/>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What is the one thing that, if wrong, kills this model? e.g. 'Pharmacies will pay GHS 500/month for inventory software.'</a:t>
            </a:r>
            <a:endParaRPr lang="en-US" sz="1150" dirty="0"/>
          </a:p>
        </p:txBody>
      </p:sp>
      <p:sp>
        <p:nvSpPr>
          <p:cNvPr id="13" name="Shape 11"/>
          <p:cNvSpPr/>
          <p:nvPr/>
        </p:nvSpPr>
        <p:spPr>
          <a:xfrm>
            <a:off x="365760" y="2075688"/>
            <a:ext cx="8412480" cy="594360"/>
          </a:xfrm>
          <a:prstGeom prst="rect">
            <a:avLst/>
          </a:prstGeom>
          <a:solidFill>
            <a:srgbClr val="F4F8FC"/>
          </a:solidFill>
          <a:effectLst>
            <a:outerShdw blurRad="101600" dist="25400" dir="8100000" algn="bl" rotWithShape="0">
              <a:srgbClr val="000000">
                <a:alpha val="10000"/>
              </a:srgbClr>
            </a:outerShdw>
          </a:effectLst>
        </p:spPr>
      </p:sp>
      <p:sp>
        <p:nvSpPr>
          <p:cNvPr id="14" name="Shape 12"/>
          <p:cNvSpPr/>
          <p:nvPr/>
        </p:nvSpPr>
        <p:spPr>
          <a:xfrm>
            <a:off x="457200" y="2167128"/>
            <a:ext cx="402336" cy="402336"/>
          </a:xfrm>
          <a:prstGeom prst="ellipse">
            <a:avLst/>
          </a:prstGeom>
          <a:solidFill>
            <a:srgbClr val="FFC20E"/>
          </a:solidFill>
        </p:spPr>
      </p:sp>
      <p:sp>
        <p:nvSpPr>
          <p:cNvPr id="15" name="Text 13"/>
          <p:cNvSpPr/>
          <p:nvPr/>
        </p:nvSpPr>
        <p:spPr>
          <a:xfrm>
            <a:off x="457200" y="216712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02</a:t>
            </a:r>
            <a:endParaRPr lang="en-US" sz="1300" dirty="0"/>
          </a:p>
        </p:txBody>
      </p:sp>
      <p:sp>
        <p:nvSpPr>
          <p:cNvPr id="16" name="Text 14"/>
          <p:cNvSpPr/>
          <p:nvPr/>
        </p:nvSpPr>
        <p:spPr>
          <a:xfrm>
            <a:off x="1024128" y="2167128"/>
            <a:ext cx="29260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Design a Minimum Viable Test</a:t>
            </a:r>
            <a:endParaRPr lang="en-US" sz="1300" dirty="0"/>
          </a:p>
        </p:txBody>
      </p:sp>
      <p:sp>
        <p:nvSpPr>
          <p:cNvPr id="17" name="Text 15"/>
          <p:cNvSpPr/>
          <p:nvPr/>
        </p:nvSpPr>
        <p:spPr>
          <a:xfrm>
            <a:off x="4114800" y="2167128"/>
            <a:ext cx="4617720" cy="411480"/>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What is the smallest experiment to test that assumption? e.g. Get 3 pharmacies to sign a letter of intent (not money yet).</a:t>
            </a:r>
            <a:endParaRPr lang="en-US" sz="1150" dirty="0"/>
          </a:p>
        </p:txBody>
      </p:sp>
      <p:sp>
        <p:nvSpPr>
          <p:cNvPr id="18" name="Shape 16"/>
          <p:cNvSpPr/>
          <p:nvPr/>
        </p:nvSpPr>
        <p:spPr>
          <a:xfrm>
            <a:off x="365760" y="2779776"/>
            <a:ext cx="8412480" cy="594360"/>
          </a:xfrm>
          <a:prstGeom prst="rect">
            <a:avLst/>
          </a:prstGeom>
          <a:solidFill>
            <a:srgbClr val="FFFFFF"/>
          </a:solidFill>
          <a:effectLst>
            <a:outerShdw blurRad="101600" dist="25400" dir="8100000" algn="bl" rotWithShape="0">
              <a:srgbClr val="000000">
                <a:alpha val="10000"/>
              </a:srgbClr>
            </a:outerShdw>
          </a:effectLst>
        </p:spPr>
      </p:sp>
      <p:sp>
        <p:nvSpPr>
          <p:cNvPr id="19" name="Shape 17"/>
          <p:cNvSpPr/>
          <p:nvPr/>
        </p:nvSpPr>
        <p:spPr>
          <a:xfrm>
            <a:off x="457200" y="2871216"/>
            <a:ext cx="402336" cy="402336"/>
          </a:xfrm>
          <a:prstGeom prst="ellipse">
            <a:avLst/>
          </a:prstGeom>
          <a:solidFill>
            <a:srgbClr val="FFC20E"/>
          </a:solidFill>
        </p:spPr>
      </p:sp>
      <p:sp>
        <p:nvSpPr>
          <p:cNvPr id="20" name="Text 18"/>
          <p:cNvSpPr/>
          <p:nvPr/>
        </p:nvSpPr>
        <p:spPr>
          <a:xfrm>
            <a:off x="457200" y="2871216"/>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03</a:t>
            </a:r>
            <a:endParaRPr lang="en-US" sz="1300" dirty="0"/>
          </a:p>
        </p:txBody>
      </p:sp>
      <p:sp>
        <p:nvSpPr>
          <p:cNvPr id="21" name="Text 19"/>
          <p:cNvSpPr/>
          <p:nvPr/>
        </p:nvSpPr>
        <p:spPr>
          <a:xfrm>
            <a:off x="1024128" y="2871216"/>
            <a:ext cx="29260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Run the Test With Real Customers</a:t>
            </a:r>
            <a:endParaRPr lang="en-US" sz="1300" dirty="0"/>
          </a:p>
        </p:txBody>
      </p:sp>
      <p:sp>
        <p:nvSpPr>
          <p:cNvPr id="22" name="Text 20"/>
          <p:cNvSpPr/>
          <p:nvPr/>
        </p:nvSpPr>
        <p:spPr>
          <a:xfrm>
            <a:off x="4114800" y="2871216"/>
            <a:ext cx="4617720" cy="411480"/>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Conduct 10 customer conversations or 1 small pilot. Collect evidence — not opinions.</a:t>
            </a:r>
            <a:endParaRPr lang="en-US" sz="1150" dirty="0"/>
          </a:p>
        </p:txBody>
      </p:sp>
      <p:sp>
        <p:nvSpPr>
          <p:cNvPr id="23" name="Shape 21"/>
          <p:cNvSpPr/>
          <p:nvPr/>
        </p:nvSpPr>
        <p:spPr>
          <a:xfrm>
            <a:off x="365760" y="3483864"/>
            <a:ext cx="8412480" cy="594360"/>
          </a:xfrm>
          <a:prstGeom prst="rect">
            <a:avLst/>
          </a:prstGeom>
          <a:solidFill>
            <a:srgbClr val="F4F8FC"/>
          </a:solidFill>
          <a:effectLst>
            <a:outerShdw blurRad="101600" dist="25400" dir="8100000" algn="bl" rotWithShape="0">
              <a:srgbClr val="000000">
                <a:alpha val="10000"/>
              </a:srgbClr>
            </a:outerShdw>
          </a:effectLst>
        </p:spPr>
      </p:sp>
      <p:sp>
        <p:nvSpPr>
          <p:cNvPr id="24" name="Shape 22"/>
          <p:cNvSpPr/>
          <p:nvPr/>
        </p:nvSpPr>
        <p:spPr>
          <a:xfrm>
            <a:off x="457200" y="3575304"/>
            <a:ext cx="402336" cy="402336"/>
          </a:xfrm>
          <a:prstGeom prst="ellipse">
            <a:avLst/>
          </a:prstGeom>
          <a:solidFill>
            <a:srgbClr val="FFC20E"/>
          </a:solidFill>
        </p:spPr>
      </p:sp>
      <p:sp>
        <p:nvSpPr>
          <p:cNvPr id="25" name="Text 23"/>
          <p:cNvSpPr/>
          <p:nvPr/>
        </p:nvSpPr>
        <p:spPr>
          <a:xfrm>
            <a:off x="457200" y="357530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04</a:t>
            </a:r>
            <a:endParaRPr lang="en-US" sz="1300" dirty="0"/>
          </a:p>
        </p:txBody>
      </p:sp>
      <p:sp>
        <p:nvSpPr>
          <p:cNvPr id="26" name="Text 24"/>
          <p:cNvSpPr/>
          <p:nvPr/>
        </p:nvSpPr>
        <p:spPr>
          <a:xfrm>
            <a:off x="1024128" y="3575304"/>
            <a:ext cx="29260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Measure Against a Clear Success Criterion</a:t>
            </a:r>
            <a:endParaRPr lang="en-US" sz="1300" dirty="0"/>
          </a:p>
        </p:txBody>
      </p:sp>
      <p:sp>
        <p:nvSpPr>
          <p:cNvPr id="27" name="Text 25"/>
          <p:cNvSpPr/>
          <p:nvPr/>
        </p:nvSpPr>
        <p:spPr>
          <a:xfrm>
            <a:off x="4114800" y="3575304"/>
            <a:ext cx="4617720" cy="411480"/>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Set a threshold before testing: 'We will continue if 6/10 pharmacies say yes.' Do not change it after.</a:t>
            </a:r>
            <a:endParaRPr lang="en-US" sz="1150" dirty="0"/>
          </a:p>
        </p:txBody>
      </p:sp>
      <p:sp>
        <p:nvSpPr>
          <p:cNvPr id="28" name="Shape 26"/>
          <p:cNvSpPr/>
          <p:nvPr/>
        </p:nvSpPr>
        <p:spPr>
          <a:xfrm>
            <a:off x="365760" y="4187952"/>
            <a:ext cx="8412480" cy="594360"/>
          </a:xfrm>
          <a:prstGeom prst="rect">
            <a:avLst/>
          </a:prstGeom>
          <a:solidFill>
            <a:srgbClr val="FFFFFF"/>
          </a:solidFill>
          <a:effectLst>
            <a:outerShdw blurRad="101600" dist="25400" dir="8100000" algn="bl" rotWithShape="0">
              <a:srgbClr val="000000">
                <a:alpha val="10000"/>
              </a:srgbClr>
            </a:outerShdw>
          </a:effectLst>
        </p:spPr>
      </p:sp>
      <p:sp>
        <p:nvSpPr>
          <p:cNvPr id="29" name="Shape 27"/>
          <p:cNvSpPr/>
          <p:nvPr/>
        </p:nvSpPr>
        <p:spPr>
          <a:xfrm>
            <a:off x="457200" y="4279392"/>
            <a:ext cx="402336" cy="402336"/>
          </a:xfrm>
          <a:prstGeom prst="ellipse">
            <a:avLst/>
          </a:prstGeom>
          <a:solidFill>
            <a:srgbClr val="FFC20E"/>
          </a:solidFill>
        </p:spPr>
      </p:sp>
      <p:sp>
        <p:nvSpPr>
          <p:cNvPr id="30" name="Text 28"/>
          <p:cNvSpPr/>
          <p:nvPr/>
        </p:nvSpPr>
        <p:spPr>
          <a:xfrm>
            <a:off x="457200" y="4279392"/>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05</a:t>
            </a:r>
            <a:endParaRPr lang="en-US" sz="1300" dirty="0"/>
          </a:p>
        </p:txBody>
      </p:sp>
      <p:sp>
        <p:nvSpPr>
          <p:cNvPr id="31" name="Text 29"/>
          <p:cNvSpPr/>
          <p:nvPr/>
        </p:nvSpPr>
        <p:spPr>
          <a:xfrm>
            <a:off x="1024128" y="4279392"/>
            <a:ext cx="29260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Update Your BMC Based on Findings</a:t>
            </a:r>
            <a:endParaRPr lang="en-US" sz="1300" dirty="0"/>
          </a:p>
        </p:txBody>
      </p:sp>
      <p:sp>
        <p:nvSpPr>
          <p:cNvPr id="32" name="Text 30"/>
          <p:cNvSpPr/>
          <p:nvPr/>
        </p:nvSpPr>
        <p:spPr>
          <a:xfrm>
            <a:off x="4114800" y="4279392"/>
            <a:ext cx="4617720" cy="411480"/>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If the assumption is validated: proceed. If not: pivot the model, not just the product.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858000" y="-1371600"/>
            <a:ext cx="3200400" cy="3200400"/>
          </a:xfrm>
          <a:prstGeom prst="ellipse">
            <a:avLst/>
          </a:prstGeom>
          <a:solidFill>
            <a:srgbClr val="FFC20E">
              <a:alpha val="12000"/>
            </a:srgbClr>
          </a:solidFill>
        </p:spPr>
      </p:sp>
      <p:sp>
        <p:nvSpPr>
          <p:cNvPr id="3" name="Shape 1"/>
          <p:cNvSpPr/>
          <p:nvPr/>
        </p:nvSpPr>
        <p:spPr>
          <a:xfrm>
            <a:off x="0" y="0"/>
            <a:ext cx="164592" cy="5143500"/>
          </a:xfrm>
          <a:prstGeom prst="rect">
            <a:avLst/>
          </a:prstGeom>
          <a:solidFill>
            <a:srgbClr val="FFC20E"/>
          </a:solidFill>
        </p:spPr>
      </p:sp>
      <p:sp>
        <p:nvSpPr>
          <p:cNvPr id="4" name="Text 2"/>
          <p:cNvSpPr/>
          <p:nvPr/>
        </p:nvSpPr>
        <p:spPr>
          <a:xfrm>
            <a:off x="347472" y="104775"/>
            <a:ext cx="3657600" cy="347472"/>
          </a:xfrm>
          <a:prstGeom prst="rect">
            <a:avLst/>
          </a:prstGeom>
          <a:noFill/>
        </p:spPr>
        <p:txBody>
          <a:bodyPr wrap="square" lIns="0" tIns="0" rIns="0" bIns="0" rtlCol="0" anchor="ctr"/>
          <a:lstStyle/>
          <a:p>
            <a:pPr marL="0" indent="0">
              <a:buNone/>
            </a:pPr>
            <a:r>
              <a:rPr lang="en-US" sz="1100" kern="0" spc="400" dirty="0">
                <a:solidFill>
                  <a:srgbClr val="FFC20E"/>
                </a:solidFill>
                <a:latin typeface="Calibri" panose="020F05020202040A0204" pitchFamily="34" charset="0"/>
                <a:ea typeface="Calibri" panose="020F05020202040A0204" pitchFamily="34" charset="-122"/>
                <a:cs typeface="Calibri" panose="020F05020202040A0204" pitchFamily="34" charset="-120"/>
              </a:rPr>
              <a:t>EXERCISE</a:t>
            </a:r>
            <a:endParaRPr lang="en-US" sz="1100" dirty="0"/>
          </a:p>
        </p:txBody>
      </p:sp>
      <p:sp>
        <p:nvSpPr>
          <p:cNvPr id="5" name="Text 3"/>
          <p:cNvSpPr/>
          <p:nvPr/>
        </p:nvSpPr>
        <p:spPr>
          <a:xfrm>
            <a:off x="347472" y="470535"/>
            <a:ext cx="7772400" cy="960120"/>
          </a:xfrm>
          <a:prstGeom prst="rect">
            <a:avLst/>
          </a:prstGeom>
          <a:noFill/>
        </p:spPr>
        <p:txBody>
          <a:bodyPr wrap="square" lIns="0" tIns="0" rIns="0" bIns="0" rtlCol="0" anchor="ctr"/>
          <a:lstStyle/>
          <a:p>
            <a:pPr marL="0" indent="0">
              <a:buNone/>
            </a:pPr>
            <a:r>
              <a:rPr lang="en-US" sz="30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Select &amp; Defend Your Business Model</a:t>
            </a:r>
            <a:endParaRPr lang="en-US" sz="3000" dirty="0"/>
          </a:p>
        </p:txBody>
      </p:sp>
      <p:sp>
        <p:nvSpPr>
          <p:cNvPr id="6" name="Shape 4"/>
          <p:cNvSpPr/>
          <p:nvPr/>
        </p:nvSpPr>
        <p:spPr>
          <a:xfrm>
            <a:off x="347472" y="1595247"/>
            <a:ext cx="8412480" cy="512064"/>
          </a:xfrm>
          <a:prstGeom prst="rect">
            <a:avLst/>
          </a:prstGeom>
          <a:solidFill>
            <a:srgbClr val="112A47"/>
          </a:solidFill>
        </p:spPr>
      </p:sp>
      <p:sp>
        <p:nvSpPr>
          <p:cNvPr id="7" name="Shape 5"/>
          <p:cNvSpPr/>
          <p:nvPr/>
        </p:nvSpPr>
        <p:spPr>
          <a:xfrm>
            <a:off x="438912" y="1650111"/>
            <a:ext cx="402336" cy="402336"/>
          </a:xfrm>
          <a:prstGeom prst="ellipse">
            <a:avLst/>
          </a:prstGeom>
          <a:solidFill>
            <a:srgbClr val="FFC20E"/>
          </a:solidFill>
        </p:spPr>
      </p:sp>
      <p:sp>
        <p:nvSpPr>
          <p:cNvPr id="8" name="Text 6"/>
          <p:cNvSpPr/>
          <p:nvPr/>
        </p:nvSpPr>
        <p:spPr>
          <a:xfrm>
            <a:off x="438912" y="1650111"/>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A</a:t>
            </a:r>
            <a:endParaRPr lang="en-US" sz="1300" dirty="0"/>
          </a:p>
        </p:txBody>
      </p:sp>
      <p:sp>
        <p:nvSpPr>
          <p:cNvPr id="9" name="Text 7"/>
          <p:cNvSpPr/>
          <p:nvPr/>
        </p:nvSpPr>
        <p:spPr>
          <a:xfrm>
            <a:off x="987552" y="1714119"/>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[10 min]</a:t>
            </a:r>
            <a:endParaRPr lang="en-US" sz="1000" dirty="0"/>
          </a:p>
        </p:txBody>
      </p:sp>
      <p:sp>
        <p:nvSpPr>
          <p:cNvPr id="10" name="Text 8"/>
          <p:cNvSpPr/>
          <p:nvPr/>
        </p:nvSpPr>
        <p:spPr>
          <a:xfrm>
            <a:off x="1901952" y="1714119"/>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Individually: Using the Day 2 decision framework, select the primary business model type for your venture. Write down 3 reasons why.</a:t>
            </a:r>
            <a:endParaRPr lang="en-US" sz="1150" dirty="0"/>
          </a:p>
        </p:txBody>
      </p:sp>
      <p:sp>
        <p:nvSpPr>
          <p:cNvPr id="11" name="Shape 9"/>
          <p:cNvSpPr/>
          <p:nvPr/>
        </p:nvSpPr>
        <p:spPr>
          <a:xfrm>
            <a:off x="347472" y="2180463"/>
            <a:ext cx="8412480" cy="512064"/>
          </a:xfrm>
          <a:prstGeom prst="rect">
            <a:avLst/>
          </a:prstGeom>
          <a:solidFill>
            <a:srgbClr val="112A47"/>
          </a:solidFill>
        </p:spPr>
      </p:sp>
      <p:sp>
        <p:nvSpPr>
          <p:cNvPr id="12" name="Shape 10"/>
          <p:cNvSpPr/>
          <p:nvPr/>
        </p:nvSpPr>
        <p:spPr>
          <a:xfrm>
            <a:off x="438912" y="2235327"/>
            <a:ext cx="402336" cy="402336"/>
          </a:xfrm>
          <a:prstGeom prst="ellipse">
            <a:avLst/>
          </a:prstGeom>
          <a:solidFill>
            <a:srgbClr val="FFC20E"/>
          </a:solidFill>
        </p:spPr>
      </p:sp>
      <p:sp>
        <p:nvSpPr>
          <p:cNvPr id="13" name="Text 11"/>
          <p:cNvSpPr/>
          <p:nvPr/>
        </p:nvSpPr>
        <p:spPr>
          <a:xfrm>
            <a:off x="438912" y="2235327"/>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B</a:t>
            </a:r>
            <a:endParaRPr lang="en-US" sz="1300" dirty="0"/>
          </a:p>
        </p:txBody>
      </p:sp>
      <p:sp>
        <p:nvSpPr>
          <p:cNvPr id="14" name="Text 12"/>
          <p:cNvSpPr/>
          <p:nvPr/>
        </p:nvSpPr>
        <p:spPr>
          <a:xfrm>
            <a:off x="987552" y="2299335"/>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[5 min]</a:t>
            </a:r>
            <a:endParaRPr lang="en-US" sz="1000" dirty="0"/>
          </a:p>
        </p:txBody>
      </p:sp>
      <p:sp>
        <p:nvSpPr>
          <p:cNvPr id="15" name="Text 13"/>
          <p:cNvSpPr/>
          <p:nvPr/>
        </p:nvSpPr>
        <p:spPr>
          <a:xfrm>
            <a:off x="1901952" y="2299335"/>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Identify your riskiest model assumption — the one thing that, if wrong, would change your model type.</a:t>
            </a:r>
            <a:endParaRPr lang="en-US" sz="1150" dirty="0"/>
          </a:p>
        </p:txBody>
      </p:sp>
      <p:sp>
        <p:nvSpPr>
          <p:cNvPr id="16" name="Shape 14"/>
          <p:cNvSpPr/>
          <p:nvPr/>
        </p:nvSpPr>
        <p:spPr>
          <a:xfrm>
            <a:off x="347472" y="2765679"/>
            <a:ext cx="8412480" cy="512064"/>
          </a:xfrm>
          <a:prstGeom prst="rect">
            <a:avLst/>
          </a:prstGeom>
          <a:solidFill>
            <a:srgbClr val="112A47"/>
          </a:solidFill>
        </p:spPr>
      </p:sp>
      <p:sp>
        <p:nvSpPr>
          <p:cNvPr id="17" name="Shape 15"/>
          <p:cNvSpPr/>
          <p:nvPr/>
        </p:nvSpPr>
        <p:spPr>
          <a:xfrm>
            <a:off x="438912" y="2820543"/>
            <a:ext cx="402336" cy="402336"/>
          </a:xfrm>
          <a:prstGeom prst="ellipse">
            <a:avLst/>
          </a:prstGeom>
          <a:solidFill>
            <a:srgbClr val="FFC20E"/>
          </a:solidFill>
        </p:spPr>
      </p:sp>
      <p:sp>
        <p:nvSpPr>
          <p:cNvPr id="18" name="Text 16"/>
          <p:cNvSpPr/>
          <p:nvPr/>
        </p:nvSpPr>
        <p:spPr>
          <a:xfrm>
            <a:off x="438912" y="2820543"/>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C</a:t>
            </a:r>
            <a:endParaRPr lang="en-US" sz="1300" dirty="0"/>
          </a:p>
        </p:txBody>
      </p:sp>
      <p:sp>
        <p:nvSpPr>
          <p:cNvPr id="19" name="Text 17"/>
          <p:cNvSpPr/>
          <p:nvPr/>
        </p:nvSpPr>
        <p:spPr>
          <a:xfrm>
            <a:off x="987552" y="2884551"/>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[5 min]</a:t>
            </a:r>
            <a:endParaRPr lang="en-US" sz="1000" dirty="0"/>
          </a:p>
        </p:txBody>
      </p:sp>
      <p:sp>
        <p:nvSpPr>
          <p:cNvPr id="20" name="Text 18"/>
          <p:cNvSpPr/>
          <p:nvPr/>
        </p:nvSpPr>
        <p:spPr>
          <a:xfrm>
            <a:off x="1901952" y="2884551"/>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Design a simple test (interview, landing page, LOI, or pilot) you could run in the next 7 days to validate that assumption.</a:t>
            </a:r>
            <a:endParaRPr lang="en-US" sz="1150" dirty="0"/>
          </a:p>
        </p:txBody>
      </p:sp>
      <p:sp>
        <p:nvSpPr>
          <p:cNvPr id="21" name="Shape 19"/>
          <p:cNvSpPr/>
          <p:nvPr/>
        </p:nvSpPr>
        <p:spPr>
          <a:xfrm>
            <a:off x="347472" y="3350895"/>
            <a:ext cx="8412480" cy="512064"/>
          </a:xfrm>
          <a:prstGeom prst="rect">
            <a:avLst/>
          </a:prstGeom>
          <a:solidFill>
            <a:srgbClr val="112A47"/>
          </a:solidFill>
        </p:spPr>
      </p:sp>
      <p:sp>
        <p:nvSpPr>
          <p:cNvPr id="22" name="Shape 20"/>
          <p:cNvSpPr/>
          <p:nvPr/>
        </p:nvSpPr>
        <p:spPr>
          <a:xfrm>
            <a:off x="438912" y="3405759"/>
            <a:ext cx="402336" cy="402336"/>
          </a:xfrm>
          <a:prstGeom prst="ellipse">
            <a:avLst/>
          </a:prstGeom>
          <a:solidFill>
            <a:srgbClr val="FFC20E"/>
          </a:solidFill>
        </p:spPr>
      </p:sp>
      <p:sp>
        <p:nvSpPr>
          <p:cNvPr id="23" name="Text 21"/>
          <p:cNvSpPr/>
          <p:nvPr/>
        </p:nvSpPr>
        <p:spPr>
          <a:xfrm>
            <a:off x="438912" y="3405759"/>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D</a:t>
            </a:r>
            <a:endParaRPr lang="en-US" sz="1300" dirty="0"/>
          </a:p>
        </p:txBody>
      </p:sp>
      <p:sp>
        <p:nvSpPr>
          <p:cNvPr id="24" name="Text 22"/>
          <p:cNvSpPr/>
          <p:nvPr/>
        </p:nvSpPr>
        <p:spPr>
          <a:xfrm>
            <a:off x="987552" y="3469767"/>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[15 min]</a:t>
            </a:r>
            <a:endParaRPr lang="en-US" sz="1000" dirty="0"/>
          </a:p>
        </p:txBody>
      </p:sp>
      <p:sp>
        <p:nvSpPr>
          <p:cNvPr id="25" name="Text 23"/>
          <p:cNvSpPr/>
          <p:nvPr/>
        </p:nvSpPr>
        <p:spPr>
          <a:xfrm>
            <a:off x="1901952" y="3469767"/>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In groups of 3: each person presents their model choice and riskiest assumption. Group gives feedback: 'We believe this because...' or 'We challenge this because...'</a:t>
            </a:r>
            <a:endParaRPr lang="en-US" sz="1150" dirty="0"/>
          </a:p>
        </p:txBody>
      </p:sp>
      <p:sp>
        <p:nvSpPr>
          <p:cNvPr id="26" name="Shape 24"/>
          <p:cNvSpPr/>
          <p:nvPr/>
        </p:nvSpPr>
        <p:spPr>
          <a:xfrm>
            <a:off x="347472" y="3936111"/>
            <a:ext cx="8412480" cy="512064"/>
          </a:xfrm>
          <a:prstGeom prst="rect">
            <a:avLst/>
          </a:prstGeom>
          <a:solidFill>
            <a:srgbClr val="112A47"/>
          </a:solidFill>
        </p:spPr>
      </p:sp>
      <p:sp>
        <p:nvSpPr>
          <p:cNvPr id="27" name="Shape 25"/>
          <p:cNvSpPr/>
          <p:nvPr/>
        </p:nvSpPr>
        <p:spPr>
          <a:xfrm>
            <a:off x="438912" y="3990975"/>
            <a:ext cx="402336" cy="402336"/>
          </a:xfrm>
          <a:prstGeom prst="ellipse">
            <a:avLst/>
          </a:prstGeom>
          <a:solidFill>
            <a:srgbClr val="FFC20E"/>
          </a:solidFill>
        </p:spPr>
      </p:sp>
      <p:sp>
        <p:nvSpPr>
          <p:cNvPr id="28" name="Text 26"/>
          <p:cNvSpPr/>
          <p:nvPr/>
        </p:nvSpPr>
        <p:spPr>
          <a:xfrm>
            <a:off x="438912" y="3990975"/>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E</a:t>
            </a:r>
            <a:endParaRPr lang="en-US" sz="1300" dirty="0"/>
          </a:p>
        </p:txBody>
      </p:sp>
      <p:sp>
        <p:nvSpPr>
          <p:cNvPr id="29" name="Text 27"/>
          <p:cNvSpPr/>
          <p:nvPr/>
        </p:nvSpPr>
        <p:spPr>
          <a:xfrm>
            <a:off x="987552" y="4054983"/>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[10 min]</a:t>
            </a:r>
            <a:endParaRPr lang="en-US" sz="1000" dirty="0"/>
          </a:p>
        </p:txBody>
      </p:sp>
      <p:sp>
        <p:nvSpPr>
          <p:cNvPr id="30" name="Text 28"/>
          <p:cNvSpPr/>
          <p:nvPr/>
        </p:nvSpPr>
        <p:spPr>
          <a:xfrm>
            <a:off x="1901952" y="4054983"/>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Whole room debrief: 2 volunteers share their model type, key assumption, and validation test plan.</a:t>
            </a:r>
            <a:endParaRPr lang="en-US" sz="1150" dirty="0"/>
          </a:p>
        </p:txBody>
      </p:sp>
      <p:sp>
        <p:nvSpPr>
          <p:cNvPr id="31" name="Text 29"/>
          <p:cNvSpPr/>
          <p:nvPr/>
        </p:nvSpPr>
        <p:spPr>
          <a:xfrm>
            <a:off x="347472" y="4448175"/>
            <a:ext cx="8412480" cy="292608"/>
          </a:xfrm>
          <a:prstGeom prst="rect">
            <a:avLst/>
          </a:prstGeom>
          <a:noFill/>
        </p:spPr>
        <p:txBody>
          <a:bodyPr wrap="square" lIns="0" tIns="0" rIns="0" bIns="0" rtlCol="0" anchor="ctr"/>
          <a:lstStyle/>
          <a:p>
            <a:pPr marL="0" indent="0">
              <a:buNone/>
            </a:pPr>
            <a:r>
              <a:rPr lang="en-US" sz="1100" i="1" dirty="0">
                <a:solidFill>
                  <a:srgbClr val="FFC20E"/>
                </a:solidFill>
                <a:latin typeface="Calibri" panose="020F05020202040A0204" pitchFamily="34" charset="0"/>
                <a:ea typeface="Calibri" panose="020F05020202040A0204" pitchFamily="34" charset="-122"/>
                <a:cs typeface="Calibri" panose="020F05020202040A0204" pitchFamily="34" charset="-120"/>
              </a:rPr>
              <a:t>Deliverable: A written model-type selection with 3 justifications + 1 validation test plan you can run next week.</a:t>
            </a:r>
            <a:endParaRPr lang="en-US" sz="1100" dirty="0"/>
          </a:p>
        </p:txBody>
      </p:sp>
      <p:sp>
        <p:nvSpPr>
          <p:cNvPr id="32" name="Shape 30"/>
          <p:cNvSpPr/>
          <p:nvPr/>
        </p:nvSpPr>
        <p:spPr>
          <a:xfrm>
            <a:off x="6949440" y="91440"/>
            <a:ext cx="1828800" cy="384048"/>
          </a:xfrm>
          <a:prstGeom prst="rect">
            <a:avLst/>
          </a:prstGeom>
          <a:solidFill>
            <a:srgbClr val="FFC20E"/>
          </a:solidFill>
        </p:spPr>
      </p:sp>
      <p:sp>
        <p:nvSpPr>
          <p:cNvPr id="33" name="Text 31"/>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2 Key Takeaways</a:t>
            </a:r>
            <a:endParaRPr lang="en-US" sz="2400" dirty="0"/>
          </a:p>
        </p:txBody>
      </p:sp>
      <p:sp>
        <p:nvSpPr>
          <p:cNvPr id="5" name="Shape 3"/>
          <p:cNvSpPr/>
          <p:nvPr/>
        </p:nvSpPr>
        <p:spPr>
          <a:xfrm>
            <a:off x="6949440" y="91440"/>
            <a:ext cx="1828800" cy="384048"/>
          </a:xfrm>
          <a:prstGeom prst="rect">
            <a:avLst/>
          </a:prstGeom>
          <a:solidFill>
            <a:srgbClr val="FFC20E"/>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
        <p:nvSpPr>
          <p:cNvPr id="7" name="Shape 5"/>
          <p:cNvSpPr/>
          <p:nvPr/>
        </p:nvSpPr>
        <p:spPr>
          <a:xfrm>
            <a:off x="365760" y="96012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457200" y="1106424"/>
            <a:ext cx="402336" cy="402336"/>
          </a:xfrm>
          <a:prstGeom prst="ellipse">
            <a:avLst/>
          </a:prstGeom>
          <a:solidFill>
            <a:srgbClr val="FFC20E"/>
          </a:solidFill>
        </p:spPr>
      </p:sp>
      <p:sp>
        <p:nvSpPr>
          <p:cNvPr id="9" name="Text 7"/>
          <p:cNvSpPr/>
          <p:nvPr/>
        </p:nvSpPr>
        <p:spPr>
          <a:xfrm>
            <a:off x="457200" y="110642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1</a:t>
            </a:r>
            <a:endParaRPr lang="en-US" sz="1300" dirty="0"/>
          </a:p>
        </p:txBody>
      </p:sp>
      <p:sp>
        <p:nvSpPr>
          <p:cNvPr id="10" name="Text 8"/>
          <p:cNvSpPr/>
          <p:nvPr/>
        </p:nvSpPr>
        <p:spPr>
          <a:xfrm>
            <a:off x="1024128" y="1069848"/>
            <a:ext cx="2560320" cy="347472"/>
          </a:xfrm>
          <a:prstGeom prst="rect">
            <a:avLst/>
          </a:prstGeom>
          <a:noFill/>
        </p:spPr>
        <p:txBody>
          <a:bodyPr wrap="square" lIns="0" tIns="0" rIns="0" bIns="0" rtlCol="0" anchor="ctr"/>
          <a:lstStyle/>
          <a:p>
            <a:pPr marL="0" indent="0">
              <a:buNone/>
            </a:pPr>
            <a:r>
              <a:rPr lang="en-US" sz="14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Model Type Matters</a:t>
            </a:r>
            <a:endParaRPr lang="en-US" sz="1400" dirty="0"/>
          </a:p>
        </p:txBody>
      </p:sp>
      <p:sp>
        <p:nvSpPr>
          <p:cNvPr id="11" name="Text 9"/>
          <p:cNvSpPr/>
          <p:nvPr/>
        </p:nvSpPr>
        <p:spPr>
          <a:xfrm>
            <a:off x="3730752" y="1069848"/>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B2C, B2B, B2G, Platform, SaaS and Hybrid have very different economics — choose deliberately.</a:t>
            </a:r>
            <a:endParaRPr lang="en-US" sz="1200" dirty="0"/>
          </a:p>
        </p:txBody>
      </p:sp>
      <p:sp>
        <p:nvSpPr>
          <p:cNvPr id="12" name="Shape 10"/>
          <p:cNvSpPr/>
          <p:nvPr/>
        </p:nvSpPr>
        <p:spPr>
          <a:xfrm>
            <a:off x="365760" y="1764792"/>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457200" y="1911096"/>
            <a:ext cx="402336" cy="402336"/>
          </a:xfrm>
          <a:prstGeom prst="ellipse">
            <a:avLst/>
          </a:prstGeom>
          <a:solidFill>
            <a:srgbClr val="FFC20E"/>
          </a:solidFill>
        </p:spPr>
      </p:sp>
      <p:sp>
        <p:nvSpPr>
          <p:cNvPr id="14" name="Text 12"/>
          <p:cNvSpPr/>
          <p:nvPr/>
        </p:nvSpPr>
        <p:spPr>
          <a:xfrm>
            <a:off x="457200" y="1911096"/>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2</a:t>
            </a:r>
            <a:endParaRPr lang="en-US" sz="1300" dirty="0"/>
          </a:p>
        </p:txBody>
      </p:sp>
      <p:sp>
        <p:nvSpPr>
          <p:cNvPr id="15" name="Text 13"/>
          <p:cNvSpPr/>
          <p:nvPr/>
        </p:nvSpPr>
        <p:spPr>
          <a:xfrm>
            <a:off x="1024128" y="1874520"/>
            <a:ext cx="2560320" cy="347472"/>
          </a:xfrm>
          <a:prstGeom prst="rect">
            <a:avLst/>
          </a:prstGeom>
          <a:noFill/>
        </p:spPr>
        <p:txBody>
          <a:bodyPr wrap="square" lIns="0" tIns="0" rIns="0" bIns="0" rtlCol="0" anchor="ctr"/>
          <a:lstStyle/>
          <a:p>
            <a:pPr marL="0" indent="0">
              <a:buNone/>
            </a:pPr>
            <a:r>
              <a:rPr lang="en-US" sz="14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B2B Earns More Per User</a:t>
            </a:r>
            <a:endParaRPr lang="en-US" sz="1400" dirty="0"/>
          </a:p>
        </p:txBody>
      </p:sp>
      <p:sp>
        <p:nvSpPr>
          <p:cNvPr id="16" name="Text 14"/>
          <p:cNvSpPr/>
          <p:nvPr/>
        </p:nvSpPr>
        <p:spPr>
          <a:xfrm>
            <a:off x="3730752" y="1874520"/>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B2B revenue per customer is typically 10–50x higher than B2C — consider if your product can serve organisations.</a:t>
            </a:r>
            <a:endParaRPr lang="en-US" sz="1200" dirty="0"/>
          </a:p>
        </p:txBody>
      </p:sp>
      <p:sp>
        <p:nvSpPr>
          <p:cNvPr id="17" name="Shape 15"/>
          <p:cNvSpPr/>
          <p:nvPr/>
        </p:nvSpPr>
        <p:spPr>
          <a:xfrm>
            <a:off x="365760" y="2569464"/>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8" name="Shape 16"/>
          <p:cNvSpPr/>
          <p:nvPr/>
        </p:nvSpPr>
        <p:spPr>
          <a:xfrm>
            <a:off x="457200" y="2715768"/>
            <a:ext cx="402336" cy="402336"/>
          </a:xfrm>
          <a:prstGeom prst="ellipse">
            <a:avLst/>
          </a:prstGeom>
          <a:solidFill>
            <a:srgbClr val="FFC20E"/>
          </a:solidFill>
        </p:spPr>
      </p:sp>
      <p:sp>
        <p:nvSpPr>
          <p:cNvPr id="19" name="Text 17"/>
          <p:cNvSpPr/>
          <p:nvPr/>
        </p:nvSpPr>
        <p:spPr>
          <a:xfrm>
            <a:off x="457200" y="271576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3</a:t>
            </a:r>
            <a:endParaRPr lang="en-US" sz="1300" dirty="0"/>
          </a:p>
        </p:txBody>
      </p:sp>
      <p:sp>
        <p:nvSpPr>
          <p:cNvPr id="20" name="Text 18"/>
          <p:cNvSpPr/>
          <p:nvPr/>
        </p:nvSpPr>
        <p:spPr>
          <a:xfrm>
            <a:off x="1024128" y="2679192"/>
            <a:ext cx="2560320" cy="347472"/>
          </a:xfrm>
          <a:prstGeom prst="rect">
            <a:avLst/>
          </a:prstGeom>
          <a:noFill/>
        </p:spPr>
        <p:txBody>
          <a:bodyPr wrap="square" lIns="0" tIns="0" rIns="0" bIns="0" rtlCol="0" anchor="ctr"/>
          <a:lstStyle/>
          <a:p>
            <a:pPr marL="0" indent="0">
              <a:buNone/>
            </a:pPr>
            <a:r>
              <a:rPr lang="en-US" sz="14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Validate Before Scaling</a:t>
            </a:r>
            <a:endParaRPr lang="en-US" sz="1400" dirty="0"/>
          </a:p>
        </p:txBody>
      </p:sp>
      <p:sp>
        <p:nvSpPr>
          <p:cNvPr id="21" name="Text 19"/>
          <p:cNvSpPr/>
          <p:nvPr/>
        </p:nvSpPr>
        <p:spPr>
          <a:xfrm>
            <a:off x="3730752" y="2679192"/>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Your chosen model is an assumption until a customer pays you. Test the riskiest assumption first.</a:t>
            </a:r>
            <a:endParaRPr lang="en-US" sz="1200" dirty="0"/>
          </a:p>
        </p:txBody>
      </p:sp>
      <p:sp>
        <p:nvSpPr>
          <p:cNvPr id="22" name="Shape 20"/>
          <p:cNvSpPr/>
          <p:nvPr/>
        </p:nvSpPr>
        <p:spPr>
          <a:xfrm>
            <a:off x="365760" y="3374136"/>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23" name="Shape 21"/>
          <p:cNvSpPr/>
          <p:nvPr/>
        </p:nvSpPr>
        <p:spPr>
          <a:xfrm>
            <a:off x="457200" y="3520440"/>
            <a:ext cx="402336" cy="402336"/>
          </a:xfrm>
          <a:prstGeom prst="ellipse">
            <a:avLst/>
          </a:prstGeom>
          <a:solidFill>
            <a:srgbClr val="FFC20E"/>
          </a:solidFill>
        </p:spPr>
      </p:sp>
      <p:sp>
        <p:nvSpPr>
          <p:cNvPr id="24" name="Text 22"/>
          <p:cNvSpPr/>
          <p:nvPr/>
        </p:nvSpPr>
        <p:spPr>
          <a:xfrm>
            <a:off x="457200" y="3520440"/>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4</a:t>
            </a:r>
            <a:endParaRPr lang="en-US" sz="1300" dirty="0"/>
          </a:p>
        </p:txBody>
      </p:sp>
      <p:sp>
        <p:nvSpPr>
          <p:cNvPr id="25" name="Text 23"/>
          <p:cNvSpPr/>
          <p:nvPr/>
        </p:nvSpPr>
        <p:spPr>
          <a:xfrm>
            <a:off x="1024128" y="3483864"/>
            <a:ext cx="2560320" cy="347472"/>
          </a:xfrm>
          <a:prstGeom prst="rect">
            <a:avLst/>
          </a:prstGeom>
          <a:noFill/>
        </p:spPr>
        <p:txBody>
          <a:bodyPr wrap="square" lIns="0" tIns="0" rIns="0" bIns="0" rtlCol="0" anchor="ctr"/>
          <a:lstStyle/>
          <a:p>
            <a:pPr marL="0" indent="0">
              <a:buNone/>
            </a:pPr>
            <a:r>
              <a:rPr lang="en-US" sz="14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Africa Context is Key</a:t>
            </a:r>
            <a:endParaRPr lang="en-US" sz="1400" dirty="0"/>
          </a:p>
        </p:txBody>
      </p:sp>
      <p:sp>
        <p:nvSpPr>
          <p:cNvPr id="26" name="Text 24"/>
          <p:cNvSpPr/>
          <p:nvPr/>
        </p:nvSpPr>
        <p:spPr>
          <a:xfrm>
            <a:off x="3730752" y="3483864"/>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Mobile-first, agent-based, trust-embedded models consistently outperform foreign models copied without adaptation.</a:t>
            </a:r>
            <a:endParaRPr lang="en-US" sz="1200" dirty="0"/>
          </a:p>
        </p:txBody>
      </p:sp>
      <p:sp>
        <p:nvSpPr>
          <p:cNvPr id="27" name="Shape 25"/>
          <p:cNvSpPr/>
          <p:nvPr/>
        </p:nvSpPr>
        <p:spPr>
          <a:xfrm>
            <a:off x="365760" y="4178808"/>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28" name="Shape 26"/>
          <p:cNvSpPr/>
          <p:nvPr/>
        </p:nvSpPr>
        <p:spPr>
          <a:xfrm>
            <a:off x="457200" y="4325112"/>
            <a:ext cx="402336" cy="402336"/>
          </a:xfrm>
          <a:prstGeom prst="ellipse">
            <a:avLst/>
          </a:prstGeom>
          <a:solidFill>
            <a:srgbClr val="FFC20E"/>
          </a:solidFill>
        </p:spPr>
      </p:sp>
      <p:sp>
        <p:nvSpPr>
          <p:cNvPr id="29" name="Text 27"/>
          <p:cNvSpPr/>
          <p:nvPr/>
        </p:nvSpPr>
        <p:spPr>
          <a:xfrm>
            <a:off x="457200" y="4325112"/>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5</a:t>
            </a:r>
            <a:endParaRPr lang="en-US" sz="1300" dirty="0"/>
          </a:p>
        </p:txBody>
      </p:sp>
      <p:sp>
        <p:nvSpPr>
          <p:cNvPr id="30" name="Text 28"/>
          <p:cNvSpPr/>
          <p:nvPr/>
        </p:nvSpPr>
        <p:spPr>
          <a:xfrm>
            <a:off x="1024128" y="4288536"/>
            <a:ext cx="2560320" cy="347472"/>
          </a:xfrm>
          <a:prstGeom prst="rect">
            <a:avLst/>
          </a:prstGeom>
          <a:noFill/>
        </p:spPr>
        <p:txBody>
          <a:bodyPr wrap="square" lIns="0" tIns="0" rIns="0" bIns="0" rtlCol="0" anchor="ctr"/>
          <a:lstStyle/>
          <a:p>
            <a:pPr marL="0" indent="0">
              <a:buNone/>
            </a:pPr>
            <a:r>
              <a:rPr lang="en-US" sz="14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Focus, Then Expand</a:t>
            </a:r>
            <a:endParaRPr lang="en-US" sz="1400" dirty="0"/>
          </a:p>
        </p:txBody>
      </p:sp>
      <p:sp>
        <p:nvSpPr>
          <p:cNvPr id="31" name="Text 29"/>
          <p:cNvSpPr/>
          <p:nvPr/>
        </p:nvSpPr>
        <p:spPr>
          <a:xfrm>
            <a:off x="3730752" y="4288536"/>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Master ONE model type before adding a second revenue stream. Depth beats breadth at early stage.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2 Homework — Prepare for Tomorrow</a:t>
            </a:r>
            <a:endParaRPr lang="en-US" sz="2400" dirty="0"/>
          </a:p>
        </p:txBody>
      </p:sp>
      <p:sp>
        <p:nvSpPr>
          <p:cNvPr id="5" name="Shape 3"/>
          <p:cNvSpPr/>
          <p:nvPr/>
        </p:nvSpPr>
        <p:spPr>
          <a:xfrm>
            <a:off x="6949440" y="91440"/>
            <a:ext cx="1828800" cy="384048"/>
          </a:xfrm>
          <a:prstGeom prst="rect">
            <a:avLst/>
          </a:prstGeom>
          <a:solidFill>
            <a:srgbClr val="FFC20E"/>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2  |  MODULE 3</a:t>
            </a:r>
            <a:endParaRPr lang="en-US" sz="900" dirty="0"/>
          </a:p>
        </p:txBody>
      </p:sp>
      <p:sp>
        <p:nvSpPr>
          <p:cNvPr id="7" name="Text 5"/>
          <p:cNvSpPr/>
          <p:nvPr/>
        </p:nvSpPr>
        <p:spPr>
          <a:xfrm>
            <a:off x="457200" y="868680"/>
            <a:ext cx="822960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Complete before the next session to get maximum value from Day 3:</a:t>
            </a:r>
            <a:endParaRPr lang="en-US" sz="1300" dirty="0"/>
          </a:p>
        </p:txBody>
      </p:sp>
      <p:sp>
        <p:nvSpPr>
          <p:cNvPr id="8" name="Shape 6"/>
          <p:cNvSpPr/>
          <p:nvPr/>
        </p:nvSpPr>
        <p:spPr>
          <a:xfrm>
            <a:off x="365760" y="1371600"/>
            <a:ext cx="8412480" cy="804672"/>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371600"/>
            <a:ext cx="64008" cy="804672"/>
          </a:xfrm>
          <a:prstGeom prst="rect">
            <a:avLst/>
          </a:prstGeom>
          <a:solidFill>
            <a:srgbClr val="FFC20E"/>
          </a:solidFill>
        </p:spPr>
      </p:sp>
      <p:sp>
        <p:nvSpPr>
          <p:cNvPr id="10" name="Text 8"/>
          <p:cNvSpPr/>
          <p:nvPr/>
        </p:nvSpPr>
        <p:spPr>
          <a:xfrm>
            <a:off x="566928" y="1463040"/>
            <a:ext cx="79552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Task 1: Research Your Competitors' Models</a:t>
            </a:r>
            <a:endParaRPr lang="en-US" sz="1300" dirty="0"/>
          </a:p>
        </p:txBody>
      </p:sp>
      <p:sp>
        <p:nvSpPr>
          <p:cNvPr id="11" name="Text 9"/>
          <p:cNvSpPr/>
          <p:nvPr/>
        </p:nvSpPr>
        <p:spPr>
          <a:xfrm>
            <a:off x="566928" y="1828800"/>
            <a:ext cx="7955280" cy="27432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For the competitor BMC you started on Day 1 — identify their business model type. How do they charge? What does their revenue model look like?</a:t>
            </a:r>
            <a:endParaRPr lang="en-US" sz="1200" dirty="0"/>
          </a:p>
        </p:txBody>
      </p:sp>
      <p:sp>
        <p:nvSpPr>
          <p:cNvPr id="12" name="Shape 10"/>
          <p:cNvSpPr/>
          <p:nvPr/>
        </p:nvSpPr>
        <p:spPr>
          <a:xfrm>
            <a:off x="365760" y="2331720"/>
            <a:ext cx="8412480" cy="804672"/>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365760" y="2331720"/>
            <a:ext cx="64008" cy="804672"/>
          </a:xfrm>
          <a:prstGeom prst="rect">
            <a:avLst/>
          </a:prstGeom>
          <a:solidFill>
            <a:srgbClr val="FFC20E"/>
          </a:solidFill>
        </p:spPr>
      </p:sp>
      <p:sp>
        <p:nvSpPr>
          <p:cNvPr id="14" name="Text 12"/>
          <p:cNvSpPr/>
          <p:nvPr/>
        </p:nvSpPr>
        <p:spPr>
          <a:xfrm>
            <a:off x="566928" y="2423160"/>
            <a:ext cx="79552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Task 2: Talk to a Potential Paying Customer</a:t>
            </a:r>
            <a:endParaRPr lang="en-US" sz="1300" dirty="0"/>
          </a:p>
        </p:txBody>
      </p:sp>
      <p:sp>
        <p:nvSpPr>
          <p:cNvPr id="15" name="Text 13"/>
          <p:cNvSpPr/>
          <p:nvPr/>
        </p:nvSpPr>
        <p:spPr>
          <a:xfrm>
            <a:off x="566928" y="2788920"/>
            <a:ext cx="7955280" cy="27432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Find one person or company who could be a paying customer. Ask them: 'Would you pay for this? How much? Monthly or per use?' Write down exactly what they say.</a:t>
            </a:r>
            <a:endParaRPr lang="en-US" sz="1200" dirty="0"/>
          </a:p>
        </p:txBody>
      </p:sp>
      <p:sp>
        <p:nvSpPr>
          <p:cNvPr id="16" name="Shape 14"/>
          <p:cNvSpPr/>
          <p:nvPr/>
        </p:nvSpPr>
        <p:spPr>
          <a:xfrm>
            <a:off x="365760" y="3291840"/>
            <a:ext cx="8412480" cy="804672"/>
          </a:xfrm>
          <a:prstGeom prst="rect">
            <a:avLst/>
          </a:prstGeom>
          <a:solidFill>
            <a:srgbClr val="FFFFFF"/>
          </a:solidFill>
          <a:effectLst>
            <a:outerShdw blurRad="101600" dist="25400" dir="8100000" algn="bl" rotWithShape="0">
              <a:srgbClr val="000000">
                <a:alpha val="10000"/>
              </a:srgbClr>
            </a:outerShdw>
          </a:effectLst>
        </p:spPr>
      </p:sp>
      <p:sp>
        <p:nvSpPr>
          <p:cNvPr id="17" name="Shape 15"/>
          <p:cNvSpPr/>
          <p:nvPr/>
        </p:nvSpPr>
        <p:spPr>
          <a:xfrm>
            <a:off x="365760" y="3291840"/>
            <a:ext cx="64008" cy="804672"/>
          </a:xfrm>
          <a:prstGeom prst="rect">
            <a:avLst/>
          </a:prstGeom>
          <a:solidFill>
            <a:srgbClr val="FFC20E"/>
          </a:solidFill>
        </p:spPr>
      </p:sp>
      <p:sp>
        <p:nvSpPr>
          <p:cNvPr id="18" name="Text 16"/>
          <p:cNvSpPr/>
          <p:nvPr/>
        </p:nvSpPr>
        <p:spPr>
          <a:xfrm>
            <a:off x="566928" y="3383280"/>
            <a:ext cx="79552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Task 3: Map Your Revenue Streams</a:t>
            </a:r>
            <a:endParaRPr lang="en-US" sz="1300" dirty="0"/>
          </a:p>
        </p:txBody>
      </p:sp>
      <p:sp>
        <p:nvSpPr>
          <p:cNvPr id="19" name="Text 17"/>
          <p:cNvSpPr/>
          <p:nvPr/>
        </p:nvSpPr>
        <p:spPr>
          <a:xfrm>
            <a:off x="566928" y="3749040"/>
            <a:ext cx="7955280" cy="27432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List every way money could flow into your business. Circle the one stream that has the most evidence (someone has already paid or committed to paying).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13059</Words>
  <Application>WPS Presentation</Application>
  <PresentationFormat>On-screen Show (16:9)</PresentationFormat>
  <Paragraphs>541</Paragraphs>
  <Slides>17</Slides>
  <Notes>17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17</vt:i4>
      </vt:variant>
    </vt:vector>
  </HeadingPairs>
  <TitlesOfParts>
    <vt:vector size="31" baseType="lpstr">
      <vt:lpstr>Arial</vt:lpstr>
      <vt:lpstr>SimSun</vt:lpstr>
      <vt:lpstr>Wingdings</vt:lpstr>
      <vt:lpstr>Calibri</vt:lpstr>
      <vt:lpstr>Calibri</vt:lpstr>
      <vt:lpstr>Calibri</vt:lpstr>
      <vt:lpstr>Trebuchet MS</vt:lpstr>
      <vt:lpstr>Trebuchet MS</vt:lpstr>
      <vt:lpstr>Trebuchet MS</vt:lpstr>
      <vt:lpstr>Microsoft YaHei</vt:lpstr>
      <vt:lpstr>汉仪旗黑</vt:lpstr>
      <vt:lpstr>Arial Unicode MS</vt:lpstr>
      <vt:lpstr>汉仪书宋二KW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 – Business Model Types | UNICEF Startup Lab Ghana</dc:title>
  <dc:creator>PptxGenJS</dc:creator>
  <dc:subject>PptxGenJS Presentation</dc:subject>
  <cp:lastModifiedBy>Bernard Anyan - Mensah</cp:lastModifiedBy>
  <cp:revision>4</cp:revision>
  <dcterms:created xsi:type="dcterms:W3CDTF">2026-05-31T13:21:00Z</dcterms:created>
  <dcterms:modified xsi:type="dcterms:W3CDTF">2026-05-31T13:21:00Z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71D83AC9F7D39AE20ED2146A2A849792_42</vt:lpwstr>
  </property>
  <property fmtid="{D5CDD505-2E9C-101B-9397-08002B2CF9AE}" pid="3" name="KSOProductBuildVer">
    <vt:lpwstr>1033-6.14.0.8716</vt:lpwstr>
  </property>
</Properties>
</file>