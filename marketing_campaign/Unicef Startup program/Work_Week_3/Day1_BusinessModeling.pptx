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1 TITLE SLIDE
TIMING: 5 minutes | 9:00–9:05 AM
WELCOME SCRIPT:
"Good morning everyone — welcome to Day 1 of the UNICEF Startup Lab Ghana Module 3 Business Training. Today we tackle Business Modeling — the foundation everything else is built on."
KEY HOUSEKEEPING:
- Phones on silent; bathrooms are [location]
- Attendance register is circulating — please sign
- Full day 9 AM–4 PM; breaks at 10:30 and 2:45; lunch at 12:30
- Questions are encouraged at any time
ENERGISER (3 min):
Ask the room: "In ONE word — what does the word 'business' mean to you?" Go around quickly. Write 5 answers on the whiteboard. Tell them: "Today we will give all those words a framework."
GHANA CONTEXT:
Remind participants: every example used today comes from the Ghanaian and African startup ecosystem — this is not a Silicon Valley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1 SCHEDULE
TIMING: 3 minutes
Walk participants through the full day. Highlight the afternoon exercise block (3:00–4:00 PM) as the most hands-on and important part of the day. Confirm lunch and break arrangements. Ask if there are any questions before 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LEARNING OBJECTIVES
TIMING: 5 minutes
Read each objective aloud. Ask: "Which of these is most relevant to where your startup is right now?" Take 2 show-of-hands. Return to these at the end of the day — self-assess whether each was met. Facilitator tip: write these on a whiteboard/flip-chart so they stay visible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WHAT IS A BUSINESS MODEL?
TIMING: 30 minutes | 9:15–9:45 AM
KEY TALKING POINTS:
1. A business model is NOT just your product or your app. It is the full system: who you serve, how you serve them, and how you get paid.
2. Many startups in Ghana build great products but fail because the business model — especially "captures value" — is broken or untested.
3. Classic example: WhatsApp is free (delivers massive value) but took years to figure out how to capture value (sold to Facebook for $19B on a revenue model of $1/user/year).
DISCUSSION QUESTION (5 min):
Ask the room: "For YOUR startup — how do you currently create, deliver and capture value? Tell me in one sentence." Ask 3 volunteers to answer. Give quick feedback.
GHANA MoMo EXAMPLE — key insights to land:
- MoMo reaches 38+ million registered users in Ghana — because it delivers via USSD, not a smartphone app
- The channel choice (USSD) was the single most important business model decision
- MTN captures value not just from users but from float interest on billions of GHS sitting in wallets overnight
FACILITATOR TIP:
Write "Creates / Delivers / Captures" on the whiteboard. Leave it there all day — return to it whenever a participant describes their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INTRODUCING THE BMC
TIMING: 15 minutes | 9:45–10:00 AM
KEY POINTS:
1. The BMC is from the book "Business Model Generation" (Osterwalder &amp; Pigneur, 2010) — translated into 37 languages.
2. MEST uses it as the first strategic tool for every cohort. UNICEF requires it in many of their innovation programmes.
3. The BMC is deliberately visual — our brains process images 60,000x faster than text. A picture of your business tells you things a spreadsheet cannot.
KEY INSIGHT TO LAND:
"A BMC filled with assumptions is still valuable — because it shows you exactly what you need to go test. The enemy is not uncertainty; it is hidden uncertainty."
INTERACTIVE MOMENT:
Ask: "How many of you have seen or used a BMC before?" Show of hands. For those who have: "What was the hardest block to fill in?" Common answer: Value Proposition. Acknowledge this — it is what we will spend most time on today.
FACILITATOR TIP:
Distribute printed A3 blank BMC templates now. Tell participants to start sketching their own canvas as you walk through each block. This primes them for the afternoon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THE 9 BUILDING BLOCKS
TIMING: 15 minutes | 10:00–10:15 AM
WALKTHROUGH ORDER (very important):
Start RIGHT side (customer-facing), then center, then LEFT side (operational), then bottom.
1. Customer Segments — WHO do you serve?
2. Value Propositions — WHAT do you offer them?
3. Channels — HOW do you reach them?
4. Customer Relationships — HOW do you retain them?
5. Revenue Streams — HOW do you get paid?
Then cross to left:
6. Key Activities — WHAT do you do every day?
7. Key Resources — WHAT do you need?
8. Key Partners — WHO helps you?
9. Cost Structure — WHAT does it cost?
VISUAL STRUCTURE TO EXPLAIN:
- Right half = external (customer world)
- Left half = internal (your operations)
- Center = the bridge (your Value Proposition)
- Bottom = the financial engine
COMMON MISTAKE TO PRE-EMPT:
Most participants start filling in Key Activities first — because they default to thinking about what they DO, not who they SERVE. Correct this before they start.
GHANA EXAMPLE — use Farmerline to map each block quickly:
- Segments: Smallholder farmers + agribusinesses
- VP: Real-time agri-data in local languages
- Channels: USSD *844#, SMS, field agents
- Revenue: B2B SaaS + donor grants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CUSTOMER SEGMENTS &amp; VALUE PROPOSITIONS
TIMING: 25 minutes | 10:15–10:40 AM (straddles the break)
CUSTOMER SEGMENTS — KEY POINTS:
1. The single most important block — everything else is derived from it
2. Most early-stage founders describe their segment too broadly ("all SMEs in Ghana" = not a segment, it's a country)
3. A segment should be specific enough that you could find 100 of them in one place (a market, a WhatsApp group, a church, a school)
VALUE PROPOSITION — KEY POINTS:
1. The VP must describe an outcome for the customer, not a feature of your product
2. "AI-powered" is NOT a VP. "You save 3 hours of manual data entry every week" IS a VP
3. The Jobs-to-be-Done framework: customers "hire" products to get a job done in their life
LIVE EXERCISE (10 min — do this before the break):
Ask every participant to write their VP statement on a sticky note using the template. Walk the room. Pick 3 to share with the group. Give feedback: "That is a feature — what is the outcome for the customer?"
COMMON PITFALLS:
- Writing "quality service" or "innovative technology" as a VP — these mean nothing
- Listing too many segments without being clear which is primary
GHANA CONTEXT:
In Ghana, trust is a core element of value — especially in FinTech and HealthTech. A VP that includes "from a company you can trust" may be more powerful than one that lists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CHANNELS &amp; CUSTOMER RELATIONSHIPS
TIMING: 25 minutes | 10:45–11:10 AM
CHANNELS — KEY POINTS:
1. Channels are how you reach your customer at EVERY stage — not just at the point of sale
2. Own channels (your app, website) are cheaper per transaction but require heavy marketing investment to drive traffic
3. Partner channels (MTN agent network, NGO field staff) give you reach immediately but you share margin and control
GHANA CHANNEL DEEP DIVE (spend time here):
Ask: "If your target customer is a 45-year-old maize farmer in the Northern Region — how do they find out you exist? How do they sign up? How do they get support if something breaks?"
The answer to those 3 questions defines your channel strategy.
CUSTOMER RELATIONSHIPS — KEY POINTS:
1. The biggest mistake in Ghana startups: they focus 100% on acquisition and 0% on retention
2. The metric to watch is Churn Rate — what % of customers stop using you each month?
3. For social-impact startups: community relationships (farmer groups, women's savings groups, school PTAs) are often the most cost-effective retention mechanism
DISCUSSION QUESTION:
"What is your current churn rate? If you don't know it — what does that tell you about how you are running your business?"
FACILITATOR TIP:
For each participant's VP from the previous slide, challenge them: "Now how does that customer find out about you? And how do you keep them coming back?" This forces them to think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KEY ACTIVITIES, RESOURCES &amp; PARTNERS
TIMING: 25 minutes | 11:10–11:35 AM
KEY ACTIVITIES — TALKING POINTS:
1. These must directly enable the delivery of your Value Proposition. If an activity doesn't serve the VP, question why you are doing it.
2. Many founders list everything their startup does — force them to identify the TOP 3 most important activities that their VP depends on.
3. Example: Farmerline's top activity is NOT building the app — it is collecting and validating agricultural data. The app is just the delivery mechanism.
KEY RESOURCES — TALKING POINTS:
1. The most important resource in many African startups is NOT technology — it is RELATIONSHIPS and TRUST
2. Farmerline's key resource is its database of 500,000 farmer profiles — years of data no competitor can buy
3. For FinTech startups: the key resource is the regulatory licence (BoG Electronic Money Issuer licence) — very hard to replicate
4. For HealthTech: trained community health workers are often more valuable than the app
KEY PARTNERS — TALKING POINTS:
1. Distinguish between: (a) optimisation partnerships — doing things cheaper/faster; (b) risk-reduction partnerships — sharing risk; (c) acquisition partnerships — reaching new customers
2. In Ghana: GhanaPost, GWCL, ECG are potential partners for any startup serving Ghanaian households — they already have the customer relationships
3. WARNING: Donor/NGO partnerships can be a crutch — they can make your revenue numbers look good while your actual commercial model is still unproven
FACILITATION TIP:
Ask: "What would happen to your startup tomorrow if your most important partner disappeared? Do you have an alternative?" If the answer is "no" — that is a key risk in their business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COST STRUCTURE &amp; REVENUE STREAMS
TIMING: 25 minutes | 11:35 AM–12:00 PM
COST STRUCTURE — KEY POINTS:
1. Most early-stage founders underestimate costs by 40–60%. They list tech costs but forget: staff benefits, accounting, legal, insurance, office, transport, training.
2. In Ghana specifically: PAYE (income tax withheld from staff), NHIS contributions (2.5%), VAT (15% on some services), Ghana Revenue Authority compliance — these are real and often overlooked by founders.
3. Variable cost ratio matters enormously: if your variable costs are 80% of revenue, you have an economics problem that scale will not fix.
REVENUE STREAMS — KEY POINTS:
1. Most successful Ghanaian startups use HYBRID revenue models — 2 to 3 streams working together.
2. Recurring revenue (subscription) is valued at 3–5x one-off revenue by investors because it is predictable.
3. Freemium only works at scale — if you have 10,000 free users and 50 paid users, your conversion rate is 0.5% — you need to understand why.
THE KEY QUESTION:
Force every participant to confront: "Are your revenue assumptions validated? Has a customer actually paid you?" Draw a line between ASSUMED revenue and VALIDATED revenue.
NOTE FOR FACILITATOR:
Day 3 goes deep on Revenue Models. Today is just about placing revenue streams correctly on the BMC. Do not go too deep here — flag it for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BUSINESS DIAGNOSTICS
TIMING: 45 minutes | 1:15–2:00 PM (first post-lunch session)
POST-LUNCH ENERGISER (5 min):
Start with a quick activity to re-engage after lunch. Ask: "Tell the person next to you the single biggest problem in your business right now — in 30 seconds." Then ask 2 people to share with the room.
EXPLAINING EACH METRIC:
CAC (Customer Acquisition Cost):
Total spend on sales and marketing in a period ÷ number of new customers acquired.
If you spent GHS 5,000 on marketing in January and got 50 new paying customers, CAC = GHS 100.
If a customer pays you GHS 30/month and stays for 6 months, LTV = GHS 180. LTV/CAC = 1.8 — this is too low (target &gt;3x).
LTV (Lifetime Value):
Average revenue per customer × average number of months they stay.
This tells you how much a customer is truly worth — not just their first payment.
MRR (Monthly Recurring Revenue):
The heartbeat of a subscription business. Investors track MRR growth rate (month-over-month %).
30% MoM growth = world-class; 10% = solid; &lt;5% = concern.
Retention / Churn:
Churn Rate = % of customers who leave in a month. If you start January with 100 customers and end with 90, churn = 10%.
Rule of thumb: if churn &gt; 5%/month, you have a product-market fit problem.
Burn Rate:
How much cash you spend per month. Runway = Cash in bank ÷ Monthly burn rate.
Most investors want to see 12+ months of runway remaining.
FACILITATION TIP:
Distribute a "Diagnostic Scorecard" handout — one page with these 5 questions for participants to fill in their own numbers. Make it safe to say "I don't know this yet" — the goal is awareness, not shame.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FARMERLINE CASE STUDY
TIMING: 20 minutes | 2:00–2:20 PM
TELL THE STORY (do not just read the facts):
Farmerline was founded by Ghanaians for Ghanaian farmers. Emmanuel Owusu Addai and his co-founders recognised that the biggest barrier for farmers was information asymmetry — traders knew market prices; farmers did not. They flipped this dynamic with the simplest possible technology: USSD and SMS. No app. No smartphone required. Just a basic phone and a SIM.
KEY TEACHING POINTS:
1. Their BMC evolved dramatically from Year 1 to today. Original model: charge farmers directly via airtime micro-payments. Problem: farmers could not afford it consistently. Pivot: charge agribusinesses and NGOs for access to farmer data — B2B model was far more viable.
2. USSD/SMS-first was NOT a technological limitation. It was a deliberate Ghana-context decision. They could have built an app first. They chose not to — and it was the right call.
3. Their key resource is NOT the technology — it is the database of 500,000+ farmer profiles. That is years of trust-building that no competitor can simply replicate.
DISCUSSION QUESTIONS (pick 1–2):
- "What would Farmerline's BMC look like if they had launched with a premium smartphone app?"
- "Who are their most important partners and why would losing any one of them be critical?"
- "What is the biggest threat to Farmerline's business model in the next 3 years?"
CONNECTING TO PARTICIPANTS:
Farmerline is a MEST Africa alumni company. Many participants will know of them or know people who work there. Use this familiarity to make the framework feel achievable — not theoretical.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HUBTEL CASE STUDY
TIMING: 20 minutes | 2:20–2:40 PM
STORY TO TELL:
Hubtel (formerly SMSGH) has been quietly powering Ghana's digital economy for nearly 20 years. Most consumers have never heard of them — and that is deliberate. They are the plumbing behind Ghana's digital payments infrastructure. When you pay for fuel at a petrol station via mobile money, Hubtel is often the middleware making that transaction work.
KEY TEACHING POINTS:
1. Hubtel's BMC is a classic B2B infrastructure play — "picks and shovels in a gold rush." They do not need millions of consumer users; they need 500 business clients paying GHS 5,000/month.
2. Their most critical Key Resource: regulatory relationships and integrations with MTN, Vodafone, AirtelTigo. This took years to build and is extremely hard to replicate.
3. Their Key Activity is NOT marketing. It is maintaining 99.99% uptime and sub-second API response times. A 30-minute outage costs their clients millions of GHS in failed transactions.
4. Revenue model is elegantly hybrid: SaaS subscription provides predictable floor revenue; transaction fees scale with their clients' growth — so Hubtel grows automatically as Ghana's digital economy grows.
CONTRAST WITH FARMERLINE:
Both are Ghanaian tech companies founded in Ghana for Ghanaian problems. But their BMCs look completely different:
- Farmerline: B2C-first → pivot to B2B; rural; social impact; donor-blended revenue
- Hubtel: B2B-first from day one; urban; purely commercial; transaction-driven revenue
QUESTION: "How would you describe the relationship between Hubtel's costs and revenues as their client base grows?" Answer: costs are mostly fixed (engineering team, infrastructure), but revenues scale with transaction volume — so margins improve dramatically at scale. This is the beauty of API/SaaS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BMC EXERCISE
TIMING: 45 minutes | 3:00–3:45 PM
SETUP:
- Distribute A3 blank BMC templates (pre-printed) OR direct to strategyzer.com/canvas on phones/laptops
- Provide sticky notes (different colours for assumptions vs validated facts), markers, pens per table
- Arrange tables in groups of 3 — each participant works on their OWN BMC but can ask table-mates for input
- Tell them: blue sticky = assumption (not yet tested); green sticky = validated (customer has confirmed it)
FACILITATION DURING EXERCISE:
- Walk the room constantly — do not sit down
- Listen for: participants writing features in the VP block ("our app has GPS tracking") — redirect to outcomes ("the driver arrives 12 minutes faster")
- Listen for: participants listing "social media" as their only channel — challenge: "How does your rural Northern Region customer find you on Instagram?"
- Listen for: very vague segments ("young people in Ghana") — challenge: "How old? Where? Doing what? How many?"
- Common sticking point in Cost Structure: participants only list tech costs. Ask: "What about staff? PAYE? Internet? Office? Airtime to call customers?"
PEER REVIEW GUIDANCE:
- Structured: 2 minutes per person to present; reviewer gives 2 strengths AND 1 specific question (not a criticism)
- Model a good review: "I love that your segment is very specific (strength). My question is: you say your channel is WhatsApp — but your segment is 60-year-old traders in Kumasi Central Market — how many of them use WhatsApp regularly?"
DEBRIEF (final 5 min before takeaways):
- Ask 2–3 volunteers to share their canvas (60 sec each)
- Group feedback: what pattern do you notice across the canvases?
- Common finding: almost everyone has unvalidated assumptions in the VP and Revenue blocks — this is the work for the coming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KEY TAKEAWAYS
TIMING: 10 minutes | 3:45–3:55 PM
DEBRIEF METHOD:
Do NOT just read the takeaways. For each one, ask the room: "Can someone give me an example of this from their own startup today?" Capture the best answers on the whiteboard.
SELF-ASSESSMENT:
Return to the Learning Objectives from Slide 3. Ask: "Did we meet each objective today? Show of hands."
CLOSING QUESTIONS:
- "What was the most surprising thing you learned today?"
- "What is the ONE thing you will change about your startup's model based on today?"
- "What is the riskiest assumption still on your BMC right now?"
FACILITATOR TIP:
Write the 3 best responses to the last question on a flip chart. These become the "problems to solve" that participants carry into Days 2, 3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DAY 1 HOMEWORK
TIMING: 5 minutes | 3:55–4:00 PM
DELIVERY:
Read each task clearly. Emphasise: these are not assessed — they are designed to make tomorrow more valuable. The more they engage with their own startup, the more they will get from Days 2, 3 and 4.
KEY MESSAGES:
- Task 1 (customer interviews): even 3 conversations can reveal something that changes your VP completely
- Task 2 (competitor BMC): we will revisit this on Day 4 — Competition Analysis. Start thinking now.
- Task 3 (VP refinement): the VP is the most important block. Iterating on it overnight is the highest-leverage homework they can do.
FACILITATOR TIP:
Send a WhatsApp reminder this evening to the group with a photo of the 3 homework tasks. Include the "We help... who want... to... by..." template so they have it on their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0AEEF">
              <a:alpha val="15000"/>
            </a:srgbClr>
          </a:solidFill>
        </p:spPr>
      </p:sp>
      <p:sp>
        <p:nvSpPr>
          <p:cNvPr id="3" name="Shape 1"/>
          <p:cNvSpPr/>
          <p:nvPr/>
        </p:nvSpPr>
        <p:spPr>
          <a:xfrm>
            <a:off x="7498080" y="2377440"/>
            <a:ext cx="2286000" cy="2286000"/>
          </a:xfrm>
          <a:prstGeom prst="ellipse">
            <a:avLst/>
          </a:prstGeom>
          <a:solidFill>
            <a:srgbClr val="FFC20E">
              <a:alpha val="20000"/>
            </a:srgbClr>
          </a:solidFill>
        </p:spPr>
      </p:sp>
      <p:sp>
        <p:nvSpPr>
          <p:cNvPr id="4" name="Shape 2"/>
          <p:cNvSpPr/>
          <p:nvPr/>
        </p:nvSpPr>
        <p:spPr>
          <a:xfrm>
            <a:off x="0" y="0"/>
            <a:ext cx="201168" cy="5143500"/>
          </a:xfrm>
          <a:prstGeom prst="rect">
            <a:avLst/>
          </a:prstGeom>
          <a:solidFill>
            <a:srgbClr val="00AEEF"/>
          </a:solidFill>
        </p:spPr>
      </p:sp>
      <p:sp>
        <p:nvSpPr>
          <p:cNvPr id="5" name="Text 3"/>
          <p:cNvSpPr/>
          <p:nvPr/>
        </p:nvSpPr>
        <p:spPr>
          <a:xfrm>
            <a:off x="411480" y="594360"/>
            <a:ext cx="6400800" cy="347472"/>
          </a:xfrm>
          <a:prstGeom prst="rect">
            <a:avLst/>
          </a:prstGeom>
          <a:noFill/>
        </p:spPr>
        <p:txBody>
          <a:bodyPr wrap="square" lIns="0" tIns="0" rIns="0" bIns="0" rtlCol="0" anchor="ctr"/>
          <a:lstStyle/>
          <a:p>
            <a:pPr marL="0" indent="0">
              <a:buNone/>
            </a:pPr>
            <a:r>
              <a:rPr lang="en-US" sz="1100" kern="0" spc="400" dirty="0">
                <a:solidFill>
                  <a:srgbClr val="00AEEF"/>
                </a:solidFill>
                <a:latin typeface="Calibri" panose="020F05020202040A0204" pitchFamily="34" charset="0"/>
                <a:ea typeface="Calibri" panose="020F05020202040A0204" pitchFamily="34" charset="-122"/>
                <a:cs typeface="Calibri" panose="020F05020202040A0204" pitchFamily="34" charset="-120"/>
              </a:rPr>
              <a:t>UNICEF STARTUP LAB GHANA</a:t>
            </a:r>
            <a:endParaRPr lang="en-US" sz="1100" dirty="0"/>
          </a:p>
        </p:txBody>
      </p:sp>
      <p:sp>
        <p:nvSpPr>
          <p:cNvPr id="6" name="Text 4"/>
          <p:cNvSpPr/>
          <p:nvPr/>
        </p:nvSpPr>
        <p:spPr>
          <a:xfrm>
            <a:off x="411480" y="1024128"/>
            <a:ext cx="3657600" cy="475488"/>
          </a:xfrm>
          <a:prstGeom prst="rect">
            <a:avLst/>
          </a:prstGeom>
          <a:noFill/>
        </p:spPr>
        <p:txBody>
          <a:bodyPr wrap="square" lIns="0" tIns="0" rIns="0" bIns="0" rtlCol="0" anchor="ctr"/>
          <a:lstStyle/>
          <a:p>
            <a:pPr marL="0" indent="0">
              <a:buNone/>
            </a:pPr>
            <a:r>
              <a:rPr lang="en-US" sz="2200"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Day 1 of 4</a:t>
            </a:r>
            <a:endParaRPr lang="en-US" sz="2200" dirty="0"/>
          </a:p>
        </p:txBody>
      </p:sp>
      <p:sp>
        <p:nvSpPr>
          <p:cNvPr id="7" name="Text 5"/>
          <p:cNvSpPr/>
          <p:nvPr/>
        </p:nvSpPr>
        <p:spPr>
          <a:xfrm>
            <a:off x="411480" y="1481328"/>
            <a:ext cx="7772400" cy="1234440"/>
          </a:xfrm>
          <a:prstGeom prst="rect">
            <a:avLst/>
          </a:prstGeom>
          <a:noFill/>
        </p:spPr>
        <p:txBody>
          <a:bodyPr wrap="square" lIns="0" tIns="0" rIns="0" bIns="0" rtlCol="0" anchor="ctr"/>
          <a:lstStyle/>
          <a:p>
            <a:pPr marL="0" indent="0">
              <a:buNone/>
            </a:pPr>
            <a:r>
              <a:rPr lang="en-US" sz="44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Business Modeling</a:t>
            </a:r>
            <a:endParaRPr lang="en-US" sz="4400" dirty="0"/>
          </a:p>
        </p:txBody>
      </p:sp>
      <p:sp>
        <p:nvSpPr>
          <p:cNvPr id="8" name="Text 6"/>
          <p:cNvSpPr/>
          <p:nvPr/>
        </p:nvSpPr>
        <p:spPr>
          <a:xfrm>
            <a:off x="411480" y="2788920"/>
            <a:ext cx="7315200" cy="457200"/>
          </a:xfrm>
          <a:prstGeom prst="rect">
            <a:avLst/>
          </a:prstGeom>
          <a:noFill/>
        </p:spPr>
        <p:txBody>
          <a:bodyPr wrap="square" lIns="0" tIns="0" rIns="0" bIns="0" rtlCol="0" anchor="ctr"/>
          <a:lstStyle/>
          <a:p>
            <a:pPr marL="0" indent="0">
              <a:buNone/>
            </a:pPr>
            <a:r>
              <a:rPr lang="en-US" sz="1500" dirty="0">
                <a:solidFill>
                  <a:srgbClr val="E8F4FD"/>
                </a:solidFill>
                <a:latin typeface="Calibri" panose="020F05020202040A0204" pitchFamily="34" charset="0"/>
                <a:ea typeface="Calibri" panose="020F05020202040A0204" pitchFamily="34" charset="-122"/>
                <a:cs typeface="Calibri" panose="020F05020202040A0204" pitchFamily="34" charset="-120"/>
              </a:rPr>
              <a:t>The Business Model Canvas, Diagnostics &amp; Venture Health</a:t>
            </a:r>
            <a:endParaRPr lang="en-US" sz="1500" dirty="0"/>
          </a:p>
        </p:txBody>
      </p:sp>
      <p:sp>
        <p:nvSpPr>
          <p:cNvPr id="9" name="Text 7"/>
          <p:cNvSpPr/>
          <p:nvPr/>
        </p:nvSpPr>
        <p:spPr>
          <a:xfrm>
            <a:off x="411480" y="3337560"/>
            <a:ext cx="4572000" cy="347472"/>
          </a:xfrm>
          <a:prstGeom prst="rect">
            <a:avLst/>
          </a:prstGeom>
          <a:noFill/>
        </p:spPr>
        <p:txBody>
          <a:bodyPr wrap="square" lIns="0" tIns="0" rIns="0" bIns="0" rtlCol="0" anchor="ctr"/>
          <a:lstStyle/>
          <a:p>
            <a:pPr marL="0" indent="0">
              <a:buNone/>
            </a:pPr>
            <a:r>
              <a:rPr lang="en-US" sz="1300" dirty="0">
                <a:solidFill>
                  <a:srgbClr val="00AEEF"/>
                </a:solidFill>
                <a:latin typeface="Calibri" panose="020F05020202040A0204" pitchFamily="34" charset="0"/>
                <a:ea typeface="Calibri" panose="020F05020202040A0204" pitchFamily="34" charset="-122"/>
                <a:cs typeface="Calibri" panose="020F05020202040A0204" pitchFamily="34" charset="-120"/>
              </a:rPr>
              <a:t>Session: 9:00 AM - 4:00 PM</a:t>
            </a:r>
            <a:endParaRPr lang="en-US" sz="1300" dirty="0"/>
          </a:p>
        </p:txBody>
      </p:sp>
      <p:sp>
        <p:nvSpPr>
          <p:cNvPr id="10" name="Shape 8"/>
          <p:cNvSpPr/>
          <p:nvPr/>
        </p:nvSpPr>
        <p:spPr>
          <a:xfrm>
            <a:off x="201168" y="4645152"/>
            <a:ext cx="8942832" cy="498348"/>
          </a:xfrm>
          <a:prstGeom prst="rect">
            <a:avLst/>
          </a:prstGeom>
          <a:solidFill>
            <a:srgbClr val="0D1E35"/>
          </a:solidFill>
        </p:spPr>
      </p:sp>
      <p:sp>
        <p:nvSpPr>
          <p:cNvPr id="11" name="Text 9"/>
          <p:cNvSpPr/>
          <p:nvPr/>
        </p:nvSpPr>
        <p:spPr>
          <a:xfrm>
            <a:off x="457200" y="4681728"/>
            <a:ext cx="8412480" cy="365760"/>
          </a:xfrm>
          <a:prstGeom prst="rect">
            <a:avLst/>
          </a:prstGeom>
          <a:noFill/>
        </p:spPr>
        <p:txBody>
          <a:bodyPr wrap="square" lIns="0" tIns="0" rIns="0" bIns="0" rtlCol="0" anchor="ctr"/>
          <a:lstStyle/>
          <a:p>
            <a:pPr marL="0" indent="0" algn="ctr">
              <a:buNone/>
            </a:pPr>
            <a:r>
              <a:rPr lang="en-US" sz="1000" dirty="0">
                <a:solidFill>
                  <a:srgbClr val="64748B"/>
                </a:solidFill>
                <a:latin typeface="Calibri" panose="020F05020202040A0204" pitchFamily="34" charset="0"/>
                <a:ea typeface="Calibri" panose="020F05020202040A0204" pitchFamily="34" charset="-122"/>
                <a:cs typeface="Calibri" panose="020F05020202040A0204" pitchFamily="34" charset="-120"/>
              </a:rPr>
              <a:t>MEST Africa  |  UNICEF Ghana  |  KOICA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1 Schedule — 9:00 AM to 4:00 PM</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Shape 5"/>
          <p:cNvSpPr/>
          <p:nvPr/>
        </p:nvSpPr>
        <p:spPr>
          <a:xfrm>
            <a:off x="365760" y="91440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475488"/>
          </a:xfrm>
          <a:prstGeom prst="rect">
            <a:avLst/>
          </a:prstGeom>
          <a:solidFill>
            <a:srgbClr val="00AEEF"/>
          </a:solidFill>
        </p:spPr>
      </p:sp>
      <p:sp>
        <p:nvSpPr>
          <p:cNvPr id="9" name="Text 7"/>
          <p:cNvSpPr/>
          <p:nvPr/>
        </p:nvSpPr>
        <p:spPr>
          <a:xfrm>
            <a:off x="548640" y="987552"/>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9:00 AM</a:t>
            </a:r>
            <a:endParaRPr lang="en-US" sz="1100" dirty="0"/>
          </a:p>
        </p:txBody>
      </p:sp>
      <p:sp>
        <p:nvSpPr>
          <p:cNvPr id="10" name="Text 8"/>
          <p:cNvSpPr/>
          <p:nvPr/>
        </p:nvSpPr>
        <p:spPr>
          <a:xfrm>
            <a:off x="1965960" y="98755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Welcome, Housekeeping &amp; Energiser</a:t>
            </a:r>
            <a:endParaRPr lang="en-US" sz="1150" dirty="0"/>
          </a:p>
        </p:txBody>
      </p:sp>
      <p:sp>
        <p:nvSpPr>
          <p:cNvPr id="11" name="Text 9"/>
          <p:cNvSpPr/>
          <p:nvPr/>
        </p:nvSpPr>
        <p:spPr>
          <a:xfrm>
            <a:off x="7132320" y="98755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12" name="Shape 10"/>
          <p:cNvSpPr/>
          <p:nvPr/>
        </p:nvSpPr>
        <p:spPr>
          <a:xfrm>
            <a:off x="365760" y="1481328"/>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365760" y="1481328"/>
            <a:ext cx="64008" cy="475488"/>
          </a:xfrm>
          <a:prstGeom prst="rect">
            <a:avLst/>
          </a:prstGeom>
          <a:solidFill>
            <a:srgbClr val="00AEEF"/>
          </a:solidFill>
        </p:spPr>
      </p:sp>
      <p:sp>
        <p:nvSpPr>
          <p:cNvPr id="14" name="Text 12"/>
          <p:cNvSpPr/>
          <p:nvPr/>
        </p:nvSpPr>
        <p:spPr>
          <a:xfrm>
            <a:off x="548640" y="1554480"/>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9:15 AM</a:t>
            </a:r>
            <a:endParaRPr lang="en-US" sz="1100" dirty="0"/>
          </a:p>
        </p:txBody>
      </p:sp>
      <p:sp>
        <p:nvSpPr>
          <p:cNvPr id="15" name="Text 13"/>
          <p:cNvSpPr/>
          <p:nvPr/>
        </p:nvSpPr>
        <p:spPr>
          <a:xfrm>
            <a:off x="1965960" y="1554480"/>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What is a Business Model?</a:t>
            </a:r>
            <a:endParaRPr lang="en-US" sz="1150" dirty="0"/>
          </a:p>
        </p:txBody>
      </p:sp>
      <p:sp>
        <p:nvSpPr>
          <p:cNvPr id="16" name="Text 14"/>
          <p:cNvSpPr/>
          <p:nvPr/>
        </p:nvSpPr>
        <p:spPr>
          <a:xfrm>
            <a:off x="7132320" y="155448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17" name="Shape 15"/>
          <p:cNvSpPr/>
          <p:nvPr/>
        </p:nvSpPr>
        <p:spPr>
          <a:xfrm>
            <a:off x="365760" y="2048256"/>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18" name="Shape 16"/>
          <p:cNvSpPr/>
          <p:nvPr/>
        </p:nvSpPr>
        <p:spPr>
          <a:xfrm>
            <a:off x="365760" y="2048256"/>
            <a:ext cx="64008" cy="475488"/>
          </a:xfrm>
          <a:prstGeom prst="rect">
            <a:avLst/>
          </a:prstGeom>
          <a:solidFill>
            <a:srgbClr val="00AEEF"/>
          </a:solidFill>
        </p:spPr>
      </p:sp>
      <p:sp>
        <p:nvSpPr>
          <p:cNvPr id="19" name="Text 17"/>
          <p:cNvSpPr/>
          <p:nvPr/>
        </p:nvSpPr>
        <p:spPr>
          <a:xfrm>
            <a:off x="548640" y="2121408"/>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9:45 AM</a:t>
            </a:r>
            <a:endParaRPr lang="en-US" sz="1100" dirty="0"/>
          </a:p>
        </p:txBody>
      </p:sp>
      <p:sp>
        <p:nvSpPr>
          <p:cNvPr id="20" name="Text 18"/>
          <p:cNvSpPr/>
          <p:nvPr/>
        </p:nvSpPr>
        <p:spPr>
          <a:xfrm>
            <a:off x="1965960" y="2121408"/>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Introducing the Business Model Canvas</a:t>
            </a:r>
            <a:endParaRPr lang="en-US" sz="1150" dirty="0"/>
          </a:p>
        </p:txBody>
      </p:sp>
      <p:sp>
        <p:nvSpPr>
          <p:cNvPr id="21" name="Text 19"/>
          <p:cNvSpPr/>
          <p:nvPr/>
        </p:nvSpPr>
        <p:spPr>
          <a:xfrm>
            <a:off x="7132320" y="212140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22" name="Shape 20"/>
          <p:cNvSpPr/>
          <p:nvPr/>
        </p:nvSpPr>
        <p:spPr>
          <a:xfrm>
            <a:off x="365760" y="2615184"/>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23" name="Shape 21"/>
          <p:cNvSpPr/>
          <p:nvPr/>
        </p:nvSpPr>
        <p:spPr>
          <a:xfrm>
            <a:off x="365760" y="2615184"/>
            <a:ext cx="64008" cy="475488"/>
          </a:xfrm>
          <a:prstGeom prst="rect">
            <a:avLst/>
          </a:prstGeom>
          <a:solidFill>
            <a:srgbClr val="00AEEF"/>
          </a:solidFill>
        </p:spPr>
      </p:sp>
      <p:sp>
        <p:nvSpPr>
          <p:cNvPr id="24" name="Text 22"/>
          <p:cNvSpPr/>
          <p:nvPr/>
        </p:nvSpPr>
        <p:spPr>
          <a:xfrm>
            <a:off x="548640" y="2688336"/>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10:15 AM</a:t>
            </a:r>
            <a:endParaRPr lang="en-US" sz="1100" dirty="0"/>
          </a:p>
        </p:txBody>
      </p:sp>
      <p:sp>
        <p:nvSpPr>
          <p:cNvPr id="25" name="Text 23"/>
          <p:cNvSpPr/>
          <p:nvPr/>
        </p:nvSpPr>
        <p:spPr>
          <a:xfrm>
            <a:off x="1965960" y="2688336"/>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BMC Deep Dive: Customer Segments &amp; Value Prop</a:t>
            </a:r>
            <a:endParaRPr lang="en-US" sz="1150" dirty="0"/>
          </a:p>
        </p:txBody>
      </p:sp>
      <p:sp>
        <p:nvSpPr>
          <p:cNvPr id="26" name="Text 24"/>
          <p:cNvSpPr/>
          <p:nvPr/>
        </p:nvSpPr>
        <p:spPr>
          <a:xfrm>
            <a:off x="7132320" y="2688336"/>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27" name="Shape 25"/>
          <p:cNvSpPr/>
          <p:nvPr/>
        </p:nvSpPr>
        <p:spPr>
          <a:xfrm>
            <a:off x="365760" y="3182112"/>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28" name="Shape 26"/>
          <p:cNvSpPr/>
          <p:nvPr/>
        </p:nvSpPr>
        <p:spPr>
          <a:xfrm>
            <a:off x="365760" y="3182112"/>
            <a:ext cx="64008" cy="475488"/>
          </a:xfrm>
          <a:prstGeom prst="rect">
            <a:avLst/>
          </a:prstGeom>
          <a:solidFill>
            <a:srgbClr val="64748B"/>
          </a:solidFill>
        </p:spPr>
      </p:sp>
      <p:sp>
        <p:nvSpPr>
          <p:cNvPr id="29" name="Text 27"/>
          <p:cNvSpPr/>
          <p:nvPr/>
        </p:nvSpPr>
        <p:spPr>
          <a:xfrm>
            <a:off x="548640" y="3255264"/>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10:30 AM</a:t>
            </a:r>
            <a:endParaRPr lang="en-US" sz="1100" dirty="0"/>
          </a:p>
        </p:txBody>
      </p:sp>
      <p:sp>
        <p:nvSpPr>
          <p:cNvPr id="30" name="Text 28"/>
          <p:cNvSpPr/>
          <p:nvPr/>
        </p:nvSpPr>
        <p:spPr>
          <a:xfrm>
            <a:off x="1965960" y="3255264"/>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MORNING BREAK</a:t>
            </a:r>
            <a:endParaRPr lang="en-US" sz="1150" dirty="0"/>
          </a:p>
        </p:txBody>
      </p:sp>
      <p:sp>
        <p:nvSpPr>
          <p:cNvPr id="31" name="Text 29"/>
          <p:cNvSpPr/>
          <p:nvPr/>
        </p:nvSpPr>
        <p:spPr>
          <a:xfrm>
            <a:off x="7132320" y="3255264"/>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32" name="Shape 30"/>
          <p:cNvSpPr/>
          <p:nvPr/>
        </p:nvSpPr>
        <p:spPr>
          <a:xfrm>
            <a:off x="365760" y="374904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33" name="Shape 31"/>
          <p:cNvSpPr/>
          <p:nvPr/>
        </p:nvSpPr>
        <p:spPr>
          <a:xfrm>
            <a:off x="365760" y="3749040"/>
            <a:ext cx="64008" cy="475488"/>
          </a:xfrm>
          <a:prstGeom prst="rect">
            <a:avLst/>
          </a:prstGeom>
          <a:solidFill>
            <a:srgbClr val="00AEEF"/>
          </a:solidFill>
        </p:spPr>
      </p:sp>
      <p:sp>
        <p:nvSpPr>
          <p:cNvPr id="34" name="Text 32"/>
          <p:cNvSpPr/>
          <p:nvPr/>
        </p:nvSpPr>
        <p:spPr>
          <a:xfrm>
            <a:off x="548640" y="3822192"/>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10:45 AM</a:t>
            </a:r>
            <a:endParaRPr lang="en-US" sz="1100" dirty="0"/>
          </a:p>
        </p:txBody>
      </p:sp>
      <p:sp>
        <p:nvSpPr>
          <p:cNvPr id="35" name="Text 33"/>
          <p:cNvSpPr/>
          <p:nvPr/>
        </p:nvSpPr>
        <p:spPr>
          <a:xfrm>
            <a:off x="1965960" y="382219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BMC: Channels &amp; Customer Relationships</a:t>
            </a:r>
            <a:endParaRPr lang="en-US" sz="1150" dirty="0"/>
          </a:p>
        </p:txBody>
      </p:sp>
      <p:sp>
        <p:nvSpPr>
          <p:cNvPr id="36" name="Text 34"/>
          <p:cNvSpPr/>
          <p:nvPr/>
        </p:nvSpPr>
        <p:spPr>
          <a:xfrm>
            <a:off x="7132320" y="382219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25 min</a:t>
            </a:r>
            <a:endParaRPr lang="en-US" sz="1050" dirty="0"/>
          </a:p>
        </p:txBody>
      </p:sp>
      <p:sp>
        <p:nvSpPr>
          <p:cNvPr id="37" name="Shape 35"/>
          <p:cNvSpPr/>
          <p:nvPr/>
        </p:nvSpPr>
        <p:spPr>
          <a:xfrm>
            <a:off x="365760" y="4315968"/>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38" name="Shape 36"/>
          <p:cNvSpPr/>
          <p:nvPr/>
        </p:nvSpPr>
        <p:spPr>
          <a:xfrm>
            <a:off x="365760" y="4315968"/>
            <a:ext cx="64008" cy="475488"/>
          </a:xfrm>
          <a:prstGeom prst="rect">
            <a:avLst/>
          </a:prstGeom>
          <a:solidFill>
            <a:srgbClr val="00AEEF"/>
          </a:solidFill>
        </p:spPr>
      </p:sp>
      <p:sp>
        <p:nvSpPr>
          <p:cNvPr id="39" name="Text 37"/>
          <p:cNvSpPr/>
          <p:nvPr/>
        </p:nvSpPr>
        <p:spPr>
          <a:xfrm>
            <a:off x="548640" y="4389120"/>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11:10 AM</a:t>
            </a:r>
            <a:endParaRPr lang="en-US" sz="1100" dirty="0"/>
          </a:p>
        </p:txBody>
      </p:sp>
      <p:sp>
        <p:nvSpPr>
          <p:cNvPr id="40" name="Text 38"/>
          <p:cNvSpPr/>
          <p:nvPr/>
        </p:nvSpPr>
        <p:spPr>
          <a:xfrm>
            <a:off x="1965960" y="4389120"/>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BMC: Activities, Resources &amp; Partners</a:t>
            </a:r>
            <a:endParaRPr lang="en-US" sz="1150" dirty="0"/>
          </a:p>
        </p:txBody>
      </p:sp>
      <p:sp>
        <p:nvSpPr>
          <p:cNvPr id="41" name="Text 39"/>
          <p:cNvSpPr/>
          <p:nvPr/>
        </p:nvSpPr>
        <p:spPr>
          <a:xfrm>
            <a:off x="7132320" y="438912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25 min</a:t>
            </a:r>
            <a:endParaRPr lang="en-US" sz="1050" dirty="0"/>
          </a:p>
        </p:txBody>
      </p:sp>
      <p:sp>
        <p:nvSpPr>
          <p:cNvPr id="42" name="Shape 40"/>
          <p:cNvSpPr/>
          <p:nvPr/>
        </p:nvSpPr>
        <p:spPr>
          <a:xfrm>
            <a:off x="365760" y="4882896"/>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43" name="Shape 41"/>
          <p:cNvSpPr/>
          <p:nvPr/>
        </p:nvSpPr>
        <p:spPr>
          <a:xfrm>
            <a:off x="365760" y="4882896"/>
            <a:ext cx="64008" cy="475488"/>
          </a:xfrm>
          <a:prstGeom prst="rect">
            <a:avLst/>
          </a:prstGeom>
          <a:solidFill>
            <a:srgbClr val="00AEEF"/>
          </a:solidFill>
        </p:spPr>
      </p:sp>
      <p:sp>
        <p:nvSpPr>
          <p:cNvPr id="44" name="Text 42"/>
          <p:cNvSpPr/>
          <p:nvPr/>
        </p:nvSpPr>
        <p:spPr>
          <a:xfrm>
            <a:off x="548640" y="4956048"/>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11:35 AM</a:t>
            </a:r>
            <a:endParaRPr lang="en-US" sz="1100" dirty="0"/>
          </a:p>
        </p:txBody>
      </p:sp>
      <p:sp>
        <p:nvSpPr>
          <p:cNvPr id="45" name="Text 43"/>
          <p:cNvSpPr/>
          <p:nvPr/>
        </p:nvSpPr>
        <p:spPr>
          <a:xfrm>
            <a:off x="1965960" y="4956048"/>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BMC: Cost Structure &amp; Revenue Streams</a:t>
            </a:r>
            <a:endParaRPr lang="en-US" sz="1150" dirty="0"/>
          </a:p>
        </p:txBody>
      </p:sp>
      <p:sp>
        <p:nvSpPr>
          <p:cNvPr id="46" name="Text 44"/>
          <p:cNvSpPr/>
          <p:nvPr/>
        </p:nvSpPr>
        <p:spPr>
          <a:xfrm>
            <a:off x="7132320" y="495604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25 min</a:t>
            </a:r>
            <a:endParaRPr lang="en-US" sz="1050" dirty="0"/>
          </a:p>
        </p:txBody>
      </p:sp>
      <p:sp>
        <p:nvSpPr>
          <p:cNvPr id="47" name="Shape 45"/>
          <p:cNvSpPr/>
          <p:nvPr/>
        </p:nvSpPr>
        <p:spPr>
          <a:xfrm>
            <a:off x="365760" y="5449824"/>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48" name="Shape 46"/>
          <p:cNvSpPr/>
          <p:nvPr/>
        </p:nvSpPr>
        <p:spPr>
          <a:xfrm>
            <a:off x="365760" y="5449824"/>
            <a:ext cx="64008" cy="475488"/>
          </a:xfrm>
          <a:prstGeom prst="rect">
            <a:avLst/>
          </a:prstGeom>
          <a:solidFill>
            <a:srgbClr val="00AEEF"/>
          </a:solidFill>
        </p:spPr>
      </p:sp>
      <p:sp>
        <p:nvSpPr>
          <p:cNvPr id="49" name="Text 47"/>
          <p:cNvSpPr/>
          <p:nvPr/>
        </p:nvSpPr>
        <p:spPr>
          <a:xfrm>
            <a:off x="548640" y="5522976"/>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12:00 PM</a:t>
            </a:r>
            <a:endParaRPr lang="en-US" sz="1100" dirty="0"/>
          </a:p>
        </p:txBody>
      </p:sp>
      <p:sp>
        <p:nvSpPr>
          <p:cNvPr id="50" name="Text 48"/>
          <p:cNvSpPr/>
          <p:nvPr/>
        </p:nvSpPr>
        <p:spPr>
          <a:xfrm>
            <a:off x="1965960" y="5522976"/>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The Complete Canvas — Putting It Together</a:t>
            </a:r>
            <a:endParaRPr lang="en-US" sz="1150" dirty="0"/>
          </a:p>
        </p:txBody>
      </p:sp>
      <p:sp>
        <p:nvSpPr>
          <p:cNvPr id="51" name="Text 49"/>
          <p:cNvSpPr/>
          <p:nvPr/>
        </p:nvSpPr>
        <p:spPr>
          <a:xfrm>
            <a:off x="7132320" y="5522976"/>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30 min</a:t>
            </a:r>
            <a:endParaRPr lang="en-US" sz="1050" dirty="0"/>
          </a:p>
        </p:txBody>
      </p:sp>
      <p:sp>
        <p:nvSpPr>
          <p:cNvPr id="52" name="Shape 50"/>
          <p:cNvSpPr/>
          <p:nvPr/>
        </p:nvSpPr>
        <p:spPr>
          <a:xfrm>
            <a:off x="365760" y="6016752"/>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53" name="Shape 51"/>
          <p:cNvSpPr/>
          <p:nvPr/>
        </p:nvSpPr>
        <p:spPr>
          <a:xfrm>
            <a:off x="365760" y="6016752"/>
            <a:ext cx="64008" cy="475488"/>
          </a:xfrm>
          <a:prstGeom prst="rect">
            <a:avLst/>
          </a:prstGeom>
          <a:solidFill>
            <a:srgbClr val="64748B"/>
          </a:solidFill>
        </p:spPr>
      </p:sp>
      <p:sp>
        <p:nvSpPr>
          <p:cNvPr id="54" name="Text 52"/>
          <p:cNvSpPr/>
          <p:nvPr/>
        </p:nvSpPr>
        <p:spPr>
          <a:xfrm>
            <a:off x="548640" y="6089904"/>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12:30 PM</a:t>
            </a:r>
            <a:endParaRPr lang="en-US" sz="1100" dirty="0"/>
          </a:p>
        </p:txBody>
      </p:sp>
      <p:sp>
        <p:nvSpPr>
          <p:cNvPr id="55" name="Text 53"/>
          <p:cNvSpPr/>
          <p:nvPr/>
        </p:nvSpPr>
        <p:spPr>
          <a:xfrm>
            <a:off x="1965960" y="6089904"/>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LUNCH BREAK</a:t>
            </a:r>
            <a:endParaRPr lang="en-US" sz="1150" dirty="0"/>
          </a:p>
        </p:txBody>
      </p:sp>
      <p:sp>
        <p:nvSpPr>
          <p:cNvPr id="56" name="Text 54"/>
          <p:cNvSpPr/>
          <p:nvPr/>
        </p:nvSpPr>
        <p:spPr>
          <a:xfrm>
            <a:off x="7132320" y="6089904"/>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57" name="Shape 55"/>
          <p:cNvSpPr/>
          <p:nvPr/>
        </p:nvSpPr>
        <p:spPr>
          <a:xfrm>
            <a:off x="365760" y="6583680"/>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58" name="Shape 56"/>
          <p:cNvSpPr/>
          <p:nvPr/>
        </p:nvSpPr>
        <p:spPr>
          <a:xfrm>
            <a:off x="365760" y="6583680"/>
            <a:ext cx="64008" cy="475488"/>
          </a:xfrm>
          <a:prstGeom prst="rect">
            <a:avLst/>
          </a:prstGeom>
          <a:solidFill>
            <a:srgbClr val="00AEEF"/>
          </a:solidFill>
        </p:spPr>
      </p:sp>
      <p:sp>
        <p:nvSpPr>
          <p:cNvPr id="59" name="Text 57"/>
          <p:cNvSpPr/>
          <p:nvPr/>
        </p:nvSpPr>
        <p:spPr>
          <a:xfrm>
            <a:off x="548640" y="6656832"/>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1:15 PM</a:t>
            </a:r>
            <a:endParaRPr lang="en-US" sz="1100" dirty="0"/>
          </a:p>
        </p:txBody>
      </p:sp>
      <p:sp>
        <p:nvSpPr>
          <p:cNvPr id="60" name="Text 58"/>
          <p:cNvSpPr/>
          <p:nvPr/>
        </p:nvSpPr>
        <p:spPr>
          <a:xfrm>
            <a:off x="1965960" y="6656832"/>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Business Diagnostics</a:t>
            </a:r>
            <a:endParaRPr lang="en-US" sz="1150" dirty="0"/>
          </a:p>
        </p:txBody>
      </p:sp>
      <p:sp>
        <p:nvSpPr>
          <p:cNvPr id="61" name="Text 59"/>
          <p:cNvSpPr/>
          <p:nvPr/>
        </p:nvSpPr>
        <p:spPr>
          <a:xfrm>
            <a:off x="7132320" y="6656832"/>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62" name="Shape 60"/>
          <p:cNvSpPr/>
          <p:nvPr/>
        </p:nvSpPr>
        <p:spPr>
          <a:xfrm>
            <a:off x="365760" y="7150608"/>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63" name="Shape 61"/>
          <p:cNvSpPr/>
          <p:nvPr/>
        </p:nvSpPr>
        <p:spPr>
          <a:xfrm>
            <a:off x="365760" y="7150608"/>
            <a:ext cx="64008" cy="475488"/>
          </a:xfrm>
          <a:prstGeom prst="rect">
            <a:avLst/>
          </a:prstGeom>
          <a:solidFill>
            <a:srgbClr val="00AEEF"/>
          </a:solidFill>
        </p:spPr>
      </p:sp>
      <p:sp>
        <p:nvSpPr>
          <p:cNvPr id="64" name="Text 62"/>
          <p:cNvSpPr/>
          <p:nvPr/>
        </p:nvSpPr>
        <p:spPr>
          <a:xfrm>
            <a:off x="548640" y="7223760"/>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2:00 PM</a:t>
            </a:r>
            <a:endParaRPr lang="en-US" sz="1100" dirty="0"/>
          </a:p>
        </p:txBody>
      </p:sp>
      <p:sp>
        <p:nvSpPr>
          <p:cNvPr id="65" name="Text 63"/>
          <p:cNvSpPr/>
          <p:nvPr/>
        </p:nvSpPr>
        <p:spPr>
          <a:xfrm>
            <a:off x="1965960" y="7223760"/>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Ghana Case Studies: Farmerline &amp; Hubtel</a:t>
            </a:r>
            <a:endParaRPr lang="en-US" sz="1150" dirty="0"/>
          </a:p>
        </p:txBody>
      </p:sp>
      <p:sp>
        <p:nvSpPr>
          <p:cNvPr id="66" name="Text 64"/>
          <p:cNvSpPr/>
          <p:nvPr/>
        </p:nvSpPr>
        <p:spPr>
          <a:xfrm>
            <a:off x="7132320" y="7223760"/>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67" name="Shape 65"/>
          <p:cNvSpPr/>
          <p:nvPr/>
        </p:nvSpPr>
        <p:spPr>
          <a:xfrm>
            <a:off x="365760" y="7717536"/>
            <a:ext cx="8412480" cy="475488"/>
          </a:xfrm>
          <a:prstGeom prst="rect">
            <a:avLst/>
          </a:prstGeom>
          <a:solidFill>
            <a:srgbClr val="E8F4FD"/>
          </a:solidFill>
          <a:effectLst>
            <a:outerShdw blurRad="101600" dist="25400" dir="8100000" algn="bl" rotWithShape="0">
              <a:srgbClr val="000000">
                <a:alpha val="10000"/>
              </a:srgbClr>
            </a:outerShdw>
          </a:effectLst>
        </p:spPr>
      </p:sp>
      <p:sp>
        <p:nvSpPr>
          <p:cNvPr id="68" name="Shape 66"/>
          <p:cNvSpPr/>
          <p:nvPr/>
        </p:nvSpPr>
        <p:spPr>
          <a:xfrm>
            <a:off x="365760" y="7717536"/>
            <a:ext cx="64008" cy="475488"/>
          </a:xfrm>
          <a:prstGeom prst="rect">
            <a:avLst/>
          </a:prstGeom>
          <a:solidFill>
            <a:srgbClr val="64748B"/>
          </a:solidFill>
        </p:spPr>
      </p:sp>
      <p:sp>
        <p:nvSpPr>
          <p:cNvPr id="69" name="Text 67"/>
          <p:cNvSpPr/>
          <p:nvPr/>
        </p:nvSpPr>
        <p:spPr>
          <a:xfrm>
            <a:off x="548640" y="7790688"/>
            <a:ext cx="1280160" cy="310896"/>
          </a:xfrm>
          <a:prstGeom prst="rect">
            <a:avLst/>
          </a:prstGeom>
          <a:noFill/>
        </p:spPr>
        <p:txBody>
          <a:bodyPr wrap="square" lIns="0" tIns="0" rIns="0" bIns="0" rtlCol="0" anchor="ctr"/>
          <a:lstStyle/>
          <a:p>
            <a:pPr marL="0" indent="0">
              <a:buNone/>
            </a:pPr>
            <a:r>
              <a:rPr lang="en-US" sz="1100" b="1" dirty="0">
                <a:solidFill>
                  <a:srgbClr val="64748B"/>
                </a:solidFill>
                <a:latin typeface="Trebuchet MS" panose="020B0703020202090204" pitchFamily="34" charset="0"/>
                <a:ea typeface="Trebuchet MS" panose="020B0703020202090204" pitchFamily="34" charset="-122"/>
                <a:cs typeface="Trebuchet MS" panose="020B0703020202090204" pitchFamily="34" charset="-120"/>
              </a:rPr>
              <a:t>2:45 PM</a:t>
            </a:r>
            <a:endParaRPr lang="en-US" sz="1100" dirty="0"/>
          </a:p>
        </p:txBody>
      </p:sp>
      <p:sp>
        <p:nvSpPr>
          <p:cNvPr id="70" name="Text 68"/>
          <p:cNvSpPr/>
          <p:nvPr/>
        </p:nvSpPr>
        <p:spPr>
          <a:xfrm>
            <a:off x="1965960" y="7790688"/>
            <a:ext cx="5029200" cy="310896"/>
          </a:xfrm>
          <a:prstGeom prst="rect">
            <a:avLst/>
          </a:prstGeom>
          <a:noFill/>
        </p:spPr>
        <p:txBody>
          <a:bodyPr wrap="square" lIns="0" tIns="0" rIns="0" bIns="0" rtlCol="0" anchor="ctr"/>
          <a:lstStyle/>
          <a:p>
            <a:pPr marL="0" indent="0">
              <a:buNone/>
            </a:pPr>
            <a:r>
              <a:rPr lang="en-US" sz="1150" i="1" dirty="0">
                <a:solidFill>
                  <a:srgbClr val="1E293B"/>
                </a:solidFill>
                <a:latin typeface="Calibri" panose="020F05020202040A0204" pitchFamily="34" charset="0"/>
                <a:ea typeface="Calibri" panose="020F05020202040A0204" pitchFamily="34" charset="-122"/>
                <a:cs typeface="Calibri" panose="020F05020202040A0204" pitchFamily="34" charset="-120"/>
              </a:rPr>
              <a:t>AFTERNOON BREAK</a:t>
            </a:r>
            <a:endParaRPr lang="en-US" sz="1150" dirty="0"/>
          </a:p>
        </p:txBody>
      </p:sp>
      <p:sp>
        <p:nvSpPr>
          <p:cNvPr id="71" name="Text 69"/>
          <p:cNvSpPr/>
          <p:nvPr/>
        </p:nvSpPr>
        <p:spPr>
          <a:xfrm>
            <a:off x="7132320" y="7790688"/>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
        <p:nvSpPr>
          <p:cNvPr id="72" name="Shape 70"/>
          <p:cNvSpPr/>
          <p:nvPr/>
        </p:nvSpPr>
        <p:spPr>
          <a:xfrm>
            <a:off x="365760" y="8284464"/>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73" name="Shape 71"/>
          <p:cNvSpPr/>
          <p:nvPr/>
        </p:nvSpPr>
        <p:spPr>
          <a:xfrm>
            <a:off x="365760" y="8284464"/>
            <a:ext cx="64008" cy="475488"/>
          </a:xfrm>
          <a:prstGeom prst="rect">
            <a:avLst/>
          </a:prstGeom>
          <a:solidFill>
            <a:srgbClr val="00AEEF"/>
          </a:solidFill>
        </p:spPr>
      </p:sp>
      <p:sp>
        <p:nvSpPr>
          <p:cNvPr id="74" name="Text 72"/>
          <p:cNvSpPr/>
          <p:nvPr/>
        </p:nvSpPr>
        <p:spPr>
          <a:xfrm>
            <a:off x="548640" y="8357616"/>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3:00 PM</a:t>
            </a:r>
            <a:endParaRPr lang="en-US" sz="1100" dirty="0"/>
          </a:p>
        </p:txBody>
      </p:sp>
      <p:sp>
        <p:nvSpPr>
          <p:cNvPr id="75" name="Text 73"/>
          <p:cNvSpPr/>
          <p:nvPr/>
        </p:nvSpPr>
        <p:spPr>
          <a:xfrm>
            <a:off x="1965960" y="8357616"/>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Exercise: Build Your Own BMC</a:t>
            </a:r>
            <a:endParaRPr lang="en-US" sz="1150" dirty="0"/>
          </a:p>
        </p:txBody>
      </p:sp>
      <p:sp>
        <p:nvSpPr>
          <p:cNvPr id="76" name="Text 74"/>
          <p:cNvSpPr/>
          <p:nvPr/>
        </p:nvSpPr>
        <p:spPr>
          <a:xfrm>
            <a:off x="7132320" y="8357616"/>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45 min</a:t>
            </a:r>
            <a:endParaRPr lang="en-US" sz="1050" dirty="0"/>
          </a:p>
        </p:txBody>
      </p:sp>
      <p:sp>
        <p:nvSpPr>
          <p:cNvPr id="77" name="Shape 75"/>
          <p:cNvSpPr/>
          <p:nvPr/>
        </p:nvSpPr>
        <p:spPr>
          <a:xfrm>
            <a:off x="365760" y="8851392"/>
            <a:ext cx="8412480" cy="475488"/>
          </a:xfrm>
          <a:prstGeom prst="rect">
            <a:avLst/>
          </a:prstGeom>
          <a:solidFill>
            <a:srgbClr val="FFFFFF"/>
          </a:solidFill>
          <a:effectLst>
            <a:outerShdw blurRad="101600" dist="25400" dir="8100000" algn="bl" rotWithShape="0">
              <a:srgbClr val="000000">
                <a:alpha val="10000"/>
              </a:srgbClr>
            </a:outerShdw>
          </a:effectLst>
        </p:spPr>
      </p:sp>
      <p:sp>
        <p:nvSpPr>
          <p:cNvPr id="78" name="Shape 76"/>
          <p:cNvSpPr/>
          <p:nvPr/>
        </p:nvSpPr>
        <p:spPr>
          <a:xfrm>
            <a:off x="365760" y="8851392"/>
            <a:ext cx="64008" cy="475488"/>
          </a:xfrm>
          <a:prstGeom prst="rect">
            <a:avLst/>
          </a:prstGeom>
          <a:solidFill>
            <a:srgbClr val="00AEEF"/>
          </a:solidFill>
        </p:spPr>
      </p:sp>
      <p:sp>
        <p:nvSpPr>
          <p:cNvPr id="79" name="Text 77"/>
          <p:cNvSpPr/>
          <p:nvPr/>
        </p:nvSpPr>
        <p:spPr>
          <a:xfrm>
            <a:off x="548640" y="8924544"/>
            <a:ext cx="1280160" cy="310896"/>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3:45 PM</a:t>
            </a:r>
            <a:endParaRPr lang="en-US" sz="1100" dirty="0"/>
          </a:p>
        </p:txBody>
      </p:sp>
      <p:sp>
        <p:nvSpPr>
          <p:cNvPr id="80" name="Text 78"/>
          <p:cNvSpPr/>
          <p:nvPr/>
        </p:nvSpPr>
        <p:spPr>
          <a:xfrm>
            <a:off x="1965960" y="8924544"/>
            <a:ext cx="5029200" cy="310896"/>
          </a:xfrm>
          <a:prstGeom prst="rect">
            <a:avLst/>
          </a:prstGeom>
          <a:noFill/>
        </p:spPr>
        <p:txBody>
          <a:bodyPr wrap="square" lIns="0" tIns="0" rIns="0" bIns="0" rtlCol="0" anchor="ctr"/>
          <a:lstStyle/>
          <a:p>
            <a:pPr marL="0" indent="0">
              <a:buNone/>
            </a:pPr>
            <a:r>
              <a:rPr lang="en-US" sz="115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Debrief, Key Takeaways &amp; Homework</a:t>
            </a:r>
            <a:endParaRPr lang="en-US" sz="1150" dirty="0"/>
          </a:p>
        </p:txBody>
      </p:sp>
      <p:sp>
        <p:nvSpPr>
          <p:cNvPr id="81" name="Text 79"/>
          <p:cNvSpPr/>
          <p:nvPr/>
        </p:nvSpPr>
        <p:spPr>
          <a:xfrm>
            <a:off x="7132320" y="8924544"/>
            <a:ext cx="1508760" cy="310896"/>
          </a:xfrm>
          <a:prstGeom prst="rect">
            <a:avLst/>
          </a:prstGeom>
          <a:noFill/>
        </p:spPr>
        <p:txBody>
          <a:bodyPr wrap="square" lIns="0" tIns="0" rIns="0" bIns="0" rtlCol="0" anchor="ctr"/>
          <a:lstStyle/>
          <a:p>
            <a:pPr marL="0" indent="0" algn="r">
              <a:buNone/>
            </a:pPr>
            <a:r>
              <a:rPr lang="en-US" sz="1050" dirty="0">
                <a:solidFill>
                  <a:srgbClr val="64748B"/>
                </a:solidFill>
                <a:latin typeface="Calibri" panose="020F05020202040A0204" pitchFamily="34" charset="0"/>
                <a:ea typeface="Calibri" panose="020F05020202040A0204" pitchFamily="34" charset="-122"/>
                <a:cs typeface="Calibri" panose="020F05020202040A0204" pitchFamily="34" charset="-120"/>
              </a:rPr>
              <a:t>15 min</a:t>
            </a:r>
            <a:endParaRPr lang="en-US" sz="105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Today's Learning Objectives</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Text 5"/>
          <p:cNvSpPr/>
          <p:nvPr/>
        </p:nvSpPr>
        <p:spPr>
          <a:xfrm>
            <a:off x="457200" y="868680"/>
            <a:ext cx="8229600" cy="347472"/>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By the end of today, you will be able to:</a:t>
            </a:r>
            <a:endParaRPr lang="en-US" sz="1300" dirty="0"/>
          </a:p>
        </p:txBody>
      </p:sp>
      <p:sp>
        <p:nvSpPr>
          <p:cNvPr id="8" name="Shape 6"/>
          <p:cNvSpPr/>
          <p:nvPr/>
        </p:nvSpPr>
        <p:spPr>
          <a:xfrm>
            <a:off x="365760" y="132588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457200" y="1472184"/>
            <a:ext cx="402336" cy="402336"/>
          </a:xfrm>
          <a:prstGeom prst="ellipse">
            <a:avLst/>
          </a:prstGeom>
          <a:solidFill>
            <a:srgbClr val="00AEEF"/>
          </a:solidFill>
        </p:spPr>
      </p:sp>
      <p:sp>
        <p:nvSpPr>
          <p:cNvPr id="10" name="Text 8"/>
          <p:cNvSpPr/>
          <p:nvPr/>
        </p:nvSpPr>
        <p:spPr>
          <a:xfrm>
            <a:off x="457200" y="147218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1</a:t>
            </a:r>
            <a:endParaRPr lang="en-US" sz="1300" dirty="0"/>
          </a:p>
        </p:txBody>
      </p:sp>
      <p:sp>
        <p:nvSpPr>
          <p:cNvPr id="11" name="Text 9"/>
          <p:cNvSpPr/>
          <p:nvPr/>
        </p:nvSpPr>
        <p:spPr>
          <a:xfrm>
            <a:off x="1024128" y="148132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Explain what a Business Model is and why it is more than just your product</a:t>
            </a:r>
            <a:endParaRPr lang="en-US" sz="1300" dirty="0"/>
          </a:p>
        </p:txBody>
      </p:sp>
      <p:sp>
        <p:nvSpPr>
          <p:cNvPr id="12" name="Shape 10"/>
          <p:cNvSpPr/>
          <p:nvPr/>
        </p:nvSpPr>
        <p:spPr>
          <a:xfrm>
            <a:off x="365760" y="214884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457200" y="2295144"/>
            <a:ext cx="402336" cy="402336"/>
          </a:xfrm>
          <a:prstGeom prst="ellipse">
            <a:avLst/>
          </a:prstGeom>
          <a:solidFill>
            <a:srgbClr val="00AEEF"/>
          </a:solidFill>
        </p:spPr>
      </p:sp>
      <p:sp>
        <p:nvSpPr>
          <p:cNvPr id="14" name="Text 12"/>
          <p:cNvSpPr/>
          <p:nvPr/>
        </p:nvSpPr>
        <p:spPr>
          <a:xfrm>
            <a:off x="457200" y="229514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2</a:t>
            </a:r>
            <a:endParaRPr lang="en-US" sz="1300" dirty="0"/>
          </a:p>
        </p:txBody>
      </p:sp>
      <p:sp>
        <p:nvSpPr>
          <p:cNvPr id="15" name="Text 13"/>
          <p:cNvSpPr/>
          <p:nvPr/>
        </p:nvSpPr>
        <p:spPr>
          <a:xfrm>
            <a:off x="1024128" y="230428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Map your venture onto a Business Model Canvas with all 9 building blocks completed</a:t>
            </a:r>
            <a:endParaRPr lang="en-US" sz="1300" dirty="0"/>
          </a:p>
        </p:txBody>
      </p:sp>
      <p:sp>
        <p:nvSpPr>
          <p:cNvPr id="16" name="Shape 14"/>
          <p:cNvSpPr/>
          <p:nvPr/>
        </p:nvSpPr>
        <p:spPr>
          <a:xfrm>
            <a:off x="365760" y="297180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457200" y="3118104"/>
            <a:ext cx="402336" cy="402336"/>
          </a:xfrm>
          <a:prstGeom prst="ellipse">
            <a:avLst/>
          </a:prstGeom>
          <a:solidFill>
            <a:srgbClr val="00AEEF"/>
          </a:solidFill>
        </p:spPr>
      </p:sp>
      <p:sp>
        <p:nvSpPr>
          <p:cNvPr id="18" name="Text 16"/>
          <p:cNvSpPr/>
          <p:nvPr/>
        </p:nvSpPr>
        <p:spPr>
          <a:xfrm>
            <a:off x="457200" y="311810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3</a:t>
            </a:r>
            <a:endParaRPr lang="en-US" sz="1300" dirty="0"/>
          </a:p>
        </p:txBody>
      </p:sp>
      <p:sp>
        <p:nvSpPr>
          <p:cNvPr id="19" name="Text 17"/>
          <p:cNvSpPr/>
          <p:nvPr/>
        </p:nvSpPr>
        <p:spPr>
          <a:xfrm>
            <a:off x="1024128" y="312724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Identify how the 9 blocks are interconnected and affect each other</a:t>
            </a:r>
            <a:endParaRPr lang="en-US" sz="1300" dirty="0"/>
          </a:p>
        </p:txBody>
      </p:sp>
      <p:sp>
        <p:nvSpPr>
          <p:cNvPr id="20" name="Shape 18"/>
          <p:cNvSpPr/>
          <p:nvPr/>
        </p:nvSpPr>
        <p:spPr>
          <a:xfrm>
            <a:off x="365760" y="379476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1" name="Shape 19"/>
          <p:cNvSpPr/>
          <p:nvPr/>
        </p:nvSpPr>
        <p:spPr>
          <a:xfrm>
            <a:off x="457200" y="3941064"/>
            <a:ext cx="402336" cy="402336"/>
          </a:xfrm>
          <a:prstGeom prst="ellipse">
            <a:avLst/>
          </a:prstGeom>
          <a:solidFill>
            <a:srgbClr val="00AEEF"/>
          </a:solidFill>
        </p:spPr>
      </p:sp>
      <p:sp>
        <p:nvSpPr>
          <p:cNvPr id="22" name="Text 20"/>
          <p:cNvSpPr/>
          <p:nvPr/>
        </p:nvSpPr>
        <p:spPr>
          <a:xfrm>
            <a:off x="457200" y="394106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4</a:t>
            </a:r>
            <a:endParaRPr lang="en-US" sz="1300" dirty="0"/>
          </a:p>
        </p:txBody>
      </p:sp>
      <p:sp>
        <p:nvSpPr>
          <p:cNvPr id="23" name="Text 21"/>
          <p:cNvSpPr/>
          <p:nvPr/>
        </p:nvSpPr>
        <p:spPr>
          <a:xfrm>
            <a:off x="1024128" y="3950208"/>
            <a:ext cx="758952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Apply business diagnostics to assess the health of your current model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What is a Business Model?</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Text 5"/>
          <p:cNvSpPr/>
          <p:nvPr/>
        </p:nvSpPr>
        <p:spPr>
          <a:xfrm>
            <a:off x="457200" y="868680"/>
            <a:ext cx="8229600" cy="475488"/>
          </a:xfrm>
          <a:prstGeom prst="rect">
            <a:avLst/>
          </a:prstGeom>
          <a:noFill/>
        </p:spPr>
        <p:txBody>
          <a:bodyPr wrap="square" lIns="0" tIns="0" rIns="0" bIns="0" rtlCol="0" anchor="ctr"/>
          <a:lstStyle/>
          <a:p>
            <a:pPr marL="0" indent="0">
              <a:buNone/>
            </a:pPr>
            <a:r>
              <a:rPr lang="en-US" sz="1400" b="1" dirty="0">
                <a:solidFill>
                  <a:srgbClr val="0A2540"/>
                </a:solidFill>
                <a:latin typeface="Calibri" panose="020F05020202040A0204" pitchFamily="34" charset="0"/>
                <a:ea typeface="Calibri" panose="020F05020202040A0204" pitchFamily="34" charset="-122"/>
                <a:cs typeface="Calibri" panose="020F05020202040A0204" pitchFamily="34" charset="-120"/>
              </a:rPr>
              <a:t>A business model is the rationale of how your organisation creates, delivers and captures value — all three must work together.</a:t>
            </a:r>
            <a:endParaRPr lang="en-US" sz="1400" dirty="0"/>
          </a:p>
        </p:txBody>
      </p:sp>
      <p:sp>
        <p:nvSpPr>
          <p:cNvPr id="8" name="Shape 6"/>
          <p:cNvSpPr/>
          <p:nvPr/>
        </p:nvSpPr>
        <p:spPr>
          <a:xfrm>
            <a:off x="365760" y="1463040"/>
            <a:ext cx="2670048" cy="1920240"/>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463040"/>
            <a:ext cx="2670048" cy="64008"/>
          </a:xfrm>
          <a:prstGeom prst="rect">
            <a:avLst/>
          </a:prstGeom>
          <a:solidFill>
            <a:srgbClr val="00AEEF"/>
          </a:solidFill>
        </p:spPr>
      </p:sp>
      <p:sp>
        <p:nvSpPr>
          <p:cNvPr id="10" name="Shape 8"/>
          <p:cNvSpPr/>
          <p:nvPr/>
        </p:nvSpPr>
        <p:spPr>
          <a:xfrm>
            <a:off x="512064" y="1572768"/>
            <a:ext cx="402336" cy="402336"/>
          </a:xfrm>
          <a:prstGeom prst="ellipse">
            <a:avLst/>
          </a:prstGeom>
          <a:solidFill>
            <a:srgbClr val="00AEEF"/>
          </a:solidFill>
        </p:spPr>
      </p:sp>
      <p:sp>
        <p:nvSpPr>
          <p:cNvPr id="11" name="Text 9"/>
          <p:cNvSpPr/>
          <p:nvPr/>
        </p:nvSpPr>
        <p:spPr>
          <a:xfrm>
            <a:off x="512064" y="157276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1</a:t>
            </a:r>
            <a:endParaRPr lang="en-US" sz="1300" dirty="0"/>
          </a:p>
        </p:txBody>
      </p:sp>
      <p:sp>
        <p:nvSpPr>
          <p:cNvPr id="12" name="Text 10"/>
          <p:cNvSpPr/>
          <p:nvPr/>
        </p:nvSpPr>
        <p:spPr>
          <a:xfrm>
            <a:off x="512064" y="2048256"/>
            <a:ext cx="2377440" cy="384048"/>
          </a:xfrm>
          <a:prstGeom prst="rect">
            <a:avLst/>
          </a:prstGeom>
          <a:noFill/>
        </p:spPr>
        <p:txBody>
          <a:bodyPr wrap="square" lIns="0" tIns="0" rIns="0" bIns="0" rtlCol="0" anchor="ctr"/>
          <a:lstStyle/>
          <a:p>
            <a:pPr marL="0" indent="0">
              <a:buNone/>
            </a:pPr>
            <a:r>
              <a:rPr lang="en-US" sz="15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Creates Value</a:t>
            </a:r>
            <a:endParaRPr lang="en-US" sz="1500" dirty="0"/>
          </a:p>
        </p:txBody>
      </p:sp>
      <p:sp>
        <p:nvSpPr>
          <p:cNvPr id="13" name="Text 11"/>
          <p:cNvSpPr/>
          <p:nvPr/>
        </p:nvSpPr>
        <p:spPr>
          <a:xfrm>
            <a:off x="512064" y="2487168"/>
            <a:ext cx="2377440" cy="777240"/>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What problem are you solving? What customer pain are you removing? This is your reason to exist.</a:t>
            </a:r>
            <a:endParaRPr lang="en-US" sz="1150" dirty="0"/>
          </a:p>
        </p:txBody>
      </p:sp>
      <p:sp>
        <p:nvSpPr>
          <p:cNvPr id="14" name="Shape 12"/>
          <p:cNvSpPr/>
          <p:nvPr/>
        </p:nvSpPr>
        <p:spPr>
          <a:xfrm>
            <a:off x="3218688" y="1463040"/>
            <a:ext cx="2670048" cy="1920240"/>
          </a:xfrm>
          <a:prstGeom prst="rect">
            <a:avLst/>
          </a:prstGeom>
          <a:solidFill>
            <a:srgbClr val="FFFFFF"/>
          </a:solidFill>
          <a:effectLst>
            <a:outerShdw blurRad="101600" dist="25400" dir="8100000" algn="bl" rotWithShape="0">
              <a:srgbClr val="000000">
                <a:alpha val="10000"/>
              </a:srgbClr>
            </a:outerShdw>
          </a:effectLst>
        </p:spPr>
      </p:sp>
      <p:sp>
        <p:nvSpPr>
          <p:cNvPr id="15" name="Shape 13"/>
          <p:cNvSpPr/>
          <p:nvPr/>
        </p:nvSpPr>
        <p:spPr>
          <a:xfrm>
            <a:off x="3218688" y="1463040"/>
            <a:ext cx="2670048" cy="64008"/>
          </a:xfrm>
          <a:prstGeom prst="rect">
            <a:avLst/>
          </a:prstGeom>
          <a:solidFill>
            <a:srgbClr val="FFC20E"/>
          </a:solidFill>
        </p:spPr>
      </p:sp>
      <p:sp>
        <p:nvSpPr>
          <p:cNvPr id="16" name="Shape 14"/>
          <p:cNvSpPr/>
          <p:nvPr/>
        </p:nvSpPr>
        <p:spPr>
          <a:xfrm>
            <a:off x="3364992" y="1572768"/>
            <a:ext cx="402336" cy="402336"/>
          </a:xfrm>
          <a:prstGeom prst="ellipse">
            <a:avLst/>
          </a:prstGeom>
          <a:solidFill>
            <a:srgbClr val="FFC20E"/>
          </a:solidFill>
        </p:spPr>
      </p:sp>
      <p:sp>
        <p:nvSpPr>
          <p:cNvPr id="17" name="Text 15"/>
          <p:cNvSpPr/>
          <p:nvPr/>
        </p:nvSpPr>
        <p:spPr>
          <a:xfrm>
            <a:off x="3364992" y="157276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2</a:t>
            </a:r>
            <a:endParaRPr lang="en-US" sz="1300" dirty="0"/>
          </a:p>
        </p:txBody>
      </p:sp>
      <p:sp>
        <p:nvSpPr>
          <p:cNvPr id="18" name="Text 16"/>
          <p:cNvSpPr/>
          <p:nvPr/>
        </p:nvSpPr>
        <p:spPr>
          <a:xfrm>
            <a:off x="3364992" y="2048256"/>
            <a:ext cx="2377440" cy="384048"/>
          </a:xfrm>
          <a:prstGeom prst="rect">
            <a:avLst/>
          </a:prstGeom>
          <a:noFill/>
        </p:spPr>
        <p:txBody>
          <a:bodyPr wrap="square" lIns="0" tIns="0" rIns="0" bIns="0" rtlCol="0" anchor="ctr"/>
          <a:lstStyle/>
          <a:p>
            <a:pPr marL="0" indent="0">
              <a:buNone/>
            </a:pPr>
            <a:r>
              <a:rPr lang="en-US" sz="15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Delivers Value</a:t>
            </a:r>
            <a:endParaRPr lang="en-US" sz="1500" dirty="0"/>
          </a:p>
        </p:txBody>
      </p:sp>
      <p:sp>
        <p:nvSpPr>
          <p:cNvPr id="19" name="Text 17"/>
          <p:cNvSpPr/>
          <p:nvPr/>
        </p:nvSpPr>
        <p:spPr>
          <a:xfrm>
            <a:off x="3364992" y="2487168"/>
            <a:ext cx="2377440" cy="777240"/>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How does your product/service reach the customer? Via app, USSD, agent, shop, or all of these?</a:t>
            </a:r>
            <a:endParaRPr lang="en-US" sz="1150" dirty="0"/>
          </a:p>
        </p:txBody>
      </p:sp>
      <p:sp>
        <p:nvSpPr>
          <p:cNvPr id="20" name="Shape 18"/>
          <p:cNvSpPr/>
          <p:nvPr/>
        </p:nvSpPr>
        <p:spPr>
          <a:xfrm>
            <a:off x="6071616" y="1463040"/>
            <a:ext cx="2670048" cy="1920240"/>
          </a:xfrm>
          <a:prstGeom prst="rect">
            <a:avLst/>
          </a:prstGeom>
          <a:solidFill>
            <a:srgbClr val="FFFFFF"/>
          </a:solidFill>
          <a:effectLst>
            <a:outerShdw blurRad="101600" dist="25400" dir="8100000" algn="bl" rotWithShape="0">
              <a:srgbClr val="000000">
                <a:alpha val="10000"/>
              </a:srgbClr>
            </a:outerShdw>
          </a:effectLst>
        </p:spPr>
      </p:sp>
      <p:sp>
        <p:nvSpPr>
          <p:cNvPr id="21" name="Shape 19"/>
          <p:cNvSpPr/>
          <p:nvPr/>
        </p:nvSpPr>
        <p:spPr>
          <a:xfrm>
            <a:off x="6071616" y="1463040"/>
            <a:ext cx="2670048" cy="64008"/>
          </a:xfrm>
          <a:prstGeom prst="rect">
            <a:avLst/>
          </a:prstGeom>
          <a:solidFill>
            <a:srgbClr val="009A44"/>
          </a:solidFill>
        </p:spPr>
      </p:sp>
      <p:sp>
        <p:nvSpPr>
          <p:cNvPr id="22" name="Shape 20"/>
          <p:cNvSpPr/>
          <p:nvPr/>
        </p:nvSpPr>
        <p:spPr>
          <a:xfrm>
            <a:off x="6217920" y="1572768"/>
            <a:ext cx="402336" cy="402336"/>
          </a:xfrm>
          <a:prstGeom prst="ellipse">
            <a:avLst/>
          </a:prstGeom>
          <a:solidFill>
            <a:srgbClr val="009A44"/>
          </a:solidFill>
        </p:spPr>
      </p:sp>
      <p:sp>
        <p:nvSpPr>
          <p:cNvPr id="23" name="Text 21"/>
          <p:cNvSpPr/>
          <p:nvPr/>
        </p:nvSpPr>
        <p:spPr>
          <a:xfrm>
            <a:off x="6217920" y="157276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3</a:t>
            </a:r>
            <a:endParaRPr lang="en-US" sz="1300" dirty="0"/>
          </a:p>
        </p:txBody>
      </p:sp>
      <p:sp>
        <p:nvSpPr>
          <p:cNvPr id="24" name="Text 22"/>
          <p:cNvSpPr/>
          <p:nvPr/>
        </p:nvSpPr>
        <p:spPr>
          <a:xfrm>
            <a:off x="6217920" y="2048256"/>
            <a:ext cx="2377440" cy="384048"/>
          </a:xfrm>
          <a:prstGeom prst="rect">
            <a:avLst/>
          </a:prstGeom>
          <a:noFill/>
        </p:spPr>
        <p:txBody>
          <a:bodyPr wrap="square" lIns="0" tIns="0" rIns="0" bIns="0" rtlCol="0" anchor="ctr"/>
          <a:lstStyle/>
          <a:p>
            <a:pPr marL="0" indent="0">
              <a:buNone/>
            </a:pPr>
            <a:r>
              <a:rPr lang="en-US" sz="15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Captures Value</a:t>
            </a:r>
            <a:endParaRPr lang="en-US" sz="1500" dirty="0"/>
          </a:p>
        </p:txBody>
      </p:sp>
      <p:sp>
        <p:nvSpPr>
          <p:cNvPr id="25" name="Text 23"/>
          <p:cNvSpPr/>
          <p:nvPr/>
        </p:nvSpPr>
        <p:spPr>
          <a:xfrm>
            <a:off x="6217920" y="2487168"/>
            <a:ext cx="2377440" cy="777240"/>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How does money flow back to you? Subscription, fee per transaction, advertising — or a mix?</a:t>
            </a:r>
            <a:endParaRPr lang="en-US" sz="1150" dirty="0"/>
          </a:p>
        </p:txBody>
      </p:sp>
      <p:sp>
        <p:nvSpPr>
          <p:cNvPr id="26" name="Shape 24"/>
          <p:cNvSpPr/>
          <p:nvPr/>
        </p:nvSpPr>
        <p:spPr>
          <a:xfrm>
            <a:off x="365760" y="3547872"/>
            <a:ext cx="8412480" cy="1207008"/>
          </a:xfrm>
          <a:prstGeom prst="rect">
            <a:avLst/>
          </a:prstGeom>
          <a:solidFill>
            <a:srgbClr val="E8F4FD"/>
          </a:solidFill>
        </p:spPr>
      </p:sp>
      <p:sp>
        <p:nvSpPr>
          <p:cNvPr id="27" name="Shape 25"/>
          <p:cNvSpPr/>
          <p:nvPr/>
        </p:nvSpPr>
        <p:spPr>
          <a:xfrm>
            <a:off x="365760" y="3547872"/>
            <a:ext cx="64008" cy="1207008"/>
          </a:xfrm>
          <a:prstGeom prst="rect">
            <a:avLst/>
          </a:prstGeom>
          <a:solidFill>
            <a:srgbClr val="00AEEF"/>
          </a:solidFill>
        </p:spPr>
      </p:sp>
      <p:sp>
        <p:nvSpPr>
          <p:cNvPr id="28" name="Text 26"/>
          <p:cNvSpPr/>
          <p:nvPr/>
        </p:nvSpPr>
        <p:spPr>
          <a:xfrm>
            <a:off x="566928" y="3639312"/>
            <a:ext cx="8092440" cy="1005840"/>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Ghana Example — MTN Mobile Money (MoMo):</a:t>
            </a:r>
            <a:endParaRPr lang="en-US" sz="1200" dirty="0"/>
          </a:p>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Creates value by enabling instant digital payments for anyone with a basic phone.</a:t>
            </a:r>
            <a:endParaRPr lang="en-US" sz="1200" dirty="0"/>
          </a:p>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Delivers via USSD *170# — no smartphone, no internet needed.</a:t>
            </a:r>
            <a:endParaRPr lang="en-US" sz="1200" dirty="0"/>
          </a:p>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Captures value through transaction fees and float income on stored balances.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Introducing the Business Model Canvas (BMC)</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Text 5"/>
          <p:cNvSpPr/>
          <p:nvPr/>
        </p:nvSpPr>
        <p:spPr>
          <a:xfrm>
            <a:off x="457200" y="868680"/>
            <a:ext cx="822960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Developed by Alexander Osterwalder — used by UNICEF, Google, MEST Africa and thousands of startups globally.</a:t>
            </a:r>
            <a:endParaRPr lang="en-US" sz="1300" dirty="0"/>
          </a:p>
        </p:txBody>
      </p:sp>
      <p:sp>
        <p:nvSpPr>
          <p:cNvPr id="8" name="Shape 6"/>
          <p:cNvSpPr/>
          <p:nvPr/>
        </p:nvSpPr>
        <p:spPr>
          <a:xfrm>
            <a:off x="365760" y="1417320"/>
            <a:ext cx="4069080" cy="1280160"/>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417320"/>
            <a:ext cx="4069080" cy="64008"/>
          </a:xfrm>
          <a:prstGeom prst="rect">
            <a:avLst/>
          </a:prstGeom>
          <a:solidFill>
            <a:srgbClr val="00AEEF"/>
          </a:solidFill>
        </p:spPr>
      </p:sp>
      <p:sp>
        <p:nvSpPr>
          <p:cNvPr id="10" name="Shape 8"/>
          <p:cNvSpPr/>
          <p:nvPr/>
        </p:nvSpPr>
        <p:spPr>
          <a:xfrm>
            <a:off x="530352" y="1581912"/>
            <a:ext cx="402336" cy="402336"/>
          </a:xfrm>
          <a:prstGeom prst="ellipse">
            <a:avLst/>
          </a:prstGeom>
          <a:solidFill>
            <a:srgbClr val="00AEEF"/>
          </a:solidFill>
        </p:spPr>
      </p:sp>
      <p:sp>
        <p:nvSpPr>
          <p:cNvPr id="11" name="Text 9"/>
          <p:cNvSpPr/>
          <p:nvPr/>
        </p:nvSpPr>
        <p:spPr>
          <a:xfrm>
            <a:off x="530352" y="158191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01</a:t>
            </a:r>
            <a:endParaRPr lang="en-US" sz="1300" dirty="0"/>
          </a:p>
        </p:txBody>
      </p:sp>
      <p:sp>
        <p:nvSpPr>
          <p:cNvPr id="12" name="Text 10"/>
          <p:cNvSpPr/>
          <p:nvPr/>
        </p:nvSpPr>
        <p:spPr>
          <a:xfrm>
            <a:off x="1051560" y="1581912"/>
            <a:ext cx="3218688" cy="347472"/>
          </a:xfrm>
          <a:prstGeom prst="rect">
            <a:avLst/>
          </a:prstGeom>
          <a:noFill/>
        </p:spPr>
        <p:txBody>
          <a:bodyPr wrap="square" lIns="0" tIns="0" rIns="0" bIns="0" rtlCol="0" anchor="ctr"/>
          <a:lstStyle/>
          <a:p>
            <a:pPr marL="0" indent="0">
              <a:buNone/>
            </a:pPr>
            <a:r>
              <a:rPr lang="en-US" sz="1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One-Page Clarity</a:t>
            </a:r>
            <a:endParaRPr lang="en-US" sz="1400" dirty="0"/>
          </a:p>
        </p:txBody>
      </p:sp>
      <p:sp>
        <p:nvSpPr>
          <p:cNvPr id="13" name="Text 11"/>
          <p:cNvSpPr/>
          <p:nvPr/>
        </p:nvSpPr>
        <p:spPr>
          <a:xfrm>
            <a:off x="530352" y="2057400"/>
            <a:ext cx="3749040" cy="530352"/>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Your entire business on one page — no 40-page plans. See the big picture instantly.</a:t>
            </a:r>
            <a:endParaRPr lang="en-US" sz="1150" dirty="0"/>
          </a:p>
        </p:txBody>
      </p:sp>
      <p:sp>
        <p:nvSpPr>
          <p:cNvPr id="14" name="Shape 12"/>
          <p:cNvSpPr/>
          <p:nvPr/>
        </p:nvSpPr>
        <p:spPr>
          <a:xfrm>
            <a:off x="4709160" y="1417320"/>
            <a:ext cx="4069080" cy="1280160"/>
          </a:xfrm>
          <a:prstGeom prst="rect">
            <a:avLst/>
          </a:prstGeom>
          <a:solidFill>
            <a:srgbClr val="FFFFFF"/>
          </a:solidFill>
          <a:effectLst>
            <a:outerShdw blurRad="101600" dist="25400" dir="8100000" algn="bl" rotWithShape="0">
              <a:srgbClr val="000000">
                <a:alpha val="10000"/>
              </a:srgbClr>
            </a:outerShdw>
          </a:effectLst>
        </p:spPr>
      </p:sp>
      <p:sp>
        <p:nvSpPr>
          <p:cNvPr id="15" name="Shape 13"/>
          <p:cNvSpPr/>
          <p:nvPr/>
        </p:nvSpPr>
        <p:spPr>
          <a:xfrm>
            <a:off x="4709160" y="1417320"/>
            <a:ext cx="4069080" cy="64008"/>
          </a:xfrm>
          <a:prstGeom prst="rect">
            <a:avLst/>
          </a:prstGeom>
          <a:solidFill>
            <a:srgbClr val="FFC20E"/>
          </a:solidFill>
        </p:spPr>
      </p:sp>
      <p:sp>
        <p:nvSpPr>
          <p:cNvPr id="16" name="Shape 14"/>
          <p:cNvSpPr/>
          <p:nvPr/>
        </p:nvSpPr>
        <p:spPr>
          <a:xfrm>
            <a:off x="4873752" y="1581912"/>
            <a:ext cx="402336" cy="402336"/>
          </a:xfrm>
          <a:prstGeom prst="ellipse">
            <a:avLst/>
          </a:prstGeom>
          <a:solidFill>
            <a:srgbClr val="FFC20E"/>
          </a:solidFill>
        </p:spPr>
      </p:sp>
      <p:sp>
        <p:nvSpPr>
          <p:cNvPr id="17" name="Text 15"/>
          <p:cNvSpPr/>
          <p:nvPr/>
        </p:nvSpPr>
        <p:spPr>
          <a:xfrm>
            <a:off x="4873752" y="158191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02</a:t>
            </a:r>
            <a:endParaRPr lang="en-US" sz="1300" dirty="0"/>
          </a:p>
        </p:txBody>
      </p:sp>
      <p:sp>
        <p:nvSpPr>
          <p:cNvPr id="18" name="Text 16"/>
          <p:cNvSpPr/>
          <p:nvPr/>
        </p:nvSpPr>
        <p:spPr>
          <a:xfrm>
            <a:off x="5394960" y="1581912"/>
            <a:ext cx="3218688" cy="347472"/>
          </a:xfrm>
          <a:prstGeom prst="rect">
            <a:avLst/>
          </a:prstGeom>
          <a:noFill/>
        </p:spPr>
        <p:txBody>
          <a:bodyPr wrap="square" lIns="0" tIns="0" rIns="0" bIns="0" rtlCol="0" anchor="ctr"/>
          <a:lstStyle/>
          <a:p>
            <a:pPr marL="0" indent="0">
              <a:buNone/>
            </a:pPr>
            <a:r>
              <a:rPr lang="en-US" sz="1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Shared Language</a:t>
            </a:r>
            <a:endParaRPr lang="en-US" sz="1400" dirty="0"/>
          </a:p>
        </p:txBody>
      </p:sp>
      <p:sp>
        <p:nvSpPr>
          <p:cNvPr id="19" name="Text 17"/>
          <p:cNvSpPr/>
          <p:nvPr/>
        </p:nvSpPr>
        <p:spPr>
          <a:xfrm>
            <a:off x="4873752" y="2057400"/>
            <a:ext cx="3749040" cy="530352"/>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Your team, investors, mentors and UNICEF partners all read the same model.</a:t>
            </a:r>
            <a:endParaRPr lang="en-US" sz="1150" dirty="0"/>
          </a:p>
        </p:txBody>
      </p:sp>
      <p:sp>
        <p:nvSpPr>
          <p:cNvPr id="20" name="Shape 18"/>
          <p:cNvSpPr/>
          <p:nvPr/>
        </p:nvSpPr>
        <p:spPr>
          <a:xfrm>
            <a:off x="365760" y="2880360"/>
            <a:ext cx="4069080" cy="1280160"/>
          </a:xfrm>
          <a:prstGeom prst="rect">
            <a:avLst/>
          </a:prstGeom>
          <a:solidFill>
            <a:srgbClr val="FFFFFF"/>
          </a:solidFill>
          <a:effectLst>
            <a:outerShdw blurRad="101600" dist="25400" dir="8100000" algn="bl" rotWithShape="0">
              <a:srgbClr val="000000">
                <a:alpha val="10000"/>
              </a:srgbClr>
            </a:outerShdw>
          </a:effectLst>
        </p:spPr>
      </p:sp>
      <p:sp>
        <p:nvSpPr>
          <p:cNvPr id="21" name="Shape 19"/>
          <p:cNvSpPr/>
          <p:nvPr/>
        </p:nvSpPr>
        <p:spPr>
          <a:xfrm>
            <a:off x="365760" y="2880360"/>
            <a:ext cx="4069080" cy="64008"/>
          </a:xfrm>
          <a:prstGeom prst="rect">
            <a:avLst/>
          </a:prstGeom>
          <a:solidFill>
            <a:srgbClr val="009A44"/>
          </a:solidFill>
        </p:spPr>
      </p:sp>
      <p:sp>
        <p:nvSpPr>
          <p:cNvPr id="22" name="Shape 20"/>
          <p:cNvSpPr/>
          <p:nvPr/>
        </p:nvSpPr>
        <p:spPr>
          <a:xfrm>
            <a:off x="530352" y="3044952"/>
            <a:ext cx="402336" cy="402336"/>
          </a:xfrm>
          <a:prstGeom prst="ellipse">
            <a:avLst/>
          </a:prstGeom>
          <a:solidFill>
            <a:srgbClr val="009A44"/>
          </a:solidFill>
        </p:spPr>
      </p:sp>
      <p:sp>
        <p:nvSpPr>
          <p:cNvPr id="23" name="Text 21"/>
          <p:cNvSpPr/>
          <p:nvPr/>
        </p:nvSpPr>
        <p:spPr>
          <a:xfrm>
            <a:off x="530352" y="304495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03</a:t>
            </a:r>
            <a:endParaRPr lang="en-US" sz="1300" dirty="0"/>
          </a:p>
        </p:txBody>
      </p:sp>
      <p:sp>
        <p:nvSpPr>
          <p:cNvPr id="24" name="Text 22"/>
          <p:cNvSpPr/>
          <p:nvPr/>
        </p:nvSpPr>
        <p:spPr>
          <a:xfrm>
            <a:off x="1051560" y="3044952"/>
            <a:ext cx="3218688" cy="347472"/>
          </a:xfrm>
          <a:prstGeom prst="rect">
            <a:avLst/>
          </a:prstGeom>
          <a:noFill/>
        </p:spPr>
        <p:txBody>
          <a:bodyPr wrap="square" lIns="0" tIns="0" rIns="0" bIns="0" rtlCol="0" anchor="ctr"/>
          <a:lstStyle/>
          <a:p>
            <a:pPr marL="0" indent="0">
              <a:buNone/>
            </a:pPr>
            <a:r>
              <a:rPr lang="en-US" sz="1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Easy to Pivot</a:t>
            </a:r>
            <a:endParaRPr lang="en-US" sz="1400" dirty="0"/>
          </a:p>
        </p:txBody>
      </p:sp>
      <p:sp>
        <p:nvSpPr>
          <p:cNvPr id="25" name="Text 23"/>
          <p:cNvSpPr/>
          <p:nvPr/>
        </p:nvSpPr>
        <p:spPr>
          <a:xfrm>
            <a:off x="530352" y="3520440"/>
            <a:ext cx="3749040" cy="530352"/>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Change one block, see the ripple effect across the whole system in minutes.</a:t>
            </a:r>
            <a:endParaRPr lang="en-US" sz="1150" dirty="0"/>
          </a:p>
        </p:txBody>
      </p:sp>
      <p:sp>
        <p:nvSpPr>
          <p:cNvPr id="26" name="Shape 24"/>
          <p:cNvSpPr/>
          <p:nvPr/>
        </p:nvSpPr>
        <p:spPr>
          <a:xfrm>
            <a:off x="4709160" y="2880360"/>
            <a:ext cx="4069080" cy="1280160"/>
          </a:xfrm>
          <a:prstGeom prst="rect">
            <a:avLst/>
          </a:prstGeom>
          <a:solidFill>
            <a:srgbClr val="FFFFFF"/>
          </a:solidFill>
          <a:effectLst>
            <a:outerShdw blurRad="101600" dist="25400" dir="8100000" algn="bl" rotWithShape="0">
              <a:srgbClr val="000000">
                <a:alpha val="10000"/>
              </a:srgbClr>
            </a:outerShdw>
          </a:effectLst>
        </p:spPr>
      </p:sp>
      <p:sp>
        <p:nvSpPr>
          <p:cNvPr id="27" name="Shape 25"/>
          <p:cNvSpPr/>
          <p:nvPr/>
        </p:nvSpPr>
        <p:spPr>
          <a:xfrm>
            <a:off x="4709160" y="2880360"/>
            <a:ext cx="4069080" cy="64008"/>
          </a:xfrm>
          <a:prstGeom prst="rect">
            <a:avLst/>
          </a:prstGeom>
          <a:solidFill>
            <a:srgbClr val="00539C"/>
          </a:solidFill>
        </p:spPr>
      </p:sp>
      <p:sp>
        <p:nvSpPr>
          <p:cNvPr id="28" name="Shape 26"/>
          <p:cNvSpPr/>
          <p:nvPr/>
        </p:nvSpPr>
        <p:spPr>
          <a:xfrm>
            <a:off x="4873752" y="3044952"/>
            <a:ext cx="402336" cy="402336"/>
          </a:xfrm>
          <a:prstGeom prst="ellipse">
            <a:avLst/>
          </a:prstGeom>
          <a:solidFill>
            <a:srgbClr val="00539C"/>
          </a:solidFill>
        </p:spPr>
      </p:sp>
      <p:sp>
        <p:nvSpPr>
          <p:cNvPr id="29" name="Text 27"/>
          <p:cNvSpPr/>
          <p:nvPr/>
        </p:nvSpPr>
        <p:spPr>
          <a:xfrm>
            <a:off x="4873752" y="304495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04</a:t>
            </a:r>
            <a:endParaRPr lang="en-US" sz="1300" dirty="0"/>
          </a:p>
        </p:txBody>
      </p:sp>
      <p:sp>
        <p:nvSpPr>
          <p:cNvPr id="30" name="Text 28"/>
          <p:cNvSpPr/>
          <p:nvPr/>
        </p:nvSpPr>
        <p:spPr>
          <a:xfrm>
            <a:off x="5394960" y="3044952"/>
            <a:ext cx="3218688" cy="347472"/>
          </a:xfrm>
          <a:prstGeom prst="rect">
            <a:avLst/>
          </a:prstGeom>
          <a:noFill/>
        </p:spPr>
        <p:txBody>
          <a:bodyPr wrap="square" lIns="0" tIns="0" rIns="0" bIns="0" rtlCol="0" anchor="ctr"/>
          <a:lstStyle/>
          <a:p>
            <a:pPr marL="0" indent="0">
              <a:buNone/>
            </a:pPr>
            <a:r>
              <a:rPr lang="en-US" sz="1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Assumption Testing</a:t>
            </a:r>
            <a:endParaRPr lang="en-US" sz="1400" dirty="0"/>
          </a:p>
        </p:txBody>
      </p:sp>
      <p:sp>
        <p:nvSpPr>
          <p:cNvPr id="31" name="Text 29"/>
          <p:cNvSpPr/>
          <p:nvPr/>
        </p:nvSpPr>
        <p:spPr>
          <a:xfrm>
            <a:off x="4873752" y="3520440"/>
            <a:ext cx="3749040" cy="530352"/>
          </a:xfrm>
          <a:prstGeom prst="rect">
            <a:avLst/>
          </a:prstGeom>
          <a:noFill/>
        </p:spPr>
        <p:txBody>
          <a:bodyPr wrap="square" lIns="0" tIns="0" rIns="0" bIns="0" rtlCol="0" anchor="ctr"/>
          <a:lstStyle/>
          <a:p>
            <a:pPr marL="0" indent="0">
              <a:buNone/>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Each block is a hypothesis. You must validate every one with real customers.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The 9 Building Blocks of the BMC</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Shape 5"/>
          <p:cNvSpPr/>
          <p:nvPr/>
        </p:nvSpPr>
        <p:spPr>
          <a:xfrm>
            <a:off x="320040" y="868680"/>
            <a:ext cx="1463040" cy="1920240"/>
          </a:xfrm>
          <a:prstGeom prst="rect">
            <a:avLst/>
          </a:prstGeom>
          <a:solidFill>
            <a:srgbClr val="00AEEF">
              <a:alpha val="12000"/>
            </a:srgbClr>
          </a:solidFill>
          <a:ln w="19050">
            <a:solidFill>
              <a:srgbClr val="00AEEF"/>
            </a:solidFill>
            <a:prstDash val="solid"/>
          </a:ln>
        </p:spPr>
      </p:sp>
      <p:sp>
        <p:nvSpPr>
          <p:cNvPr id="8" name="Text 6"/>
          <p:cNvSpPr/>
          <p:nvPr/>
        </p:nvSpPr>
        <p:spPr>
          <a:xfrm>
            <a:off x="393192" y="941832"/>
            <a:ext cx="1316736" cy="1773936"/>
          </a:xfrm>
          <a:prstGeom prst="rect">
            <a:avLst/>
          </a:prstGeom>
          <a:noFill/>
        </p:spPr>
        <p:txBody>
          <a:bodyPr wrap="square" lIns="0" tIns="0" rIns="0" bIns="0" rtlCol="0" anchor="ctr"/>
          <a:lstStyle/>
          <a:p>
            <a:pPr marL="0" indent="0" algn="ctr">
              <a:buNone/>
            </a:pPr>
            <a:r>
              <a:rPr lang="en-US" sz="10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Key Partners</a:t>
            </a:r>
            <a:endParaRPr lang="en-US" sz="1000" dirty="0"/>
          </a:p>
        </p:txBody>
      </p:sp>
      <p:sp>
        <p:nvSpPr>
          <p:cNvPr id="9" name="Shape 7"/>
          <p:cNvSpPr/>
          <p:nvPr/>
        </p:nvSpPr>
        <p:spPr>
          <a:xfrm>
            <a:off x="1874520" y="868680"/>
            <a:ext cx="1463040" cy="914400"/>
          </a:xfrm>
          <a:prstGeom prst="rect">
            <a:avLst/>
          </a:prstGeom>
          <a:solidFill>
            <a:srgbClr val="00539C">
              <a:alpha val="12000"/>
            </a:srgbClr>
          </a:solidFill>
          <a:ln w="19050">
            <a:solidFill>
              <a:srgbClr val="00539C"/>
            </a:solidFill>
            <a:prstDash val="solid"/>
          </a:ln>
        </p:spPr>
      </p:sp>
      <p:sp>
        <p:nvSpPr>
          <p:cNvPr id="10" name="Text 8"/>
          <p:cNvSpPr/>
          <p:nvPr/>
        </p:nvSpPr>
        <p:spPr>
          <a:xfrm>
            <a:off x="1947672" y="941832"/>
            <a:ext cx="1316736" cy="768096"/>
          </a:xfrm>
          <a:prstGeom prst="rect">
            <a:avLst/>
          </a:prstGeom>
          <a:noFill/>
        </p:spPr>
        <p:txBody>
          <a:bodyPr wrap="square" lIns="0" tIns="0" rIns="0" bIns="0" rtlCol="0" anchor="ctr"/>
          <a:lstStyle/>
          <a:p>
            <a:pPr marL="0" indent="0" algn="ctr">
              <a:buNone/>
            </a:pPr>
            <a:r>
              <a:rPr lang="en-US" sz="10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Key Activities</a:t>
            </a:r>
            <a:endParaRPr lang="en-US" sz="1000" dirty="0"/>
          </a:p>
        </p:txBody>
      </p:sp>
      <p:sp>
        <p:nvSpPr>
          <p:cNvPr id="11" name="Shape 9"/>
          <p:cNvSpPr/>
          <p:nvPr/>
        </p:nvSpPr>
        <p:spPr>
          <a:xfrm>
            <a:off x="1874520" y="1874520"/>
            <a:ext cx="1463040" cy="914400"/>
          </a:xfrm>
          <a:prstGeom prst="rect">
            <a:avLst/>
          </a:prstGeom>
          <a:solidFill>
            <a:srgbClr val="00539C">
              <a:alpha val="12000"/>
            </a:srgbClr>
          </a:solidFill>
          <a:ln w="19050">
            <a:solidFill>
              <a:srgbClr val="00539C"/>
            </a:solidFill>
            <a:prstDash val="solid"/>
          </a:ln>
        </p:spPr>
      </p:sp>
      <p:sp>
        <p:nvSpPr>
          <p:cNvPr id="12" name="Text 10"/>
          <p:cNvSpPr/>
          <p:nvPr/>
        </p:nvSpPr>
        <p:spPr>
          <a:xfrm>
            <a:off x="1947672" y="1947672"/>
            <a:ext cx="1316736" cy="768096"/>
          </a:xfrm>
          <a:prstGeom prst="rect">
            <a:avLst/>
          </a:prstGeom>
          <a:noFill/>
        </p:spPr>
        <p:txBody>
          <a:bodyPr wrap="square" lIns="0" tIns="0" rIns="0" bIns="0" rtlCol="0" anchor="ctr"/>
          <a:lstStyle/>
          <a:p>
            <a:pPr marL="0" indent="0" algn="ctr">
              <a:buNone/>
            </a:pPr>
            <a:r>
              <a:rPr lang="en-US" sz="10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Key Resources</a:t>
            </a:r>
            <a:endParaRPr lang="en-US" sz="1000" dirty="0"/>
          </a:p>
        </p:txBody>
      </p:sp>
      <p:sp>
        <p:nvSpPr>
          <p:cNvPr id="13" name="Shape 11"/>
          <p:cNvSpPr/>
          <p:nvPr/>
        </p:nvSpPr>
        <p:spPr>
          <a:xfrm>
            <a:off x="3429000" y="868680"/>
            <a:ext cx="1691640" cy="1920240"/>
          </a:xfrm>
          <a:prstGeom prst="rect">
            <a:avLst/>
          </a:prstGeom>
          <a:solidFill>
            <a:srgbClr val="FFC20E">
              <a:alpha val="12000"/>
            </a:srgbClr>
          </a:solidFill>
          <a:ln w="19050">
            <a:solidFill>
              <a:srgbClr val="FFC20E"/>
            </a:solidFill>
            <a:prstDash val="solid"/>
          </a:ln>
        </p:spPr>
      </p:sp>
      <p:sp>
        <p:nvSpPr>
          <p:cNvPr id="14" name="Text 12"/>
          <p:cNvSpPr/>
          <p:nvPr/>
        </p:nvSpPr>
        <p:spPr>
          <a:xfrm>
            <a:off x="3502152" y="941832"/>
            <a:ext cx="1545336" cy="1773936"/>
          </a:xfrm>
          <a:prstGeom prst="rect">
            <a:avLst/>
          </a:prstGeom>
          <a:noFill/>
        </p:spPr>
        <p:txBody>
          <a:bodyPr wrap="square" lIns="0" tIns="0" rIns="0" bIns="0" rtlCol="0" anchor="ctr"/>
          <a:lstStyle/>
          <a:p>
            <a:pPr marL="0" indent="0" algn="ctr">
              <a:buNone/>
            </a:pPr>
            <a:r>
              <a:rPr lang="en-US" sz="10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Value Propositions</a:t>
            </a:r>
            <a:endParaRPr lang="en-US" sz="1000" dirty="0"/>
          </a:p>
        </p:txBody>
      </p:sp>
      <p:sp>
        <p:nvSpPr>
          <p:cNvPr id="15" name="Shape 13"/>
          <p:cNvSpPr/>
          <p:nvPr/>
        </p:nvSpPr>
        <p:spPr>
          <a:xfrm>
            <a:off x="5212080" y="868680"/>
            <a:ext cx="1463040" cy="914400"/>
          </a:xfrm>
          <a:prstGeom prst="rect">
            <a:avLst/>
          </a:prstGeom>
          <a:solidFill>
            <a:srgbClr val="009A44">
              <a:alpha val="12000"/>
            </a:srgbClr>
          </a:solidFill>
          <a:ln w="19050">
            <a:solidFill>
              <a:srgbClr val="009A44"/>
            </a:solidFill>
            <a:prstDash val="solid"/>
          </a:ln>
        </p:spPr>
      </p:sp>
      <p:sp>
        <p:nvSpPr>
          <p:cNvPr id="16" name="Text 14"/>
          <p:cNvSpPr/>
          <p:nvPr/>
        </p:nvSpPr>
        <p:spPr>
          <a:xfrm>
            <a:off x="5285232" y="941832"/>
            <a:ext cx="1316736" cy="768096"/>
          </a:xfrm>
          <a:prstGeom prst="rect">
            <a:avLst/>
          </a:prstGeom>
          <a:noFill/>
        </p:spPr>
        <p:txBody>
          <a:bodyPr wrap="square" lIns="0" tIns="0" rIns="0" bIns="0" rtlCol="0" anchor="ctr"/>
          <a:lstStyle/>
          <a:p>
            <a:pPr marL="0" indent="0" algn="ctr">
              <a:buNone/>
            </a:pPr>
            <a:r>
              <a:rPr lang="en-US" sz="10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Customer Relationships</a:t>
            </a:r>
            <a:endParaRPr lang="en-US" sz="1000" dirty="0"/>
          </a:p>
        </p:txBody>
      </p:sp>
      <p:sp>
        <p:nvSpPr>
          <p:cNvPr id="17" name="Shape 15"/>
          <p:cNvSpPr/>
          <p:nvPr/>
        </p:nvSpPr>
        <p:spPr>
          <a:xfrm>
            <a:off x="5212080" y="1874520"/>
            <a:ext cx="1463040" cy="914400"/>
          </a:xfrm>
          <a:prstGeom prst="rect">
            <a:avLst/>
          </a:prstGeom>
          <a:solidFill>
            <a:srgbClr val="009A44">
              <a:alpha val="12000"/>
            </a:srgbClr>
          </a:solidFill>
          <a:ln w="19050">
            <a:solidFill>
              <a:srgbClr val="009A44"/>
            </a:solidFill>
            <a:prstDash val="solid"/>
          </a:ln>
        </p:spPr>
      </p:sp>
      <p:sp>
        <p:nvSpPr>
          <p:cNvPr id="18" name="Text 16"/>
          <p:cNvSpPr/>
          <p:nvPr/>
        </p:nvSpPr>
        <p:spPr>
          <a:xfrm>
            <a:off x="5285232" y="1947672"/>
            <a:ext cx="1316736" cy="768096"/>
          </a:xfrm>
          <a:prstGeom prst="rect">
            <a:avLst/>
          </a:prstGeom>
          <a:noFill/>
        </p:spPr>
        <p:txBody>
          <a:bodyPr wrap="square" lIns="0" tIns="0" rIns="0" bIns="0" rtlCol="0" anchor="ctr"/>
          <a:lstStyle/>
          <a:p>
            <a:pPr marL="0" indent="0" algn="ctr">
              <a:buNone/>
            </a:pPr>
            <a:r>
              <a:rPr lang="en-US" sz="10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Channels</a:t>
            </a:r>
            <a:endParaRPr lang="en-US" sz="1000" dirty="0"/>
          </a:p>
        </p:txBody>
      </p:sp>
      <p:sp>
        <p:nvSpPr>
          <p:cNvPr id="19" name="Shape 17"/>
          <p:cNvSpPr/>
          <p:nvPr/>
        </p:nvSpPr>
        <p:spPr>
          <a:xfrm>
            <a:off x="6766560" y="868680"/>
            <a:ext cx="1691640" cy="1920240"/>
          </a:xfrm>
          <a:prstGeom prst="rect">
            <a:avLst/>
          </a:prstGeom>
          <a:solidFill>
            <a:srgbClr val="00AEEF">
              <a:alpha val="12000"/>
            </a:srgbClr>
          </a:solidFill>
          <a:ln w="19050">
            <a:solidFill>
              <a:srgbClr val="00AEEF"/>
            </a:solidFill>
            <a:prstDash val="solid"/>
          </a:ln>
        </p:spPr>
      </p:sp>
      <p:sp>
        <p:nvSpPr>
          <p:cNvPr id="20" name="Text 18"/>
          <p:cNvSpPr/>
          <p:nvPr/>
        </p:nvSpPr>
        <p:spPr>
          <a:xfrm>
            <a:off x="6839712" y="941832"/>
            <a:ext cx="1545336" cy="1773936"/>
          </a:xfrm>
          <a:prstGeom prst="rect">
            <a:avLst/>
          </a:prstGeom>
          <a:noFill/>
        </p:spPr>
        <p:txBody>
          <a:bodyPr wrap="square" lIns="0" tIns="0" rIns="0" bIns="0" rtlCol="0" anchor="ctr"/>
          <a:lstStyle/>
          <a:p>
            <a:pPr marL="0" indent="0" algn="ctr">
              <a:buNone/>
            </a:pPr>
            <a:r>
              <a:rPr lang="en-US" sz="10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Customer Segments</a:t>
            </a:r>
            <a:endParaRPr lang="en-US" sz="1000" dirty="0"/>
          </a:p>
        </p:txBody>
      </p:sp>
      <p:sp>
        <p:nvSpPr>
          <p:cNvPr id="21" name="Shape 19"/>
          <p:cNvSpPr/>
          <p:nvPr/>
        </p:nvSpPr>
        <p:spPr>
          <a:xfrm>
            <a:off x="320040" y="2880360"/>
            <a:ext cx="4069080" cy="868680"/>
          </a:xfrm>
          <a:prstGeom prst="rect">
            <a:avLst/>
          </a:prstGeom>
          <a:solidFill>
            <a:srgbClr val="0A2540">
              <a:alpha val="12000"/>
            </a:srgbClr>
          </a:solidFill>
          <a:ln w="19050">
            <a:solidFill>
              <a:srgbClr val="0A2540"/>
            </a:solidFill>
            <a:prstDash val="solid"/>
          </a:ln>
        </p:spPr>
      </p:sp>
      <p:sp>
        <p:nvSpPr>
          <p:cNvPr id="22" name="Text 20"/>
          <p:cNvSpPr/>
          <p:nvPr/>
        </p:nvSpPr>
        <p:spPr>
          <a:xfrm>
            <a:off x="393192" y="2953512"/>
            <a:ext cx="3922776" cy="722376"/>
          </a:xfrm>
          <a:prstGeom prst="rect">
            <a:avLst/>
          </a:prstGeom>
          <a:noFill/>
        </p:spPr>
        <p:txBody>
          <a:bodyPr wrap="square" lIns="0" tIns="0" rIns="0" bIns="0" rtlCol="0" anchor="ctr"/>
          <a:lstStyle/>
          <a:p>
            <a:pPr marL="0" indent="0" algn="ctr">
              <a:buNone/>
            </a:pPr>
            <a:r>
              <a:rPr lang="en-US" sz="10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Cost Structure</a:t>
            </a:r>
            <a:endParaRPr lang="en-US" sz="1000" dirty="0"/>
          </a:p>
        </p:txBody>
      </p:sp>
      <p:sp>
        <p:nvSpPr>
          <p:cNvPr id="23" name="Shape 21"/>
          <p:cNvSpPr/>
          <p:nvPr/>
        </p:nvSpPr>
        <p:spPr>
          <a:xfrm>
            <a:off x="4480560" y="2880360"/>
            <a:ext cx="3977640" cy="868680"/>
          </a:xfrm>
          <a:prstGeom prst="rect">
            <a:avLst/>
          </a:prstGeom>
          <a:solidFill>
            <a:srgbClr val="FFC20E">
              <a:alpha val="12000"/>
            </a:srgbClr>
          </a:solidFill>
          <a:ln w="19050">
            <a:solidFill>
              <a:srgbClr val="FFC20E"/>
            </a:solidFill>
            <a:prstDash val="solid"/>
          </a:ln>
        </p:spPr>
      </p:sp>
      <p:sp>
        <p:nvSpPr>
          <p:cNvPr id="24" name="Text 22"/>
          <p:cNvSpPr/>
          <p:nvPr/>
        </p:nvSpPr>
        <p:spPr>
          <a:xfrm>
            <a:off x="4553712" y="2953512"/>
            <a:ext cx="3831336" cy="722376"/>
          </a:xfrm>
          <a:prstGeom prst="rect">
            <a:avLst/>
          </a:prstGeom>
          <a:noFill/>
        </p:spPr>
        <p:txBody>
          <a:bodyPr wrap="square" lIns="0" tIns="0" rIns="0" bIns="0" rtlCol="0" anchor="ctr"/>
          <a:lstStyle/>
          <a:p>
            <a:pPr marL="0" indent="0" algn="ctr">
              <a:buNone/>
            </a:pPr>
            <a:r>
              <a:rPr lang="en-US" sz="1000" b="1" dirty="0">
                <a:solidFill>
                  <a:srgbClr val="1E293B"/>
                </a:solidFill>
                <a:latin typeface="Trebuchet MS" panose="020B0703020202090204" pitchFamily="34" charset="0"/>
                <a:ea typeface="Trebuchet MS" panose="020B0703020202090204" pitchFamily="34" charset="-122"/>
                <a:cs typeface="Trebuchet MS" panose="020B0703020202090204" pitchFamily="34" charset="-120"/>
              </a:rPr>
              <a:t>Revenue Streams</a:t>
            </a:r>
            <a:endParaRPr lang="en-US" sz="1000" dirty="0"/>
          </a:p>
        </p:txBody>
      </p:sp>
      <p:sp>
        <p:nvSpPr>
          <p:cNvPr id="25" name="Text 23"/>
          <p:cNvSpPr/>
          <p:nvPr/>
        </p:nvSpPr>
        <p:spPr>
          <a:xfrm>
            <a:off x="320040" y="3858768"/>
            <a:ext cx="8503920" cy="347472"/>
          </a:xfrm>
          <a:prstGeom prst="rect">
            <a:avLst/>
          </a:prstGeom>
          <a:noFill/>
        </p:spPr>
        <p:txBody>
          <a:bodyPr wrap="square" lIns="0" tIns="0" rIns="0" bIns="0" rtlCol="0" anchor="ctr"/>
          <a:lstStyle/>
          <a:p>
            <a:pPr marL="0" indent="0">
              <a:buNone/>
            </a:pPr>
            <a:r>
              <a:rPr lang="en-US" sz="1100" i="1" dirty="0">
                <a:solidFill>
                  <a:srgbClr val="00AEEF"/>
                </a:solidFill>
                <a:latin typeface="Calibri" panose="020F05020202040A0204" pitchFamily="34" charset="0"/>
                <a:ea typeface="Calibri" panose="020F05020202040A0204" pitchFamily="34" charset="-122"/>
                <a:cs typeface="Calibri" panose="020F05020202040A0204" pitchFamily="34" charset="-120"/>
              </a:rPr>
              <a:t>Rule: Always start with CUSTOMER SEGMENTS — build the whole canvas outward from your customer.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BMC Deep Dive: Customer Segments &amp; Value Propositions</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Shape 5"/>
          <p:cNvSpPr/>
          <p:nvPr/>
        </p:nvSpPr>
        <p:spPr>
          <a:xfrm>
            <a:off x="365760" y="914400"/>
            <a:ext cx="4023360" cy="210312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2103120"/>
          </a:xfrm>
          <a:prstGeom prst="rect">
            <a:avLst/>
          </a:prstGeom>
          <a:solidFill>
            <a:srgbClr val="00AEEF"/>
          </a:solidFill>
        </p:spPr>
      </p:sp>
      <p:sp>
        <p:nvSpPr>
          <p:cNvPr id="9" name="Text 7"/>
          <p:cNvSpPr/>
          <p:nvPr/>
        </p:nvSpPr>
        <p:spPr>
          <a:xfrm>
            <a:off x="530352" y="1005840"/>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Customer Segments — WHO?</a:t>
            </a:r>
            <a:endParaRPr lang="en-US" sz="1300" dirty="0"/>
          </a:p>
        </p:txBody>
      </p:sp>
      <p:sp>
        <p:nvSpPr>
          <p:cNvPr id="10" name="Text 8"/>
          <p:cNvSpPr/>
          <p:nvPr/>
        </p:nvSpPr>
        <p:spPr>
          <a:xfrm>
            <a:off x="530352" y="1408176"/>
            <a:ext cx="3794760" cy="150876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Who are the people/organisations you create value for?</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Mass market: e.g. all Ghanaians with smartphones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Niche: e.g. smallholder maize farmers in Brong-Ahafo</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Multi-sided: serves 2+ distinct groups (farmers AND buyers)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Key tool: Customer Persona — name, age, pain, goal, income</a:t>
            </a:r>
            <a:endParaRPr lang="en-US" sz="1150" dirty="0"/>
          </a:p>
        </p:txBody>
      </p:sp>
      <p:sp>
        <p:nvSpPr>
          <p:cNvPr id="11" name="Shape 9"/>
          <p:cNvSpPr/>
          <p:nvPr/>
        </p:nvSpPr>
        <p:spPr>
          <a:xfrm>
            <a:off x="4572000" y="914400"/>
            <a:ext cx="4206240" cy="210312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4572000" y="914400"/>
            <a:ext cx="64008" cy="2103120"/>
          </a:xfrm>
          <a:prstGeom prst="rect">
            <a:avLst/>
          </a:prstGeom>
          <a:solidFill>
            <a:srgbClr val="FFC20E"/>
          </a:solidFill>
        </p:spPr>
      </p:sp>
      <p:sp>
        <p:nvSpPr>
          <p:cNvPr id="13" name="Text 11"/>
          <p:cNvSpPr/>
          <p:nvPr/>
        </p:nvSpPr>
        <p:spPr>
          <a:xfrm>
            <a:off x="4736592" y="1005840"/>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Value Propositions — WHAT?</a:t>
            </a:r>
            <a:endParaRPr lang="en-US" sz="1300" dirty="0"/>
          </a:p>
        </p:txBody>
      </p:sp>
      <p:sp>
        <p:nvSpPr>
          <p:cNvPr id="14" name="Text 12"/>
          <p:cNvSpPr/>
          <p:nvPr/>
        </p:nvSpPr>
        <p:spPr>
          <a:xfrm>
            <a:off x="4736592" y="1408176"/>
            <a:ext cx="3977640" cy="150876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The bundle of products/services that creates value for a specific segment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Pain relievers: pains you remove — e.g. no market price info</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Gain creators: outcomes you enable — e.g. 20% higher crop prices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Must be specific — NOT 'we help farmers' but: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'We give farmers real-time market prices in Twi via USSD'</a:t>
            </a:r>
            <a:endParaRPr lang="en-US" sz="1150" dirty="0"/>
          </a:p>
        </p:txBody>
      </p:sp>
      <p:sp>
        <p:nvSpPr>
          <p:cNvPr id="15" name="Shape 13"/>
          <p:cNvSpPr/>
          <p:nvPr/>
        </p:nvSpPr>
        <p:spPr>
          <a:xfrm>
            <a:off x="365760" y="3200400"/>
            <a:ext cx="8412480" cy="1572768"/>
          </a:xfrm>
          <a:prstGeom prst="rect">
            <a:avLst/>
          </a:prstGeom>
          <a:solidFill>
            <a:srgbClr val="FFFFFF"/>
          </a:solidFill>
          <a:effectLst>
            <a:outerShdw blurRad="101600" dist="25400" dir="8100000" algn="bl" rotWithShape="0">
              <a:srgbClr val="000000">
                <a:alpha val="10000"/>
              </a:srgbClr>
            </a:outerShdw>
          </a:effectLst>
        </p:spPr>
      </p:sp>
      <p:sp>
        <p:nvSpPr>
          <p:cNvPr id="16" name="Shape 14"/>
          <p:cNvSpPr/>
          <p:nvPr/>
        </p:nvSpPr>
        <p:spPr>
          <a:xfrm>
            <a:off x="365760" y="3200400"/>
            <a:ext cx="64008" cy="1572768"/>
          </a:xfrm>
          <a:prstGeom prst="rect">
            <a:avLst/>
          </a:prstGeom>
          <a:solidFill>
            <a:srgbClr val="00AEEF"/>
          </a:solidFill>
        </p:spPr>
      </p:sp>
      <p:sp>
        <p:nvSpPr>
          <p:cNvPr id="17" name="Text 15"/>
          <p:cNvSpPr/>
          <p:nvPr/>
        </p:nvSpPr>
        <p:spPr>
          <a:xfrm>
            <a:off x="566928" y="3310128"/>
            <a:ext cx="80924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Try This Now — Write Your Value Proposition Statement:</a:t>
            </a:r>
            <a:endParaRPr lang="en-US" sz="1300" dirty="0"/>
          </a:p>
        </p:txBody>
      </p:sp>
      <p:sp>
        <p:nvSpPr>
          <p:cNvPr id="18" name="Text 16"/>
          <p:cNvSpPr/>
          <p:nvPr/>
        </p:nvSpPr>
        <p:spPr>
          <a:xfrm>
            <a:off x="566928" y="3703320"/>
            <a:ext cx="8092440" cy="1005840"/>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"We help [Customer Segment] who want [Goal] to [Outcome] by [How]."</a:t>
            </a:r>
            <a:endParaRPr lang="en-US" sz="1200" dirty="0"/>
          </a:p>
          <a:p>
            <a:pPr marL="0" indent="0">
              <a:buNone/>
            </a:pPr>
            <a:endParaRPr lang="en-US" sz="1200" dirty="0"/>
          </a:p>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Example: "We help smallholder maize farmers in Brong-Ahafo who want fair prices to sell at 20% higher margins by connecting them directly to Accra market buyers via USSD."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465"/>
            <a:ext cx="649224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BMC Deep Dive: Channels &amp; Customer Relationships</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Shape 5"/>
          <p:cNvSpPr/>
          <p:nvPr/>
        </p:nvSpPr>
        <p:spPr>
          <a:xfrm>
            <a:off x="365760" y="914400"/>
            <a:ext cx="4023360" cy="201168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2011680"/>
          </a:xfrm>
          <a:prstGeom prst="rect">
            <a:avLst/>
          </a:prstGeom>
          <a:solidFill>
            <a:srgbClr val="009A44"/>
          </a:solidFill>
        </p:spPr>
      </p:sp>
      <p:sp>
        <p:nvSpPr>
          <p:cNvPr id="9" name="Text 7"/>
          <p:cNvSpPr/>
          <p:nvPr/>
        </p:nvSpPr>
        <p:spPr>
          <a:xfrm>
            <a:off x="530352" y="1005840"/>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Channels — HOW DO YOU REACH THEM?</a:t>
            </a:r>
            <a:endParaRPr lang="en-US" sz="1300" dirty="0"/>
          </a:p>
        </p:txBody>
      </p:sp>
      <p:sp>
        <p:nvSpPr>
          <p:cNvPr id="10" name="Text 8"/>
          <p:cNvSpPr/>
          <p:nvPr/>
        </p:nvSpPr>
        <p:spPr>
          <a:xfrm>
            <a:off x="530352" y="1408176"/>
            <a:ext cx="3794760" cy="141732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Awareness: How do they find out you exist?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Evaluation: How do they assess your value?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Purchase: How do they buy or sign up?</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Delivery: App, USSD, agent, SMS, shop, field officer?</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After-sales: Support, onboarding, renewals</a:t>
            </a:r>
            <a:endParaRPr lang="en-US" sz="1150" dirty="0"/>
          </a:p>
        </p:txBody>
      </p:sp>
      <p:sp>
        <p:nvSpPr>
          <p:cNvPr id="11" name="Shape 9"/>
          <p:cNvSpPr/>
          <p:nvPr/>
        </p:nvSpPr>
        <p:spPr>
          <a:xfrm>
            <a:off x="4572000" y="914400"/>
            <a:ext cx="4206240" cy="201168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4572000" y="914400"/>
            <a:ext cx="64008" cy="2011680"/>
          </a:xfrm>
          <a:prstGeom prst="rect">
            <a:avLst/>
          </a:prstGeom>
          <a:solidFill>
            <a:srgbClr val="00539C"/>
          </a:solidFill>
        </p:spPr>
      </p:sp>
      <p:sp>
        <p:nvSpPr>
          <p:cNvPr id="13" name="Text 11"/>
          <p:cNvSpPr/>
          <p:nvPr/>
        </p:nvSpPr>
        <p:spPr>
          <a:xfrm>
            <a:off x="4736592" y="1005840"/>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Customer Relationships — HOW DO YOU KEEP THEM?</a:t>
            </a:r>
            <a:endParaRPr lang="en-US" sz="1300" dirty="0"/>
          </a:p>
        </p:txBody>
      </p:sp>
      <p:sp>
        <p:nvSpPr>
          <p:cNvPr id="14" name="Text 12"/>
          <p:cNvSpPr/>
          <p:nvPr/>
        </p:nvSpPr>
        <p:spPr>
          <a:xfrm>
            <a:off x="4736592" y="1408176"/>
            <a:ext cx="3977640" cy="141732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Personal assistance: dedicated account manager</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Self-service: app or portal — no human needed</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Automated: personalised notifications and nudges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Community: peer groups (WhatsApp, Facebook groups)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Tip: retention costs 5–7x less than acquisition</a:t>
            </a:r>
            <a:endParaRPr lang="en-US" sz="1150" dirty="0"/>
          </a:p>
        </p:txBody>
      </p:sp>
      <p:sp>
        <p:nvSpPr>
          <p:cNvPr id="15" name="Shape 13"/>
          <p:cNvSpPr/>
          <p:nvPr/>
        </p:nvSpPr>
        <p:spPr>
          <a:xfrm>
            <a:off x="365760" y="3090672"/>
            <a:ext cx="8412480" cy="1664208"/>
          </a:xfrm>
          <a:prstGeom prst="rect">
            <a:avLst/>
          </a:prstGeom>
          <a:solidFill>
            <a:srgbClr val="E8F4FD"/>
          </a:solidFill>
        </p:spPr>
      </p:sp>
      <p:sp>
        <p:nvSpPr>
          <p:cNvPr id="16" name="Shape 14"/>
          <p:cNvSpPr/>
          <p:nvPr/>
        </p:nvSpPr>
        <p:spPr>
          <a:xfrm>
            <a:off x="365760" y="3090672"/>
            <a:ext cx="64008" cy="1664208"/>
          </a:xfrm>
          <a:prstGeom prst="rect">
            <a:avLst/>
          </a:prstGeom>
          <a:solidFill>
            <a:srgbClr val="009A44"/>
          </a:solidFill>
        </p:spPr>
      </p:sp>
      <p:sp>
        <p:nvSpPr>
          <p:cNvPr id="17" name="Text 15"/>
          <p:cNvSpPr/>
          <p:nvPr/>
        </p:nvSpPr>
        <p:spPr>
          <a:xfrm>
            <a:off x="566928" y="3200400"/>
            <a:ext cx="80924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Ghana Channel Reality — Choose Wisely:</a:t>
            </a:r>
            <a:endParaRPr lang="en-US" sz="1300" dirty="0"/>
          </a:p>
        </p:txBody>
      </p:sp>
      <p:sp>
        <p:nvSpPr>
          <p:cNvPr id="18" name="Text 16"/>
          <p:cNvSpPr/>
          <p:nvPr/>
        </p:nvSpPr>
        <p:spPr>
          <a:xfrm>
            <a:off x="566928" y="3593592"/>
            <a:ext cx="8092440" cy="1115568"/>
          </a:xfrm>
          <a:prstGeom prst="rect">
            <a:avLst/>
          </a:prstGeom>
          <a:noFill/>
        </p:spPr>
        <p:txBody>
          <a:bodyPr wrap="square" lIns="0" tIns="0" rIns="0" bIns="0" rtlCol="0" anchor="ctr"/>
          <a:lstStyle/>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USSD reaches everyone with a SIM — no data, no smartphone needed (used by MoMo, Farmerline, GhanaPost GPS).</a:t>
            </a:r>
            <a:endParaRPr lang="en-US" sz="1150" dirty="0"/>
          </a:p>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MTN alone has 165,000+ agents — the most powerful distribution network in Ghana.</a:t>
            </a:r>
            <a:endParaRPr lang="en-US" sz="1150" dirty="0"/>
          </a:p>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WhatsApp is zero-rated on most data plans — very low-cost marketing and support.</a:t>
            </a:r>
            <a:endParaRPr lang="en-US" sz="1150" dirty="0"/>
          </a:p>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Community radio is highly trusted in rural areas — Farmerline uses it for awareness.</a:t>
            </a:r>
            <a:endParaRPr lang="en-US" sz="1150" dirty="0"/>
          </a:p>
          <a:p>
            <a:pPr marL="0" indent="0">
              <a:buNone/>
            </a:pPr>
            <a:r>
              <a:rPr lang="en-US" sz="1150" dirty="0">
                <a:solidFill>
                  <a:srgbClr val="1E293B"/>
                </a:solidFill>
                <a:latin typeface="Calibri" panose="020F05020202040A0204" pitchFamily="34" charset="0"/>
                <a:ea typeface="Calibri" panose="020F05020202040A0204" pitchFamily="34" charset="-122"/>
                <a:cs typeface="Calibri" panose="020F05020202040A0204" pitchFamily="34" charset="-120"/>
              </a:rPr>
              <a:t>Apps are growing fast in Accra/Kumasi but exclude most rural and lower-income segments.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465"/>
            <a:ext cx="649224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BMC Deep Dive: Key Activities, Resources &amp; Partners</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Shape 5"/>
          <p:cNvSpPr/>
          <p:nvPr/>
        </p:nvSpPr>
        <p:spPr>
          <a:xfrm>
            <a:off x="320040" y="914400"/>
            <a:ext cx="2697480" cy="333756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20040" y="914400"/>
            <a:ext cx="64008" cy="3337560"/>
          </a:xfrm>
          <a:prstGeom prst="rect">
            <a:avLst/>
          </a:prstGeom>
          <a:solidFill>
            <a:srgbClr val="00AEEF"/>
          </a:solidFill>
        </p:spPr>
      </p:sp>
      <p:sp>
        <p:nvSpPr>
          <p:cNvPr id="9" name="Text 7"/>
          <p:cNvSpPr/>
          <p:nvPr/>
        </p:nvSpPr>
        <p:spPr>
          <a:xfrm>
            <a:off x="484632" y="1005840"/>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Key Activities — WHAT DO YOU DO?</a:t>
            </a:r>
            <a:endParaRPr lang="en-US" sz="1300" dirty="0"/>
          </a:p>
        </p:txBody>
      </p:sp>
      <p:sp>
        <p:nvSpPr>
          <p:cNvPr id="10" name="Text 8"/>
          <p:cNvSpPr/>
          <p:nvPr/>
        </p:nvSpPr>
        <p:spPr>
          <a:xfrm>
            <a:off x="484632" y="1408176"/>
            <a:ext cx="2468880" cy="274320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The most critical things you must do to make the model work</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Production: building, coding, manufacturing</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Problem-solving: consulting, custom AI models, crop advisory</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Platform: keeping the marketplace/app running 24/7</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Quality: validation, testing, compliance (FDA, BoG, GRA)</a:t>
            </a:r>
            <a:endParaRPr lang="en-US" sz="1150" dirty="0"/>
          </a:p>
        </p:txBody>
      </p:sp>
      <p:sp>
        <p:nvSpPr>
          <p:cNvPr id="11" name="Shape 9"/>
          <p:cNvSpPr/>
          <p:nvPr/>
        </p:nvSpPr>
        <p:spPr>
          <a:xfrm>
            <a:off x="3246120" y="914400"/>
            <a:ext cx="2697480" cy="333756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3246120" y="914400"/>
            <a:ext cx="64008" cy="3337560"/>
          </a:xfrm>
          <a:prstGeom prst="rect">
            <a:avLst/>
          </a:prstGeom>
          <a:solidFill>
            <a:srgbClr val="00539C"/>
          </a:solidFill>
        </p:spPr>
      </p:sp>
      <p:sp>
        <p:nvSpPr>
          <p:cNvPr id="13" name="Text 11"/>
          <p:cNvSpPr/>
          <p:nvPr/>
        </p:nvSpPr>
        <p:spPr>
          <a:xfrm>
            <a:off x="3410712" y="1005840"/>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Key Resources — WHAT DO YOU HAVE?</a:t>
            </a:r>
            <a:endParaRPr lang="en-US" sz="1300" dirty="0"/>
          </a:p>
        </p:txBody>
      </p:sp>
      <p:sp>
        <p:nvSpPr>
          <p:cNvPr id="14" name="Text 12"/>
          <p:cNvSpPr/>
          <p:nvPr/>
        </p:nvSpPr>
        <p:spPr>
          <a:xfrm>
            <a:off x="3410712" y="1408176"/>
            <a:ext cx="2468880" cy="274320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Assets required to deliver your value proposition</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Physical: devices, labs, vehicles, warehouses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Intellectual: data, algorithms, brand, patents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Human: engineers, agronomists, community health workers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Financial: investor capital, credit lines, grant funding</a:t>
            </a:r>
            <a:endParaRPr lang="en-US" sz="1150" dirty="0"/>
          </a:p>
        </p:txBody>
      </p:sp>
      <p:sp>
        <p:nvSpPr>
          <p:cNvPr id="15" name="Shape 13"/>
          <p:cNvSpPr/>
          <p:nvPr/>
        </p:nvSpPr>
        <p:spPr>
          <a:xfrm>
            <a:off x="6172200" y="914400"/>
            <a:ext cx="2697480" cy="3337560"/>
          </a:xfrm>
          <a:prstGeom prst="rect">
            <a:avLst/>
          </a:prstGeom>
          <a:solidFill>
            <a:srgbClr val="FFFFFF"/>
          </a:solidFill>
          <a:effectLst>
            <a:outerShdw blurRad="101600" dist="25400" dir="8100000" algn="bl" rotWithShape="0">
              <a:srgbClr val="000000">
                <a:alpha val="10000"/>
              </a:srgbClr>
            </a:outerShdw>
          </a:effectLst>
        </p:spPr>
      </p:sp>
      <p:sp>
        <p:nvSpPr>
          <p:cNvPr id="16" name="Shape 14"/>
          <p:cNvSpPr/>
          <p:nvPr/>
        </p:nvSpPr>
        <p:spPr>
          <a:xfrm>
            <a:off x="6172200" y="914400"/>
            <a:ext cx="64008" cy="3337560"/>
          </a:xfrm>
          <a:prstGeom prst="rect">
            <a:avLst/>
          </a:prstGeom>
          <a:solidFill>
            <a:srgbClr val="FFC20E"/>
          </a:solidFill>
        </p:spPr>
      </p:sp>
      <p:sp>
        <p:nvSpPr>
          <p:cNvPr id="17" name="Text 15"/>
          <p:cNvSpPr/>
          <p:nvPr/>
        </p:nvSpPr>
        <p:spPr>
          <a:xfrm>
            <a:off x="6336792" y="1005840"/>
            <a:ext cx="24688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Key Partners — WHO HELPS YOU?</a:t>
            </a:r>
            <a:endParaRPr lang="en-US" sz="1300" dirty="0"/>
          </a:p>
        </p:txBody>
      </p:sp>
      <p:sp>
        <p:nvSpPr>
          <p:cNvPr id="18" name="Text 16"/>
          <p:cNvSpPr/>
          <p:nvPr/>
        </p:nvSpPr>
        <p:spPr>
          <a:xfrm>
            <a:off x="6336792" y="1408176"/>
            <a:ext cx="2468880" cy="274320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Strategic alliances that reduce risk or extend reach</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Telcos: MTN,Telecel, AirtelTigo for distribution</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NGOs/DFIs: USAID, GIZ, GSMA for funding + validation</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Suppliers: cloud providers (AWS, GCP), payment rails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Tip: start with minimum viable partnerships — 2–3 max</a:t>
            </a:r>
            <a:endParaRPr lang="en-US" sz="1150" dirty="0"/>
          </a:p>
        </p:txBody>
      </p:sp>
      <p:sp>
        <p:nvSpPr>
          <p:cNvPr id="19" name="Text 17"/>
          <p:cNvSpPr/>
          <p:nvPr/>
        </p:nvSpPr>
        <p:spPr>
          <a:xfrm>
            <a:off x="320040" y="4370832"/>
            <a:ext cx="8503920" cy="347472"/>
          </a:xfrm>
          <a:prstGeom prst="rect">
            <a:avLst/>
          </a:prstGeom>
          <a:noFill/>
        </p:spPr>
        <p:txBody>
          <a:bodyPr wrap="square" lIns="0" tIns="0" rIns="0" bIns="0" rtlCol="0" anchor="ctr"/>
          <a:lstStyle/>
          <a:p>
            <a:pPr marL="0" indent="0">
              <a:buNone/>
            </a:pPr>
            <a:r>
              <a:rPr lang="en-US" sz="1100" i="1" dirty="0">
                <a:solidFill>
                  <a:srgbClr val="64748B"/>
                </a:solidFill>
                <a:latin typeface="Calibri" panose="020F05020202040A0204" pitchFamily="34" charset="0"/>
                <a:ea typeface="Calibri" panose="020F05020202040A0204" pitchFamily="34" charset="-122"/>
                <a:cs typeface="Calibri" panose="020F05020202040A0204" pitchFamily="34" charset="-120"/>
              </a:rPr>
              <a:t>Key distinction: Activities are VERBS (things you do). Resources are NOUNS (things you have).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BMC: Cost Structure &amp; Revenue Streams</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Shape 5"/>
          <p:cNvSpPr/>
          <p:nvPr/>
        </p:nvSpPr>
        <p:spPr>
          <a:xfrm>
            <a:off x="365760" y="914400"/>
            <a:ext cx="4023360" cy="2468880"/>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365760" y="914400"/>
            <a:ext cx="64008" cy="2468880"/>
          </a:xfrm>
          <a:prstGeom prst="rect">
            <a:avLst/>
          </a:prstGeom>
          <a:solidFill>
            <a:srgbClr val="0A2540"/>
          </a:solidFill>
        </p:spPr>
      </p:sp>
      <p:sp>
        <p:nvSpPr>
          <p:cNvPr id="9" name="Text 7"/>
          <p:cNvSpPr/>
          <p:nvPr/>
        </p:nvSpPr>
        <p:spPr>
          <a:xfrm>
            <a:off x="530352" y="1005840"/>
            <a:ext cx="379476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Cost Structure — WHAT DOES IT COST?</a:t>
            </a:r>
            <a:endParaRPr lang="en-US" sz="1300" dirty="0"/>
          </a:p>
        </p:txBody>
      </p:sp>
      <p:sp>
        <p:nvSpPr>
          <p:cNvPr id="10" name="Text 8"/>
          <p:cNvSpPr/>
          <p:nvPr/>
        </p:nvSpPr>
        <p:spPr>
          <a:xfrm>
            <a:off x="530352" y="1408176"/>
            <a:ext cx="3794760" cy="187452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All costs to operate the business model</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Fixed: salaries, rent, hosting (same regardless of volume)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Variable: SMS costs, commissions, delivery (grow with volume)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Cost-driven: minimise every cost e.g. lean USSD startup</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Value-driven: focus on premium delivery  e.g. mPharma enterprise</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Don't forget: PAYE, NHIS, VAT, regulatory fees in Ghana</a:t>
            </a:r>
            <a:endParaRPr lang="en-US" sz="1150" dirty="0"/>
          </a:p>
        </p:txBody>
      </p:sp>
      <p:sp>
        <p:nvSpPr>
          <p:cNvPr id="11" name="Shape 9"/>
          <p:cNvSpPr/>
          <p:nvPr/>
        </p:nvSpPr>
        <p:spPr>
          <a:xfrm>
            <a:off x="4572000" y="914400"/>
            <a:ext cx="4206240" cy="2468880"/>
          </a:xfrm>
          <a:prstGeom prst="rect">
            <a:avLst/>
          </a:prstGeom>
          <a:solidFill>
            <a:srgbClr val="FFFFFF"/>
          </a:solidFill>
          <a:effectLst>
            <a:outerShdw blurRad="101600" dist="25400" dir="8100000" algn="bl" rotWithShape="0">
              <a:srgbClr val="000000">
                <a:alpha val="10000"/>
              </a:srgbClr>
            </a:outerShdw>
          </a:effectLst>
        </p:spPr>
      </p:sp>
      <p:sp>
        <p:nvSpPr>
          <p:cNvPr id="12" name="Shape 10"/>
          <p:cNvSpPr/>
          <p:nvPr/>
        </p:nvSpPr>
        <p:spPr>
          <a:xfrm>
            <a:off x="4572000" y="914400"/>
            <a:ext cx="64008" cy="2468880"/>
          </a:xfrm>
          <a:prstGeom prst="rect">
            <a:avLst/>
          </a:prstGeom>
          <a:solidFill>
            <a:srgbClr val="FFC20E"/>
          </a:solidFill>
        </p:spPr>
      </p:sp>
      <p:sp>
        <p:nvSpPr>
          <p:cNvPr id="13" name="Text 11"/>
          <p:cNvSpPr/>
          <p:nvPr/>
        </p:nvSpPr>
        <p:spPr>
          <a:xfrm>
            <a:off x="4736592" y="1005840"/>
            <a:ext cx="39776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Revenue Streams — HOW DO YOU EARN?</a:t>
            </a:r>
            <a:endParaRPr lang="en-US" sz="1300" dirty="0"/>
          </a:p>
        </p:txBody>
      </p:sp>
      <p:sp>
        <p:nvSpPr>
          <p:cNvPr id="14" name="Text 12"/>
          <p:cNvSpPr/>
          <p:nvPr/>
        </p:nvSpPr>
        <p:spPr>
          <a:xfrm>
            <a:off x="4736592" y="1408176"/>
            <a:ext cx="3977640" cy="1874520"/>
          </a:xfrm>
          <a:prstGeom prst="rect">
            <a:avLst/>
          </a:prstGeom>
          <a:noFill/>
        </p:spPr>
        <p:txBody>
          <a:bodyPr wrap="square" lIns="0" tIns="0" rIns="0" bIns="0" rtlCol="0" anchor="ctr"/>
          <a:lstStyle/>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Cash generated from each Customer Segment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Asset sale: selling ownership of a physical/digital product</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Subscription fee: recurring charge for ongoing access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Transaction fee: per-use charge — classic MoMo model</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Freemium: free basic tier + paid premium features</a:t>
            </a:r>
            <a:endParaRPr lang="en-US" sz="1150" dirty="0"/>
          </a:p>
          <a:p>
            <a:pPr marL="342900" indent="-342900">
              <a:buSzPct val="100000"/>
              <a:buChar char="•"/>
            </a:pPr>
            <a:r>
              <a:rPr lang="en-US" sz="1150" dirty="0">
                <a:solidFill>
                  <a:srgbClr val="64748B"/>
                </a:solidFill>
                <a:latin typeface="Calibri" panose="020F05020202040A0204" pitchFamily="34" charset="0"/>
                <a:ea typeface="Calibri" panose="020F05020202040A0204" pitchFamily="34" charset="-122"/>
                <a:cs typeface="Calibri" panose="020F05020202040A0204" pitchFamily="34" charset="-120"/>
              </a:rPr>
              <a:t>Licensing: fee to use your IP, brand or platform</a:t>
            </a:r>
            <a:endParaRPr lang="en-US" sz="1150" dirty="0"/>
          </a:p>
        </p:txBody>
      </p:sp>
      <p:sp>
        <p:nvSpPr>
          <p:cNvPr id="15" name="Shape 13"/>
          <p:cNvSpPr/>
          <p:nvPr/>
        </p:nvSpPr>
        <p:spPr>
          <a:xfrm>
            <a:off x="365760" y="3566160"/>
            <a:ext cx="8412480" cy="1188720"/>
          </a:xfrm>
          <a:prstGeom prst="rect">
            <a:avLst/>
          </a:prstGeom>
          <a:solidFill>
            <a:srgbClr val="E8F4FD"/>
          </a:solidFill>
        </p:spPr>
      </p:sp>
      <p:sp>
        <p:nvSpPr>
          <p:cNvPr id="16" name="Shape 14"/>
          <p:cNvSpPr/>
          <p:nvPr/>
        </p:nvSpPr>
        <p:spPr>
          <a:xfrm>
            <a:off x="365760" y="3566160"/>
            <a:ext cx="64008" cy="1188720"/>
          </a:xfrm>
          <a:prstGeom prst="rect">
            <a:avLst/>
          </a:prstGeom>
          <a:solidFill>
            <a:srgbClr val="FFC20E"/>
          </a:solidFill>
        </p:spPr>
      </p:sp>
      <p:sp>
        <p:nvSpPr>
          <p:cNvPr id="17" name="Text 15"/>
          <p:cNvSpPr/>
          <p:nvPr/>
        </p:nvSpPr>
        <p:spPr>
          <a:xfrm>
            <a:off x="566928" y="3675888"/>
            <a:ext cx="809244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The fundamental question every investor will ask:</a:t>
            </a:r>
            <a:endParaRPr lang="en-US" sz="1300" dirty="0"/>
          </a:p>
        </p:txBody>
      </p:sp>
      <p:sp>
        <p:nvSpPr>
          <p:cNvPr id="18" name="Text 16"/>
          <p:cNvSpPr/>
          <p:nvPr/>
        </p:nvSpPr>
        <p:spPr>
          <a:xfrm>
            <a:off x="566928" y="4069080"/>
            <a:ext cx="8092440" cy="594360"/>
          </a:xfrm>
          <a:prstGeom prst="rect">
            <a:avLst/>
          </a:prstGeom>
          <a:noFill/>
        </p:spPr>
        <p:txBody>
          <a:bodyPr wrap="square" lIns="0" tIns="0" rIns="0" bIns="0" rtlCol="0" anchor="ctr"/>
          <a:lstStyle/>
          <a:p>
            <a:pPr marL="0" indent="0">
              <a:buNone/>
            </a:pPr>
            <a:r>
              <a:rPr lang="en-US" sz="1300" i="1" dirty="0">
                <a:solidFill>
                  <a:srgbClr val="1E293B"/>
                </a:solidFill>
                <a:latin typeface="Calibri" panose="020F05020202040A0204" pitchFamily="34" charset="0"/>
                <a:ea typeface="Calibri" panose="020F05020202040A0204" pitchFamily="34" charset="-122"/>
                <a:cs typeface="Calibri" panose="020F05020202040A0204" pitchFamily="34" charset="-120"/>
              </a:rPr>
              <a:t>"Are your Revenue Streams greater than your Cost Structure? If not today — what is your credible path to when they will be, and by when?"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465"/>
            <a:ext cx="641096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Business Diagnostics: Is Your Venture on Track?</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Text 5"/>
          <p:cNvSpPr/>
          <p:nvPr/>
        </p:nvSpPr>
        <p:spPr>
          <a:xfrm>
            <a:off x="457200" y="868680"/>
            <a:ext cx="822960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Diagnostics are regular health checks. Use data and evidence, not gut feelings, to assess your model.</a:t>
            </a:r>
            <a:endParaRPr lang="en-US" sz="1300" dirty="0"/>
          </a:p>
        </p:txBody>
      </p:sp>
      <p:sp>
        <p:nvSpPr>
          <p:cNvPr id="8" name="Shape 6"/>
          <p:cNvSpPr/>
          <p:nvPr/>
        </p:nvSpPr>
        <p:spPr>
          <a:xfrm>
            <a:off x="365760" y="1371600"/>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71600"/>
            <a:ext cx="64008" cy="566928"/>
          </a:xfrm>
          <a:prstGeom prst="rect">
            <a:avLst/>
          </a:prstGeom>
          <a:solidFill>
            <a:srgbClr val="00AEEF"/>
          </a:solidFill>
        </p:spPr>
      </p:sp>
      <p:sp>
        <p:nvSpPr>
          <p:cNvPr id="10" name="Text 8"/>
          <p:cNvSpPr/>
          <p:nvPr/>
        </p:nvSpPr>
        <p:spPr>
          <a:xfrm>
            <a:off x="548640" y="1481328"/>
            <a:ext cx="1280160" cy="347472"/>
          </a:xfrm>
          <a:prstGeom prst="rect">
            <a:avLst/>
          </a:prstGeom>
          <a:noFill/>
        </p:spPr>
        <p:txBody>
          <a:bodyPr wrap="square" lIns="0" tIns="0" rIns="0" bIns="0" rtlCol="0" anchor="ctr"/>
          <a:lstStyle/>
          <a:p>
            <a:pPr marL="0" indent="0">
              <a:buNone/>
            </a:pPr>
            <a:r>
              <a:rPr lang="en-US" sz="12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Customers</a:t>
            </a:r>
            <a:endParaRPr lang="en-US" sz="1200" dirty="0"/>
          </a:p>
        </p:txBody>
      </p:sp>
      <p:sp>
        <p:nvSpPr>
          <p:cNvPr id="11" name="Text 9"/>
          <p:cNvSpPr/>
          <p:nvPr/>
        </p:nvSpPr>
        <p:spPr>
          <a:xfrm>
            <a:off x="1965960" y="1481328"/>
            <a:ext cx="502920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Are you acquiring customers at a sustainable cost?</a:t>
            </a:r>
            <a:endParaRPr lang="en-US" sz="1200" dirty="0"/>
          </a:p>
        </p:txBody>
      </p:sp>
      <p:sp>
        <p:nvSpPr>
          <p:cNvPr id="12" name="Text 10"/>
          <p:cNvSpPr/>
          <p:nvPr/>
        </p:nvSpPr>
        <p:spPr>
          <a:xfrm>
            <a:off x="7132320" y="1481328"/>
            <a:ext cx="1508760" cy="347472"/>
          </a:xfrm>
          <a:prstGeom prst="rect">
            <a:avLst/>
          </a:prstGeom>
          <a:noFill/>
        </p:spPr>
        <p:txBody>
          <a:bodyPr wrap="square" lIns="0" tIns="0" rIns="0" bIns="0" rtlCol="0" anchor="ctr"/>
          <a:lstStyle/>
          <a:p>
            <a:pPr marL="0" indent="0" algn="r">
              <a:buNone/>
            </a:pPr>
            <a:r>
              <a:rPr lang="en-US" sz="1100" b="1" dirty="0">
                <a:solidFill>
                  <a:srgbClr val="00AEEF"/>
                </a:solidFill>
                <a:latin typeface="Calibri" panose="020F05020202040A0204" pitchFamily="34" charset="0"/>
                <a:ea typeface="Calibri" panose="020F05020202040A0204" pitchFamily="34" charset="-122"/>
                <a:cs typeface="Calibri" panose="020F05020202040A0204" pitchFamily="34" charset="-120"/>
              </a:rPr>
              <a:t>CAC vs LTV</a:t>
            </a:r>
            <a:endParaRPr lang="en-US" sz="1100" dirty="0"/>
          </a:p>
        </p:txBody>
      </p:sp>
      <p:sp>
        <p:nvSpPr>
          <p:cNvPr id="13" name="Shape 11"/>
          <p:cNvSpPr/>
          <p:nvPr/>
        </p:nvSpPr>
        <p:spPr>
          <a:xfrm>
            <a:off x="365760" y="2048256"/>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14" name="Shape 12"/>
          <p:cNvSpPr/>
          <p:nvPr/>
        </p:nvSpPr>
        <p:spPr>
          <a:xfrm>
            <a:off x="365760" y="2048256"/>
            <a:ext cx="64008" cy="566928"/>
          </a:xfrm>
          <a:prstGeom prst="rect">
            <a:avLst/>
          </a:prstGeom>
          <a:solidFill>
            <a:srgbClr val="FFC20E"/>
          </a:solidFill>
        </p:spPr>
      </p:sp>
      <p:sp>
        <p:nvSpPr>
          <p:cNvPr id="15" name="Text 13"/>
          <p:cNvSpPr/>
          <p:nvPr/>
        </p:nvSpPr>
        <p:spPr>
          <a:xfrm>
            <a:off x="548640" y="2157984"/>
            <a:ext cx="1280160" cy="347472"/>
          </a:xfrm>
          <a:prstGeom prst="rect">
            <a:avLst/>
          </a:prstGeom>
          <a:noFill/>
        </p:spPr>
        <p:txBody>
          <a:bodyPr wrap="square" lIns="0" tIns="0" rIns="0" bIns="0" rtlCol="0" anchor="ctr"/>
          <a:lstStyle/>
          <a:p>
            <a:pPr marL="0" indent="0">
              <a:buNone/>
            </a:pPr>
            <a:r>
              <a:rPr lang="en-US" sz="1200" b="1" dirty="0">
                <a:solidFill>
                  <a:srgbClr val="FFC20E"/>
                </a:solidFill>
                <a:latin typeface="Trebuchet MS" panose="020B0703020202090204" pitchFamily="34" charset="0"/>
                <a:ea typeface="Trebuchet MS" panose="020B0703020202090204" pitchFamily="34" charset="-122"/>
                <a:cs typeface="Trebuchet MS" panose="020B0703020202090204" pitchFamily="34" charset="-120"/>
              </a:rPr>
              <a:t>Revenue</a:t>
            </a:r>
            <a:endParaRPr lang="en-US" sz="1200" dirty="0"/>
          </a:p>
        </p:txBody>
      </p:sp>
      <p:sp>
        <p:nvSpPr>
          <p:cNvPr id="16" name="Text 14"/>
          <p:cNvSpPr/>
          <p:nvPr/>
        </p:nvSpPr>
        <p:spPr>
          <a:xfrm>
            <a:off x="1965960" y="2157984"/>
            <a:ext cx="502920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Are your revenue streams validated with paying customers?</a:t>
            </a:r>
            <a:endParaRPr lang="en-US" sz="1200" dirty="0"/>
          </a:p>
        </p:txBody>
      </p:sp>
      <p:sp>
        <p:nvSpPr>
          <p:cNvPr id="17" name="Text 15"/>
          <p:cNvSpPr/>
          <p:nvPr/>
        </p:nvSpPr>
        <p:spPr>
          <a:xfrm>
            <a:off x="7132320" y="2157984"/>
            <a:ext cx="1508760" cy="347472"/>
          </a:xfrm>
          <a:prstGeom prst="rect">
            <a:avLst/>
          </a:prstGeom>
          <a:noFill/>
        </p:spPr>
        <p:txBody>
          <a:bodyPr wrap="square" lIns="0" tIns="0" rIns="0" bIns="0" rtlCol="0" anchor="ctr"/>
          <a:lstStyle/>
          <a:p>
            <a:pPr marL="0" indent="0" algn="r">
              <a:buNone/>
            </a:pPr>
            <a:r>
              <a:rPr lang="en-US" sz="1100" b="1" dirty="0">
                <a:solidFill>
                  <a:srgbClr val="FFC20E"/>
                </a:solidFill>
                <a:latin typeface="Calibri" panose="020F05020202040A0204" pitchFamily="34" charset="0"/>
                <a:ea typeface="Calibri" panose="020F05020202040A0204" pitchFamily="34" charset="-122"/>
                <a:cs typeface="Calibri" panose="020F05020202040A0204" pitchFamily="34" charset="-120"/>
              </a:rPr>
              <a:t>MRR / ARR</a:t>
            </a:r>
            <a:endParaRPr lang="en-US" sz="1100" dirty="0"/>
          </a:p>
        </p:txBody>
      </p:sp>
      <p:sp>
        <p:nvSpPr>
          <p:cNvPr id="18" name="Shape 16"/>
          <p:cNvSpPr/>
          <p:nvPr/>
        </p:nvSpPr>
        <p:spPr>
          <a:xfrm>
            <a:off x="365760" y="2724912"/>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19" name="Shape 17"/>
          <p:cNvSpPr/>
          <p:nvPr/>
        </p:nvSpPr>
        <p:spPr>
          <a:xfrm>
            <a:off x="365760" y="2724912"/>
            <a:ext cx="64008" cy="566928"/>
          </a:xfrm>
          <a:prstGeom prst="rect">
            <a:avLst/>
          </a:prstGeom>
          <a:solidFill>
            <a:srgbClr val="009A44"/>
          </a:solidFill>
        </p:spPr>
      </p:sp>
      <p:sp>
        <p:nvSpPr>
          <p:cNvPr id="20" name="Text 18"/>
          <p:cNvSpPr/>
          <p:nvPr/>
        </p:nvSpPr>
        <p:spPr>
          <a:xfrm>
            <a:off x="548640" y="2834640"/>
            <a:ext cx="1280160" cy="347472"/>
          </a:xfrm>
          <a:prstGeom prst="rect">
            <a:avLst/>
          </a:prstGeom>
          <a:noFill/>
        </p:spPr>
        <p:txBody>
          <a:bodyPr wrap="square" lIns="0" tIns="0" rIns="0" bIns="0" rtlCol="0" anchor="ctr"/>
          <a:lstStyle/>
          <a:p>
            <a:pPr marL="0" indent="0">
              <a:buNone/>
            </a:pPr>
            <a:r>
              <a:rPr lang="en-US" sz="1200" b="1" dirty="0">
                <a:solidFill>
                  <a:srgbClr val="009A44"/>
                </a:solidFill>
                <a:latin typeface="Trebuchet MS" panose="020B0703020202090204" pitchFamily="34" charset="0"/>
                <a:ea typeface="Trebuchet MS" panose="020B0703020202090204" pitchFamily="34" charset="-122"/>
                <a:cs typeface="Trebuchet MS" panose="020B0703020202090204" pitchFamily="34" charset="-120"/>
              </a:rPr>
              <a:t>Product</a:t>
            </a:r>
            <a:endParaRPr lang="en-US" sz="1200" dirty="0"/>
          </a:p>
        </p:txBody>
      </p:sp>
      <p:sp>
        <p:nvSpPr>
          <p:cNvPr id="21" name="Text 19"/>
          <p:cNvSpPr/>
          <p:nvPr/>
        </p:nvSpPr>
        <p:spPr>
          <a:xfrm>
            <a:off x="1965960" y="2834640"/>
            <a:ext cx="502920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Are customers getting and using the value you promised?</a:t>
            </a:r>
            <a:endParaRPr lang="en-US" sz="1200" dirty="0"/>
          </a:p>
        </p:txBody>
      </p:sp>
      <p:sp>
        <p:nvSpPr>
          <p:cNvPr id="22" name="Text 20"/>
          <p:cNvSpPr/>
          <p:nvPr/>
        </p:nvSpPr>
        <p:spPr>
          <a:xfrm>
            <a:off x="7132320" y="2834640"/>
            <a:ext cx="1508760" cy="347472"/>
          </a:xfrm>
          <a:prstGeom prst="rect">
            <a:avLst/>
          </a:prstGeom>
          <a:noFill/>
        </p:spPr>
        <p:txBody>
          <a:bodyPr wrap="square" lIns="0" tIns="0" rIns="0" bIns="0" rtlCol="0" anchor="ctr"/>
          <a:lstStyle/>
          <a:p>
            <a:pPr marL="0" indent="0" algn="r">
              <a:buNone/>
            </a:pPr>
            <a:r>
              <a:rPr lang="en-US" sz="1100" b="1" dirty="0">
                <a:solidFill>
                  <a:srgbClr val="009A44"/>
                </a:solidFill>
                <a:latin typeface="Calibri" panose="020F05020202040A0204" pitchFamily="34" charset="0"/>
                <a:ea typeface="Calibri" panose="020F05020202040A0204" pitchFamily="34" charset="-122"/>
                <a:cs typeface="Calibri" panose="020F05020202040A0204" pitchFamily="34" charset="-120"/>
              </a:rPr>
              <a:t>Retention %</a:t>
            </a:r>
            <a:endParaRPr lang="en-US" sz="1100" dirty="0"/>
          </a:p>
        </p:txBody>
      </p:sp>
      <p:sp>
        <p:nvSpPr>
          <p:cNvPr id="23" name="Shape 21"/>
          <p:cNvSpPr/>
          <p:nvPr/>
        </p:nvSpPr>
        <p:spPr>
          <a:xfrm>
            <a:off x="365760" y="3401568"/>
            <a:ext cx="8412480" cy="566928"/>
          </a:xfrm>
          <a:prstGeom prst="rect">
            <a:avLst/>
          </a:prstGeom>
          <a:solidFill>
            <a:srgbClr val="F4F8FC"/>
          </a:solidFill>
          <a:effectLst>
            <a:outerShdw blurRad="101600" dist="25400" dir="8100000" algn="bl" rotWithShape="0">
              <a:srgbClr val="000000">
                <a:alpha val="10000"/>
              </a:srgbClr>
            </a:outerShdw>
          </a:effectLst>
        </p:spPr>
      </p:sp>
      <p:sp>
        <p:nvSpPr>
          <p:cNvPr id="24" name="Shape 22"/>
          <p:cNvSpPr/>
          <p:nvPr/>
        </p:nvSpPr>
        <p:spPr>
          <a:xfrm>
            <a:off x="365760" y="3401568"/>
            <a:ext cx="64008" cy="566928"/>
          </a:xfrm>
          <a:prstGeom prst="rect">
            <a:avLst/>
          </a:prstGeom>
          <a:solidFill>
            <a:srgbClr val="00539C"/>
          </a:solidFill>
        </p:spPr>
      </p:sp>
      <p:sp>
        <p:nvSpPr>
          <p:cNvPr id="25" name="Text 23"/>
          <p:cNvSpPr/>
          <p:nvPr/>
        </p:nvSpPr>
        <p:spPr>
          <a:xfrm>
            <a:off x="548640" y="3511296"/>
            <a:ext cx="1280160" cy="347472"/>
          </a:xfrm>
          <a:prstGeom prst="rect">
            <a:avLst/>
          </a:prstGeom>
          <a:noFill/>
        </p:spPr>
        <p:txBody>
          <a:bodyPr wrap="square" lIns="0" tIns="0" rIns="0" bIns="0" rtlCol="0" anchor="ctr"/>
          <a:lstStyle/>
          <a:p>
            <a:pPr marL="0" indent="0">
              <a:buNone/>
            </a:pPr>
            <a:r>
              <a:rPr lang="en-US" sz="1200" b="1" dirty="0">
                <a:solidFill>
                  <a:srgbClr val="00539C"/>
                </a:solidFill>
                <a:latin typeface="Trebuchet MS" panose="020B0703020202090204" pitchFamily="34" charset="0"/>
                <a:ea typeface="Trebuchet MS" panose="020B0703020202090204" pitchFamily="34" charset="-122"/>
                <a:cs typeface="Trebuchet MS" panose="020B0703020202090204" pitchFamily="34" charset="-120"/>
              </a:rPr>
              <a:t>Operations</a:t>
            </a:r>
            <a:endParaRPr lang="en-US" sz="1200" dirty="0"/>
          </a:p>
        </p:txBody>
      </p:sp>
      <p:sp>
        <p:nvSpPr>
          <p:cNvPr id="26" name="Text 24"/>
          <p:cNvSpPr/>
          <p:nvPr/>
        </p:nvSpPr>
        <p:spPr>
          <a:xfrm>
            <a:off x="1965960" y="3511296"/>
            <a:ext cx="502920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Are your key activities efficient and scalable?</a:t>
            </a:r>
            <a:endParaRPr lang="en-US" sz="1200" dirty="0"/>
          </a:p>
        </p:txBody>
      </p:sp>
      <p:sp>
        <p:nvSpPr>
          <p:cNvPr id="27" name="Text 25"/>
          <p:cNvSpPr/>
          <p:nvPr/>
        </p:nvSpPr>
        <p:spPr>
          <a:xfrm>
            <a:off x="7132320" y="3511296"/>
            <a:ext cx="1508760" cy="347472"/>
          </a:xfrm>
          <a:prstGeom prst="rect">
            <a:avLst/>
          </a:prstGeom>
          <a:noFill/>
        </p:spPr>
        <p:txBody>
          <a:bodyPr wrap="square" lIns="0" tIns="0" rIns="0" bIns="0" rtlCol="0" anchor="ctr"/>
          <a:lstStyle/>
          <a:p>
            <a:pPr marL="0" indent="0" algn="r">
              <a:buNone/>
            </a:pPr>
            <a:r>
              <a:rPr lang="en-US" sz="1100" b="1" dirty="0">
                <a:solidFill>
                  <a:srgbClr val="00539C"/>
                </a:solidFill>
                <a:latin typeface="Calibri" panose="020F05020202040A0204" pitchFamily="34" charset="0"/>
                <a:ea typeface="Calibri" panose="020F05020202040A0204" pitchFamily="34" charset="-122"/>
                <a:cs typeface="Calibri" panose="020F05020202040A0204" pitchFamily="34" charset="-120"/>
              </a:rPr>
              <a:t>Burn Rate</a:t>
            </a:r>
            <a:endParaRPr lang="en-US" sz="1100" dirty="0"/>
          </a:p>
        </p:txBody>
      </p:sp>
      <p:sp>
        <p:nvSpPr>
          <p:cNvPr id="28" name="Shape 26"/>
          <p:cNvSpPr/>
          <p:nvPr/>
        </p:nvSpPr>
        <p:spPr>
          <a:xfrm>
            <a:off x="365760" y="4078224"/>
            <a:ext cx="8412480" cy="566928"/>
          </a:xfrm>
          <a:prstGeom prst="rect">
            <a:avLst/>
          </a:prstGeom>
          <a:solidFill>
            <a:srgbClr val="FFFFFF"/>
          </a:solidFill>
          <a:effectLst>
            <a:outerShdw blurRad="101600" dist="25400" dir="8100000" algn="bl" rotWithShape="0">
              <a:srgbClr val="000000">
                <a:alpha val="10000"/>
              </a:srgbClr>
            </a:outerShdw>
          </a:effectLst>
        </p:spPr>
      </p:sp>
      <p:sp>
        <p:nvSpPr>
          <p:cNvPr id="29" name="Shape 27"/>
          <p:cNvSpPr/>
          <p:nvPr/>
        </p:nvSpPr>
        <p:spPr>
          <a:xfrm>
            <a:off x="365760" y="4078224"/>
            <a:ext cx="64008" cy="566928"/>
          </a:xfrm>
          <a:prstGeom prst="rect">
            <a:avLst/>
          </a:prstGeom>
          <a:solidFill>
            <a:srgbClr val="0A2540"/>
          </a:solidFill>
        </p:spPr>
      </p:sp>
      <p:sp>
        <p:nvSpPr>
          <p:cNvPr id="30" name="Text 28"/>
          <p:cNvSpPr/>
          <p:nvPr/>
        </p:nvSpPr>
        <p:spPr>
          <a:xfrm>
            <a:off x="548640" y="4187952"/>
            <a:ext cx="1280160" cy="347472"/>
          </a:xfrm>
          <a:prstGeom prst="rect">
            <a:avLst/>
          </a:prstGeom>
          <a:noFill/>
        </p:spPr>
        <p:txBody>
          <a:bodyPr wrap="square" lIns="0" tIns="0" rIns="0" bIns="0" rtlCol="0" anchor="ctr"/>
          <a:lstStyle/>
          <a:p>
            <a:pPr marL="0" indent="0">
              <a:buNone/>
            </a:pPr>
            <a:r>
              <a:rPr lang="en-US" sz="12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Partners</a:t>
            </a:r>
            <a:endParaRPr lang="en-US" sz="1200" dirty="0"/>
          </a:p>
        </p:txBody>
      </p:sp>
      <p:sp>
        <p:nvSpPr>
          <p:cNvPr id="31" name="Text 29"/>
          <p:cNvSpPr/>
          <p:nvPr/>
        </p:nvSpPr>
        <p:spPr>
          <a:xfrm>
            <a:off x="1965960" y="4187952"/>
            <a:ext cx="5029200" cy="347472"/>
          </a:xfrm>
          <a:prstGeom prst="rect">
            <a:avLst/>
          </a:prstGeom>
          <a:noFill/>
        </p:spPr>
        <p:txBody>
          <a:bodyPr wrap="square" lIns="0" tIns="0" rIns="0" bIns="0" rtlCol="0" anchor="ctr"/>
          <a:lstStyle/>
          <a:p>
            <a:pPr marL="0" indent="0">
              <a:buNone/>
            </a:pPr>
            <a:r>
              <a:rPr lang="en-US" sz="1200" dirty="0">
                <a:solidFill>
                  <a:srgbClr val="1E293B"/>
                </a:solidFill>
                <a:latin typeface="Calibri" panose="020F05020202040A0204" pitchFamily="34" charset="0"/>
                <a:ea typeface="Calibri" panose="020F05020202040A0204" pitchFamily="34" charset="-122"/>
                <a:cs typeface="Calibri" panose="020F05020202040A0204" pitchFamily="34" charset="-120"/>
              </a:rPr>
              <a:t>Do your partnerships deliver their expected value?</a:t>
            </a:r>
            <a:endParaRPr lang="en-US" sz="1200" dirty="0"/>
          </a:p>
        </p:txBody>
      </p:sp>
      <p:sp>
        <p:nvSpPr>
          <p:cNvPr id="32" name="Text 30"/>
          <p:cNvSpPr/>
          <p:nvPr/>
        </p:nvSpPr>
        <p:spPr>
          <a:xfrm>
            <a:off x="7132320" y="4187952"/>
            <a:ext cx="1508760" cy="347472"/>
          </a:xfrm>
          <a:prstGeom prst="rect">
            <a:avLst/>
          </a:prstGeom>
          <a:noFill/>
        </p:spPr>
        <p:txBody>
          <a:bodyPr wrap="square" lIns="0" tIns="0" rIns="0" bIns="0" rtlCol="0" anchor="ctr"/>
          <a:lstStyle/>
          <a:p>
            <a:pPr marL="0" indent="0" algn="r">
              <a:buNone/>
            </a:pPr>
            <a:r>
              <a:rPr lang="en-US" sz="1100" b="1" dirty="0">
                <a:solidFill>
                  <a:srgbClr val="0A2540"/>
                </a:solidFill>
                <a:latin typeface="Calibri" panose="020F05020202040A0204" pitchFamily="34" charset="0"/>
                <a:ea typeface="Calibri" panose="020F05020202040A0204" pitchFamily="34" charset="-122"/>
                <a:cs typeface="Calibri" panose="020F05020202040A0204" pitchFamily="34" charset="-120"/>
              </a:rPr>
              <a:t>Partner ROI</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7315200" y="-1097280"/>
            <a:ext cx="2743200" cy="2743200"/>
          </a:xfrm>
          <a:prstGeom prst="ellipse">
            <a:avLst/>
          </a:prstGeom>
          <a:solidFill>
            <a:srgbClr val="00AEEF">
              <a:alpha val="15000"/>
            </a:srgbClr>
          </a:solidFill>
        </p:spPr>
      </p:sp>
      <p:sp>
        <p:nvSpPr>
          <p:cNvPr id="3" name="Shape 1"/>
          <p:cNvSpPr/>
          <p:nvPr/>
        </p:nvSpPr>
        <p:spPr>
          <a:xfrm>
            <a:off x="0" y="0"/>
            <a:ext cx="164592" cy="5143500"/>
          </a:xfrm>
          <a:prstGeom prst="rect">
            <a:avLst/>
          </a:prstGeom>
          <a:solidFill>
            <a:srgbClr val="00AEEF"/>
          </a:solidFill>
        </p:spPr>
      </p:sp>
      <p:sp>
        <p:nvSpPr>
          <p:cNvPr id="4" name="Text 2"/>
          <p:cNvSpPr/>
          <p:nvPr/>
        </p:nvSpPr>
        <p:spPr>
          <a:xfrm>
            <a:off x="347472" y="201168"/>
            <a:ext cx="4572000" cy="347472"/>
          </a:xfrm>
          <a:prstGeom prst="rect">
            <a:avLst/>
          </a:prstGeom>
          <a:noFill/>
        </p:spPr>
        <p:txBody>
          <a:bodyPr wrap="square" lIns="0" tIns="0" rIns="0" bIns="0" rtlCol="0" anchor="ctr"/>
          <a:lstStyle/>
          <a:p>
            <a:pPr marL="0" indent="0">
              <a:buNone/>
            </a:pPr>
            <a:r>
              <a:rPr lang="en-US" sz="1100" kern="0" spc="300" dirty="0">
                <a:solidFill>
                  <a:srgbClr val="00AEEF"/>
                </a:solidFill>
                <a:latin typeface="Calibri" panose="020F05020202040A0204" pitchFamily="34" charset="0"/>
                <a:ea typeface="Calibri" panose="020F05020202040A0204" pitchFamily="34" charset="-122"/>
                <a:cs typeface="Calibri" panose="020F05020202040A0204" pitchFamily="34" charset="-120"/>
              </a:rPr>
              <a:t>GHANA CASE STUDY</a:t>
            </a:r>
            <a:endParaRPr lang="en-US" sz="1100" dirty="0"/>
          </a:p>
        </p:txBody>
      </p:sp>
      <p:sp>
        <p:nvSpPr>
          <p:cNvPr id="5" name="Text 3"/>
          <p:cNvSpPr/>
          <p:nvPr/>
        </p:nvSpPr>
        <p:spPr>
          <a:xfrm>
            <a:off x="347472" y="566928"/>
            <a:ext cx="6858000" cy="804672"/>
          </a:xfrm>
          <a:prstGeom prst="rect">
            <a:avLst/>
          </a:prstGeom>
          <a:noFill/>
        </p:spPr>
        <p:txBody>
          <a:bodyPr wrap="square" lIns="0" tIns="0" rIns="0" bIns="0" rtlCol="0" anchor="ctr"/>
          <a:lstStyle/>
          <a:p>
            <a:pPr marL="0" indent="0">
              <a:buNone/>
            </a:pPr>
            <a:r>
              <a:rPr lang="en-US" sz="4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Farmerline</a:t>
            </a:r>
            <a:endParaRPr lang="en-US" sz="4000" dirty="0"/>
          </a:p>
        </p:txBody>
      </p:sp>
      <p:sp>
        <p:nvSpPr>
          <p:cNvPr id="6" name="Text 4"/>
          <p:cNvSpPr/>
          <p:nvPr/>
        </p:nvSpPr>
        <p:spPr>
          <a:xfrm>
            <a:off x="347472" y="1408176"/>
            <a:ext cx="6400800" cy="365760"/>
          </a:xfrm>
          <a:prstGeom prst="rect">
            <a:avLst/>
          </a:prstGeom>
          <a:noFill/>
        </p:spPr>
        <p:txBody>
          <a:bodyPr wrap="square" lIns="0" tIns="0" rIns="0" bIns="0" rtlCol="0" anchor="ctr"/>
          <a:lstStyle/>
          <a:p>
            <a:pPr marL="0" indent="0">
              <a:buNone/>
            </a:pPr>
            <a:r>
              <a:rPr lang="en-US" sz="1400" dirty="0">
                <a:solidFill>
                  <a:srgbClr val="00AEEF"/>
                </a:solidFill>
                <a:latin typeface="Calibri" panose="020F05020202040A0204" pitchFamily="34" charset="0"/>
                <a:ea typeface="Calibri" panose="020F05020202040A0204" pitchFamily="34" charset="-122"/>
                <a:cs typeface="Calibri" panose="020F05020202040A0204" pitchFamily="34" charset="-120"/>
              </a:rPr>
              <a:t>AgriTech  |  Accra, Ghana  |  Founded 2013</a:t>
            </a:r>
            <a:endParaRPr lang="en-US" sz="1400" dirty="0"/>
          </a:p>
        </p:txBody>
      </p:sp>
      <p:sp>
        <p:nvSpPr>
          <p:cNvPr id="7" name="Shape 5"/>
          <p:cNvSpPr/>
          <p:nvPr/>
        </p:nvSpPr>
        <p:spPr>
          <a:xfrm>
            <a:off x="347472" y="1901952"/>
            <a:ext cx="8412480" cy="457200"/>
          </a:xfrm>
          <a:prstGeom prst="rect">
            <a:avLst/>
          </a:prstGeom>
          <a:solidFill>
            <a:srgbClr val="0D1E35"/>
          </a:solidFill>
        </p:spPr>
      </p:sp>
      <p:sp>
        <p:nvSpPr>
          <p:cNvPr id="8" name="Shape 6"/>
          <p:cNvSpPr/>
          <p:nvPr/>
        </p:nvSpPr>
        <p:spPr>
          <a:xfrm>
            <a:off x="347472" y="1901952"/>
            <a:ext cx="64008" cy="457200"/>
          </a:xfrm>
          <a:prstGeom prst="rect">
            <a:avLst/>
          </a:prstGeom>
          <a:solidFill>
            <a:srgbClr val="00AEEF"/>
          </a:solidFill>
        </p:spPr>
      </p:sp>
      <p:sp>
        <p:nvSpPr>
          <p:cNvPr id="9" name="Text 7"/>
          <p:cNvSpPr/>
          <p:nvPr/>
        </p:nvSpPr>
        <p:spPr>
          <a:xfrm>
            <a:off x="530352" y="1984248"/>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Problem:</a:t>
            </a:r>
            <a:endParaRPr lang="en-US" sz="1100" dirty="0"/>
          </a:p>
        </p:txBody>
      </p:sp>
      <p:sp>
        <p:nvSpPr>
          <p:cNvPr id="10" name="Text 8"/>
          <p:cNvSpPr/>
          <p:nvPr/>
        </p:nvSpPr>
        <p:spPr>
          <a:xfrm>
            <a:off x="2011680" y="1984248"/>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Smallholder farmers lack access to weather data, crop prices, and agronomic advisory</a:t>
            </a:r>
            <a:endParaRPr lang="en-US" sz="1100" dirty="0"/>
          </a:p>
        </p:txBody>
      </p:sp>
      <p:sp>
        <p:nvSpPr>
          <p:cNvPr id="11" name="Shape 9"/>
          <p:cNvSpPr/>
          <p:nvPr/>
        </p:nvSpPr>
        <p:spPr>
          <a:xfrm>
            <a:off x="347472" y="2432304"/>
            <a:ext cx="8412480" cy="457200"/>
          </a:xfrm>
          <a:prstGeom prst="rect">
            <a:avLst/>
          </a:prstGeom>
          <a:solidFill>
            <a:srgbClr val="0D1E35"/>
          </a:solidFill>
        </p:spPr>
      </p:sp>
      <p:sp>
        <p:nvSpPr>
          <p:cNvPr id="12" name="Shape 10"/>
          <p:cNvSpPr/>
          <p:nvPr/>
        </p:nvSpPr>
        <p:spPr>
          <a:xfrm>
            <a:off x="347472" y="2432304"/>
            <a:ext cx="64008" cy="457200"/>
          </a:xfrm>
          <a:prstGeom prst="rect">
            <a:avLst/>
          </a:prstGeom>
          <a:solidFill>
            <a:srgbClr val="00AEEF"/>
          </a:solidFill>
        </p:spPr>
      </p:sp>
      <p:sp>
        <p:nvSpPr>
          <p:cNvPr id="13" name="Text 11"/>
          <p:cNvSpPr/>
          <p:nvPr/>
        </p:nvSpPr>
        <p:spPr>
          <a:xfrm>
            <a:off x="530352" y="2514600"/>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Segments:</a:t>
            </a:r>
            <a:endParaRPr lang="en-US" sz="1100" dirty="0"/>
          </a:p>
        </p:txBody>
      </p:sp>
      <p:sp>
        <p:nvSpPr>
          <p:cNvPr id="14" name="Text 12"/>
          <p:cNvSpPr/>
          <p:nvPr/>
        </p:nvSpPr>
        <p:spPr>
          <a:xfrm>
            <a:off x="2011680" y="2514600"/>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500,000+ smallholder farmers; agribusinesses and NGOs across West Africa</a:t>
            </a:r>
            <a:endParaRPr lang="en-US" sz="1100" dirty="0"/>
          </a:p>
        </p:txBody>
      </p:sp>
      <p:sp>
        <p:nvSpPr>
          <p:cNvPr id="15" name="Shape 13"/>
          <p:cNvSpPr/>
          <p:nvPr/>
        </p:nvSpPr>
        <p:spPr>
          <a:xfrm>
            <a:off x="347472" y="2962656"/>
            <a:ext cx="8412480" cy="457200"/>
          </a:xfrm>
          <a:prstGeom prst="rect">
            <a:avLst/>
          </a:prstGeom>
          <a:solidFill>
            <a:srgbClr val="0D1E35"/>
          </a:solidFill>
        </p:spPr>
      </p:sp>
      <p:sp>
        <p:nvSpPr>
          <p:cNvPr id="16" name="Shape 14"/>
          <p:cNvSpPr/>
          <p:nvPr/>
        </p:nvSpPr>
        <p:spPr>
          <a:xfrm>
            <a:off x="347472" y="2962656"/>
            <a:ext cx="64008" cy="457200"/>
          </a:xfrm>
          <a:prstGeom prst="rect">
            <a:avLst/>
          </a:prstGeom>
          <a:solidFill>
            <a:srgbClr val="00AEEF"/>
          </a:solidFill>
        </p:spPr>
      </p:sp>
      <p:sp>
        <p:nvSpPr>
          <p:cNvPr id="17" name="Text 15"/>
          <p:cNvSpPr/>
          <p:nvPr/>
        </p:nvSpPr>
        <p:spPr>
          <a:xfrm>
            <a:off x="530352" y="3044952"/>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Value Prop:</a:t>
            </a:r>
            <a:endParaRPr lang="en-US" sz="1100" dirty="0"/>
          </a:p>
        </p:txBody>
      </p:sp>
      <p:sp>
        <p:nvSpPr>
          <p:cNvPr id="18" name="Text 16"/>
          <p:cNvSpPr/>
          <p:nvPr/>
        </p:nvSpPr>
        <p:spPr>
          <a:xfrm>
            <a:off x="2011680" y="3044952"/>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Actionable agricultural data in local languages via USSD, SMS, and mobile app</a:t>
            </a:r>
            <a:endParaRPr lang="en-US" sz="1100" dirty="0"/>
          </a:p>
        </p:txBody>
      </p:sp>
      <p:sp>
        <p:nvSpPr>
          <p:cNvPr id="19" name="Shape 17"/>
          <p:cNvSpPr/>
          <p:nvPr/>
        </p:nvSpPr>
        <p:spPr>
          <a:xfrm>
            <a:off x="347472" y="3493008"/>
            <a:ext cx="8412480" cy="457200"/>
          </a:xfrm>
          <a:prstGeom prst="rect">
            <a:avLst/>
          </a:prstGeom>
          <a:solidFill>
            <a:srgbClr val="0D1E35"/>
          </a:solidFill>
        </p:spPr>
      </p:sp>
      <p:sp>
        <p:nvSpPr>
          <p:cNvPr id="20" name="Shape 18"/>
          <p:cNvSpPr/>
          <p:nvPr/>
        </p:nvSpPr>
        <p:spPr>
          <a:xfrm>
            <a:off x="347472" y="3493008"/>
            <a:ext cx="64008" cy="457200"/>
          </a:xfrm>
          <a:prstGeom prst="rect">
            <a:avLst/>
          </a:prstGeom>
          <a:solidFill>
            <a:srgbClr val="00AEEF"/>
          </a:solidFill>
        </p:spPr>
      </p:sp>
      <p:sp>
        <p:nvSpPr>
          <p:cNvPr id="21" name="Text 19"/>
          <p:cNvSpPr/>
          <p:nvPr/>
        </p:nvSpPr>
        <p:spPr>
          <a:xfrm>
            <a:off x="530352" y="3575304"/>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Channels:</a:t>
            </a:r>
            <a:endParaRPr lang="en-US" sz="1100" dirty="0"/>
          </a:p>
        </p:txBody>
      </p:sp>
      <p:sp>
        <p:nvSpPr>
          <p:cNvPr id="22" name="Text 20"/>
          <p:cNvSpPr/>
          <p:nvPr/>
        </p:nvSpPr>
        <p:spPr>
          <a:xfrm>
            <a:off x="2011680" y="3575304"/>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USSD *844#, SMS broadcast, mobile app, community field agents, community radio</a:t>
            </a:r>
            <a:endParaRPr lang="en-US" sz="1100" dirty="0"/>
          </a:p>
        </p:txBody>
      </p:sp>
      <p:sp>
        <p:nvSpPr>
          <p:cNvPr id="23" name="Shape 21"/>
          <p:cNvSpPr/>
          <p:nvPr/>
        </p:nvSpPr>
        <p:spPr>
          <a:xfrm>
            <a:off x="347472" y="4023360"/>
            <a:ext cx="8412480" cy="457200"/>
          </a:xfrm>
          <a:prstGeom prst="rect">
            <a:avLst/>
          </a:prstGeom>
          <a:solidFill>
            <a:srgbClr val="0D1E35"/>
          </a:solidFill>
        </p:spPr>
      </p:sp>
      <p:sp>
        <p:nvSpPr>
          <p:cNvPr id="24" name="Shape 22"/>
          <p:cNvSpPr/>
          <p:nvPr/>
        </p:nvSpPr>
        <p:spPr>
          <a:xfrm>
            <a:off x="347472" y="4023360"/>
            <a:ext cx="64008" cy="457200"/>
          </a:xfrm>
          <a:prstGeom prst="rect">
            <a:avLst/>
          </a:prstGeom>
          <a:solidFill>
            <a:srgbClr val="00AEEF"/>
          </a:solidFill>
        </p:spPr>
      </p:sp>
      <p:sp>
        <p:nvSpPr>
          <p:cNvPr id="25" name="Text 23"/>
          <p:cNvSpPr/>
          <p:nvPr/>
        </p:nvSpPr>
        <p:spPr>
          <a:xfrm>
            <a:off x="530352" y="4105656"/>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Revenue:</a:t>
            </a:r>
            <a:endParaRPr lang="en-US" sz="1100" dirty="0"/>
          </a:p>
        </p:txBody>
      </p:sp>
      <p:sp>
        <p:nvSpPr>
          <p:cNvPr id="26" name="Text 24"/>
          <p:cNvSpPr/>
          <p:nvPr/>
        </p:nvSpPr>
        <p:spPr>
          <a:xfrm>
            <a:off x="2011680" y="4105656"/>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B2B SaaS fees from NGOs/agribusinesses + donor grants + micro-payment subscriptions</a:t>
            </a:r>
            <a:endParaRPr lang="en-US" sz="1100" dirty="0"/>
          </a:p>
        </p:txBody>
      </p:sp>
      <p:sp>
        <p:nvSpPr>
          <p:cNvPr id="27" name="Shape 25"/>
          <p:cNvSpPr/>
          <p:nvPr/>
        </p:nvSpPr>
        <p:spPr>
          <a:xfrm>
            <a:off x="347472" y="4553712"/>
            <a:ext cx="8412480" cy="457200"/>
          </a:xfrm>
          <a:prstGeom prst="rect">
            <a:avLst/>
          </a:prstGeom>
          <a:solidFill>
            <a:srgbClr val="0D1E35"/>
          </a:solidFill>
        </p:spPr>
      </p:sp>
      <p:sp>
        <p:nvSpPr>
          <p:cNvPr id="28" name="Shape 26"/>
          <p:cNvSpPr/>
          <p:nvPr/>
        </p:nvSpPr>
        <p:spPr>
          <a:xfrm>
            <a:off x="347472" y="4553712"/>
            <a:ext cx="64008" cy="457200"/>
          </a:xfrm>
          <a:prstGeom prst="rect">
            <a:avLst/>
          </a:prstGeom>
          <a:solidFill>
            <a:srgbClr val="00AEEF"/>
          </a:solidFill>
        </p:spPr>
      </p:sp>
      <p:sp>
        <p:nvSpPr>
          <p:cNvPr id="29" name="Text 27"/>
          <p:cNvSpPr/>
          <p:nvPr/>
        </p:nvSpPr>
        <p:spPr>
          <a:xfrm>
            <a:off x="530352" y="4636008"/>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Key Insight:</a:t>
            </a:r>
            <a:endParaRPr lang="en-US" sz="1100" dirty="0"/>
          </a:p>
        </p:txBody>
      </p:sp>
      <p:sp>
        <p:nvSpPr>
          <p:cNvPr id="30" name="Text 28"/>
          <p:cNvSpPr/>
          <p:nvPr/>
        </p:nvSpPr>
        <p:spPr>
          <a:xfrm>
            <a:off x="2011680" y="4636008"/>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Offline-first (USSD/SMS) strategy was critical for reaching rural Ghana — not a compromise</a:t>
            </a:r>
            <a:endParaRPr lang="en-US" sz="1100" dirty="0"/>
          </a:p>
        </p:txBody>
      </p:sp>
      <p:sp>
        <p:nvSpPr>
          <p:cNvPr id="31" name="Shape 29"/>
          <p:cNvSpPr/>
          <p:nvPr/>
        </p:nvSpPr>
        <p:spPr>
          <a:xfrm>
            <a:off x="6949440" y="91440"/>
            <a:ext cx="1828800" cy="384048"/>
          </a:xfrm>
          <a:prstGeom prst="rect">
            <a:avLst/>
          </a:prstGeom>
          <a:solidFill>
            <a:srgbClr val="00AEEF"/>
          </a:solidFill>
        </p:spPr>
      </p:sp>
      <p:sp>
        <p:nvSpPr>
          <p:cNvPr id="32" name="Text 30"/>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7315200" y="-1097280"/>
            <a:ext cx="2743200" cy="2743200"/>
          </a:xfrm>
          <a:prstGeom prst="ellipse">
            <a:avLst/>
          </a:prstGeom>
          <a:solidFill>
            <a:srgbClr val="00AEEF">
              <a:alpha val="15000"/>
            </a:srgbClr>
          </a:solidFill>
        </p:spPr>
      </p:sp>
      <p:sp>
        <p:nvSpPr>
          <p:cNvPr id="3" name="Shape 1"/>
          <p:cNvSpPr/>
          <p:nvPr/>
        </p:nvSpPr>
        <p:spPr>
          <a:xfrm>
            <a:off x="0" y="0"/>
            <a:ext cx="164592" cy="5143500"/>
          </a:xfrm>
          <a:prstGeom prst="rect">
            <a:avLst/>
          </a:prstGeom>
          <a:solidFill>
            <a:srgbClr val="00AEEF"/>
          </a:solidFill>
        </p:spPr>
      </p:sp>
      <p:sp>
        <p:nvSpPr>
          <p:cNvPr id="4" name="Text 2"/>
          <p:cNvSpPr/>
          <p:nvPr/>
        </p:nvSpPr>
        <p:spPr>
          <a:xfrm>
            <a:off x="347472" y="235458"/>
            <a:ext cx="4572000" cy="347472"/>
          </a:xfrm>
          <a:prstGeom prst="rect">
            <a:avLst/>
          </a:prstGeom>
          <a:noFill/>
        </p:spPr>
        <p:txBody>
          <a:bodyPr wrap="square" lIns="0" tIns="0" rIns="0" bIns="0" rtlCol="0" anchor="ctr"/>
          <a:lstStyle/>
          <a:p>
            <a:pPr marL="0" indent="0">
              <a:buNone/>
            </a:pPr>
            <a:r>
              <a:rPr lang="en-US" sz="1100" kern="0" spc="300" dirty="0">
                <a:solidFill>
                  <a:srgbClr val="00AEEF"/>
                </a:solidFill>
                <a:latin typeface="Calibri" panose="020F05020202040A0204" pitchFamily="34" charset="0"/>
                <a:ea typeface="Calibri" panose="020F05020202040A0204" pitchFamily="34" charset="-122"/>
                <a:cs typeface="Calibri" panose="020F05020202040A0204" pitchFamily="34" charset="-120"/>
              </a:rPr>
              <a:t>GHANA CASE STUDY</a:t>
            </a:r>
            <a:endParaRPr lang="en-US" sz="1100" dirty="0"/>
          </a:p>
        </p:txBody>
      </p:sp>
      <p:sp>
        <p:nvSpPr>
          <p:cNvPr id="5" name="Text 3"/>
          <p:cNvSpPr/>
          <p:nvPr/>
        </p:nvSpPr>
        <p:spPr>
          <a:xfrm>
            <a:off x="347472" y="601218"/>
            <a:ext cx="6858000" cy="804672"/>
          </a:xfrm>
          <a:prstGeom prst="rect">
            <a:avLst/>
          </a:prstGeom>
          <a:noFill/>
        </p:spPr>
        <p:txBody>
          <a:bodyPr wrap="square" lIns="0" tIns="0" rIns="0" bIns="0" rtlCol="0" anchor="ctr"/>
          <a:lstStyle/>
          <a:p>
            <a:pPr marL="0" indent="0">
              <a:buNone/>
            </a:pPr>
            <a:r>
              <a:rPr lang="en-US" sz="4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Hubtel</a:t>
            </a:r>
            <a:endParaRPr lang="en-US" sz="4000" dirty="0"/>
          </a:p>
        </p:txBody>
      </p:sp>
      <p:sp>
        <p:nvSpPr>
          <p:cNvPr id="6" name="Text 4"/>
          <p:cNvSpPr/>
          <p:nvPr/>
        </p:nvSpPr>
        <p:spPr>
          <a:xfrm>
            <a:off x="347472" y="1442466"/>
            <a:ext cx="6400800" cy="365760"/>
          </a:xfrm>
          <a:prstGeom prst="rect">
            <a:avLst/>
          </a:prstGeom>
          <a:noFill/>
        </p:spPr>
        <p:txBody>
          <a:bodyPr wrap="square" lIns="0" tIns="0" rIns="0" bIns="0" rtlCol="0" anchor="ctr"/>
          <a:lstStyle/>
          <a:p>
            <a:pPr marL="0" indent="0">
              <a:buNone/>
            </a:pPr>
            <a:r>
              <a:rPr lang="en-US" sz="1400" dirty="0">
                <a:solidFill>
                  <a:srgbClr val="00AEEF"/>
                </a:solidFill>
                <a:latin typeface="Calibri" panose="020F05020202040A0204" pitchFamily="34" charset="0"/>
                <a:ea typeface="Calibri" panose="020F05020202040A0204" pitchFamily="34" charset="-122"/>
                <a:cs typeface="Calibri" panose="020F05020202040A0204" pitchFamily="34" charset="-120"/>
              </a:rPr>
              <a:t>FinTech / API Platform  |  Accra, Ghana  |  Founded 2006</a:t>
            </a:r>
            <a:endParaRPr lang="en-US" sz="1400" dirty="0"/>
          </a:p>
        </p:txBody>
      </p:sp>
      <p:sp>
        <p:nvSpPr>
          <p:cNvPr id="7" name="Shape 5"/>
          <p:cNvSpPr/>
          <p:nvPr/>
        </p:nvSpPr>
        <p:spPr>
          <a:xfrm>
            <a:off x="347472" y="1959102"/>
            <a:ext cx="8412480" cy="457200"/>
          </a:xfrm>
          <a:prstGeom prst="rect">
            <a:avLst/>
          </a:prstGeom>
          <a:solidFill>
            <a:srgbClr val="0D1E35"/>
          </a:solidFill>
        </p:spPr>
      </p:sp>
      <p:sp>
        <p:nvSpPr>
          <p:cNvPr id="8" name="Shape 6"/>
          <p:cNvSpPr/>
          <p:nvPr/>
        </p:nvSpPr>
        <p:spPr>
          <a:xfrm>
            <a:off x="347472" y="1936242"/>
            <a:ext cx="64008" cy="457200"/>
          </a:xfrm>
          <a:prstGeom prst="rect">
            <a:avLst/>
          </a:prstGeom>
          <a:solidFill>
            <a:srgbClr val="00AEEF"/>
          </a:solidFill>
        </p:spPr>
      </p:sp>
      <p:sp>
        <p:nvSpPr>
          <p:cNvPr id="9" name="Text 7"/>
          <p:cNvSpPr/>
          <p:nvPr/>
        </p:nvSpPr>
        <p:spPr>
          <a:xfrm>
            <a:off x="530352" y="2018538"/>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Problem:</a:t>
            </a:r>
            <a:endParaRPr lang="en-US" sz="1100" dirty="0"/>
          </a:p>
        </p:txBody>
      </p:sp>
      <p:sp>
        <p:nvSpPr>
          <p:cNvPr id="10" name="Text 8"/>
          <p:cNvSpPr/>
          <p:nvPr/>
        </p:nvSpPr>
        <p:spPr>
          <a:xfrm>
            <a:off x="2011680" y="2041398"/>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Businesses in Ghana could not easily integrate mobile payments or bulk SMS into their systems</a:t>
            </a:r>
            <a:endParaRPr lang="en-US" sz="1100" dirty="0"/>
          </a:p>
        </p:txBody>
      </p:sp>
      <p:sp>
        <p:nvSpPr>
          <p:cNvPr id="11" name="Shape 9"/>
          <p:cNvSpPr/>
          <p:nvPr/>
        </p:nvSpPr>
        <p:spPr>
          <a:xfrm>
            <a:off x="347472" y="2489454"/>
            <a:ext cx="8412480" cy="457200"/>
          </a:xfrm>
          <a:prstGeom prst="rect">
            <a:avLst/>
          </a:prstGeom>
          <a:solidFill>
            <a:srgbClr val="0D1E35"/>
          </a:solidFill>
        </p:spPr>
      </p:sp>
      <p:sp>
        <p:nvSpPr>
          <p:cNvPr id="12" name="Shape 10"/>
          <p:cNvSpPr/>
          <p:nvPr/>
        </p:nvSpPr>
        <p:spPr>
          <a:xfrm>
            <a:off x="347472" y="2466594"/>
            <a:ext cx="64008" cy="457200"/>
          </a:xfrm>
          <a:prstGeom prst="rect">
            <a:avLst/>
          </a:prstGeom>
          <a:solidFill>
            <a:srgbClr val="00AEEF"/>
          </a:solidFill>
        </p:spPr>
      </p:sp>
      <p:sp>
        <p:nvSpPr>
          <p:cNvPr id="13" name="Text 11"/>
          <p:cNvSpPr/>
          <p:nvPr/>
        </p:nvSpPr>
        <p:spPr>
          <a:xfrm>
            <a:off x="530352" y="2548890"/>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Segments:</a:t>
            </a:r>
            <a:endParaRPr lang="en-US" sz="1100" dirty="0"/>
          </a:p>
        </p:txBody>
      </p:sp>
      <p:sp>
        <p:nvSpPr>
          <p:cNvPr id="14" name="Text 12"/>
          <p:cNvSpPr/>
          <p:nvPr/>
        </p:nvSpPr>
        <p:spPr>
          <a:xfrm>
            <a:off x="2011680" y="2571750"/>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B2B: banks, retailers, telcos, government agencies, fintechs,  all businesses needing payment infrastructure</a:t>
            </a:r>
            <a:endParaRPr lang="en-US" sz="1100" dirty="0"/>
          </a:p>
        </p:txBody>
      </p:sp>
      <p:sp>
        <p:nvSpPr>
          <p:cNvPr id="15" name="Shape 13"/>
          <p:cNvSpPr/>
          <p:nvPr/>
        </p:nvSpPr>
        <p:spPr>
          <a:xfrm>
            <a:off x="347472" y="3019806"/>
            <a:ext cx="8412480" cy="457200"/>
          </a:xfrm>
          <a:prstGeom prst="rect">
            <a:avLst/>
          </a:prstGeom>
          <a:solidFill>
            <a:srgbClr val="0D1E35"/>
          </a:solidFill>
        </p:spPr>
      </p:sp>
      <p:sp>
        <p:nvSpPr>
          <p:cNvPr id="16" name="Shape 14"/>
          <p:cNvSpPr/>
          <p:nvPr/>
        </p:nvSpPr>
        <p:spPr>
          <a:xfrm>
            <a:off x="347472" y="2996946"/>
            <a:ext cx="64008" cy="457200"/>
          </a:xfrm>
          <a:prstGeom prst="rect">
            <a:avLst/>
          </a:prstGeom>
          <a:solidFill>
            <a:srgbClr val="00AEEF"/>
          </a:solidFill>
        </p:spPr>
      </p:sp>
      <p:sp>
        <p:nvSpPr>
          <p:cNvPr id="17" name="Text 15"/>
          <p:cNvSpPr/>
          <p:nvPr/>
        </p:nvSpPr>
        <p:spPr>
          <a:xfrm>
            <a:off x="530352" y="3079242"/>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Value Prop:</a:t>
            </a:r>
            <a:endParaRPr lang="en-US" sz="1100" dirty="0"/>
          </a:p>
        </p:txBody>
      </p:sp>
      <p:sp>
        <p:nvSpPr>
          <p:cNvPr id="18" name="Text 16"/>
          <p:cNvSpPr/>
          <p:nvPr/>
        </p:nvSpPr>
        <p:spPr>
          <a:xfrm>
            <a:off x="2011680" y="3102102"/>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API-first platform to send/receive payments and messages , integrate in hours, not months</a:t>
            </a:r>
            <a:endParaRPr lang="en-US" sz="1100" dirty="0"/>
          </a:p>
        </p:txBody>
      </p:sp>
      <p:sp>
        <p:nvSpPr>
          <p:cNvPr id="19" name="Shape 17"/>
          <p:cNvSpPr/>
          <p:nvPr/>
        </p:nvSpPr>
        <p:spPr>
          <a:xfrm>
            <a:off x="347472" y="3550158"/>
            <a:ext cx="8412480" cy="457200"/>
          </a:xfrm>
          <a:prstGeom prst="rect">
            <a:avLst/>
          </a:prstGeom>
          <a:solidFill>
            <a:srgbClr val="0D1E35"/>
          </a:solidFill>
        </p:spPr>
      </p:sp>
      <p:sp>
        <p:nvSpPr>
          <p:cNvPr id="20" name="Shape 18"/>
          <p:cNvSpPr/>
          <p:nvPr/>
        </p:nvSpPr>
        <p:spPr>
          <a:xfrm>
            <a:off x="347472" y="3527298"/>
            <a:ext cx="64008" cy="457200"/>
          </a:xfrm>
          <a:prstGeom prst="rect">
            <a:avLst/>
          </a:prstGeom>
          <a:solidFill>
            <a:srgbClr val="00AEEF"/>
          </a:solidFill>
        </p:spPr>
      </p:sp>
      <p:sp>
        <p:nvSpPr>
          <p:cNvPr id="21" name="Text 19"/>
          <p:cNvSpPr/>
          <p:nvPr/>
        </p:nvSpPr>
        <p:spPr>
          <a:xfrm>
            <a:off x="530352" y="3609594"/>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Channels:</a:t>
            </a:r>
            <a:endParaRPr lang="en-US" sz="1100" dirty="0"/>
          </a:p>
        </p:txBody>
      </p:sp>
      <p:sp>
        <p:nvSpPr>
          <p:cNvPr id="22" name="Text 20"/>
          <p:cNvSpPr/>
          <p:nvPr/>
        </p:nvSpPr>
        <p:spPr>
          <a:xfrm>
            <a:off x="2011680" y="3632454"/>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Developer documentation portal, direct enterprise sales team, partner bank relationships</a:t>
            </a:r>
            <a:endParaRPr lang="en-US" sz="1100" dirty="0"/>
          </a:p>
        </p:txBody>
      </p:sp>
      <p:sp>
        <p:nvSpPr>
          <p:cNvPr id="23" name="Shape 21"/>
          <p:cNvSpPr/>
          <p:nvPr/>
        </p:nvSpPr>
        <p:spPr>
          <a:xfrm>
            <a:off x="347472" y="4080510"/>
            <a:ext cx="8412480" cy="457200"/>
          </a:xfrm>
          <a:prstGeom prst="rect">
            <a:avLst/>
          </a:prstGeom>
          <a:solidFill>
            <a:srgbClr val="0D1E35"/>
          </a:solidFill>
        </p:spPr>
      </p:sp>
      <p:sp>
        <p:nvSpPr>
          <p:cNvPr id="24" name="Shape 22"/>
          <p:cNvSpPr/>
          <p:nvPr/>
        </p:nvSpPr>
        <p:spPr>
          <a:xfrm>
            <a:off x="347472" y="4057650"/>
            <a:ext cx="64008" cy="457200"/>
          </a:xfrm>
          <a:prstGeom prst="rect">
            <a:avLst/>
          </a:prstGeom>
          <a:solidFill>
            <a:srgbClr val="00AEEF"/>
          </a:solidFill>
        </p:spPr>
      </p:sp>
      <p:sp>
        <p:nvSpPr>
          <p:cNvPr id="25" name="Text 23"/>
          <p:cNvSpPr/>
          <p:nvPr/>
        </p:nvSpPr>
        <p:spPr>
          <a:xfrm>
            <a:off x="530352" y="4139946"/>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Revenue:</a:t>
            </a:r>
            <a:endParaRPr lang="en-US" sz="1100" dirty="0"/>
          </a:p>
        </p:txBody>
      </p:sp>
      <p:sp>
        <p:nvSpPr>
          <p:cNvPr id="26" name="Text 24"/>
          <p:cNvSpPr/>
          <p:nvPr/>
        </p:nvSpPr>
        <p:spPr>
          <a:xfrm>
            <a:off x="2011680" y="4162806"/>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API transaction fees + SaaS subscription tiers + payment processing margin</a:t>
            </a:r>
            <a:endParaRPr lang="en-US" sz="1100" dirty="0"/>
          </a:p>
        </p:txBody>
      </p:sp>
      <p:sp>
        <p:nvSpPr>
          <p:cNvPr id="27" name="Shape 25"/>
          <p:cNvSpPr/>
          <p:nvPr/>
        </p:nvSpPr>
        <p:spPr>
          <a:xfrm>
            <a:off x="347472" y="4610862"/>
            <a:ext cx="8412480" cy="457200"/>
          </a:xfrm>
          <a:prstGeom prst="rect">
            <a:avLst/>
          </a:prstGeom>
          <a:solidFill>
            <a:srgbClr val="0D1E35"/>
          </a:solidFill>
        </p:spPr>
      </p:sp>
      <p:sp>
        <p:nvSpPr>
          <p:cNvPr id="28" name="Shape 26"/>
          <p:cNvSpPr/>
          <p:nvPr/>
        </p:nvSpPr>
        <p:spPr>
          <a:xfrm>
            <a:off x="347472" y="4588002"/>
            <a:ext cx="64008" cy="457200"/>
          </a:xfrm>
          <a:prstGeom prst="rect">
            <a:avLst/>
          </a:prstGeom>
          <a:solidFill>
            <a:srgbClr val="00AEEF"/>
          </a:solidFill>
        </p:spPr>
      </p:sp>
      <p:sp>
        <p:nvSpPr>
          <p:cNvPr id="29" name="Text 27"/>
          <p:cNvSpPr/>
          <p:nvPr/>
        </p:nvSpPr>
        <p:spPr>
          <a:xfrm>
            <a:off x="530352" y="4670298"/>
            <a:ext cx="1417320" cy="274320"/>
          </a:xfrm>
          <a:prstGeom prst="rect">
            <a:avLst/>
          </a:prstGeom>
          <a:noFill/>
        </p:spPr>
        <p:txBody>
          <a:bodyPr wrap="square" lIns="0" tIns="0" rIns="0" bIns="0" rtlCol="0" anchor="ctr"/>
          <a:lstStyle/>
          <a:p>
            <a:pPr marL="0" indent="0">
              <a:buNone/>
            </a:pPr>
            <a:r>
              <a:rPr lang="en-US" sz="11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Key Insight:</a:t>
            </a:r>
            <a:endParaRPr lang="en-US" sz="1100" dirty="0"/>
          </a:p>
        </p:txBody>
      </p:sp>
      <p:sp>
        <p:nvSpPr>
          <p:cNvPr id="30" name="Text 28"/>
          <p:cNvSpPr/>
          <p:nvPr/>
        </p:nvSpPr>
        <p:spPr>
          <a:xfrm>
            <a:off x="2011680" y="4693158"/>
            <a:ext cx="6583680" cy="274320"/>
          </a:xfrm>
          <a:prstGeom prst="rect">
            <a:avLst/>
          </a:prstGeom>
          <a:noFill/>
        </p:spPr>
        <p:txBody>
          <a:bodyPr wrap="square" lIns="0" tIns="0" rIns="0" bIns="0" rtlCol="0" anchor="ctr"/>
          <a:lstStyle/>
          <a:p>
            <a:pPr marL="0" indent="0">
              <a:buNone/>
            </a:pPr>
            <a:r>
              <a:rPr lang="en-US" sz="1100" dirty="0">
                <a:solidFill>
                  <a:srgbClr val="E8F4FD"/>
                </a:solidFill>
                <a:latin typeface="Calibri" panose="020F05020202040A0204" pitchFamily="34" charset="0"/>
                <a:ea typeface="Calibri" panose="020F05020202040A0204" pitchFamily="34" charset="-122"/>
                <a:cs typeface="Calibri" panose="020F05020202040A0204" pitchFamily="34" charset="-120"/>
              </a:rPr>
              <a:t>Won by serving developers first — built trust with technical buyers, then scaled to enterprise contracts</a:t>
            </a:r>
            <a:endParaRPr lang="en-US" sz="1100" dirty="0"/>
          </a:p>
        </p:txBody>
      </p:sp>
      <p:sp>
        <p:nvSpPr>
          <p:cNvPr id="31" name="Shape 29"/>
          <p:cNvSpPr/>
          <p:nvPr/>
        </p:nvSpPr>
        <p:spPr>
          <a:xfrm>
            <a:off x="6949440" y="91440"/>
            <a:ext cx="1828800" cy="384048"/>
          </a:xfrm>
          <a:prstGeom prst="rect">
            <a:avLst/>
          </a:prstGeom>
          <a:solidFill>
            <a:srgbClr val="00AEEF"/>
          </a:solidFill>
        </p:spPr>
      </p:sp>
      <p:sp>
        <p:nvSpPr>
          <p:cNvPr id="32" name="Text 30"/>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6858000" y="-1371600"/>
            <a:ext cx="3200400" cy="3200400"/>
          </a:xfrm>
          <a:prstGeom prst="ellipse">
            <a:avLst/>
          </a:prstGeom>
          <a:solidFill>
            <a:srgbClr val="00AEEF">
              <a:alpha val="12000"/>
            </a:srgbClr>
          </a:solidFill>
        </p:spPr>
      </p:sp>
      <p:sp>
        <p:nvSpPr>
          <p:cNvPr id="3" name="Shape 1"/>
          <p:cNvSpPr/>
          <p:nvPr/>
        </p:nvSpPr>
        <p:spPr>
          <a:xfrm>
            <a:off x="0" y="0"/>
            <a:ext cx="164592" cy="5143500"/>
          </a:xfrm>
          <a:prstGeom prst="rect">
            <a:avLst/>
          </a:prstGeom>
          <a:solidFill>
            <a:srgbClr val="00AEEF"/>
          </a:solidFill>
        </p:spPr>
      </p:sp>
      <p:sp>
        <p:nvSpPr>
          <p:cNvPr id="4" name="Text 2"/>
          <p:cNvSpPr/>
          <p:nvPr/>
        </p:nvSpPr>
        <p:spPr>
          <a:xfrm>
            <a:off x="347472" y="228600"/>
            <a:ext cx="3657600" cy="347472"/>
          </a:xfrm>
          <a:prstGeom prst="rect">
            <a:avLst/>
          </a:prstGeom>
          <a:noFill/>
        </p:spPr>
        <p:txBody>
          <a:bodyPr wrap="square" lIns="0" tIns="0" rIns="0" bIns="0" rtlCol="0" anchor="ctr"/>
          <a:lstStyle/>
          <a:p>
            <a:pPr marL="0" indent="0">
              <a:buNone/>
            </a:pPr>
            <a:r>
              <a:rPr lang="en-US" sz="1100" kern="0" spc="400" dirty="0">
                <a:solidFill>
                  <a:srgbClr val="00AEEF"/>
                </a:solidFill>
                <a:latin typeface="Calibri" panose="020F05020202040A0204" pitchFamily="34" charset="0"/>
                <a:ea typeface="Calibri" panose="020F05020202040A0204" pitchFamily="34" charset="-122"/>
                <a:cs typeface="Calibri" panose="020F05020202040A0204" pitchFamily="34" charset="-120"/>
              </a:rPr>
              <a:t>EXERCISE</a:t>
            </a:r>
            <a:endParaRPr lang="en-US" sz="1100" dirty="0"/>
          </a:p>
        </p:txBody>
      </p:sp>
      <p:sp>
        <p:nvSpPr>
          <p:cNvPr id="5" name="Text 3"/>
          <p:cNvSpPr/>
          <p:nvPr/>
        </p:nvSpPr>
        <p:spPr>
          <a:xfrm>
            <a:off x="347472" y="594360"/>
            <a:ext cx="7772400" cy="960120"/>
          </a:xfrm>
          <a:prstGeom prst="rect">
            <a:avLst/>
          </a:prstGeom>
          <a:noFill/>
        </p:spPr>
        <p:txBody>
          <a:bodyPr wrap="square" lIns="0" tIns="0" rIns="0" bIns="0" rtlCol="0" anchor="ctr"/>
          <a:lstStyle/>
          <a:p>
            <a:pPr marL="0" indent="0">
              <a:buNone/>
            </a:pPr>
            <a:r>
              <a:rPr lang="en-US" sz="30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Build Your Business Model Canvas</a:t>
            </a:r>
            <a:endParaRPr lang="en-US" sz="3000" dirty="0"/>
          </a:p>
        </p:txBody>
      </p:sp>
      <p:sp>
        <p:nvSpPr>
          <p:cNvPr id="6" name="Shape 4"/>
          <p:cNvSpPr/>
          <p:nvPr/>
        </p:nvSpPr>
        <p:spPr>
          <a:xfrm>
            <a:off x="347472" y="1719072"/>
            <a:ext cx="8412480" cy="512064"/>
          </a:xfrm>
          <a:prstGeom prst="rect">
            <a:avLst/>
          </a:prstGeom>
          <a:solidFill>
            <a:srgbClr val="112A47"/>
          </a:solidFill>
        </p:spPr>
      </p:sp>
      <p:sp>
        <p:nvSpPr>
          <p:cNvPr id="7" name="Shape 5"/>
          <p:cNvSpPr/>
          <p:nvPr/>
        </p:nvSpPr>
        <p:spPr>
          <a:xfrm>
            <a:off x="438912" y="1773936"/>
            <a:ext cx="402336" cy="402336"/>
          </a:xfrm>
          <a:prstGeom prst="ellipse">
            <a:avLst/>
          </a:prstGeom>
          <a:solidFill>
            <a:srgbClr val="00AEEF"/>
          </a:solidFill>
        </p:spPr>
      </p:sp>
      <p:sp>
        <p:nvSpPr>
          <p:cNvPr id="8" name="Text 6"/>
          <p:cNvSpPr/>
          <p:nvPr/>
        </p:nvSpPr>
        <p:spPr>
          <a:xfrm>
            <a:off x="438912" y="1773936"/>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A</a:t>
            </a:r>
            <a:endParaRPr lang="en-US" sz="1300" dirty="0"/>
          </a:p>
        </p:txBody>
      </p:sp>
      <p:sp>
        <p:nvSpPr>
          <p:cNvPr id="9" name="Text 7"/>
          <p:cNvSpPr/>
          <p:nvPr/>
        </p:nvSpPr>
        <p:spPr>
          <a:xfrm>
            <a:off x="987552" y="1837944"/>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[5 min]</a:t>
            </a:r>
            <a:endParaRPr lang="en-US" sz="1000" dirty="0"/>
          </a:p>
        </p:txBody>
      </p:sp>
      <p:sp>
        <p:nvSpPr>
          <p:cNvPr id="10" name="Text 8"/>
          <p:cNvSpPr/>
          <p:nvPr/>
        </p:nvSpPr>
        <p:spPr>
          <a:xfrm>
            <a:off x="1901952" y="1837944"/>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Individually: Fill in Customer Segments and Value Propositions be as specific as possible</a:t>
            </a:r>
            <a:endParaRPr lang="en-US" sz="1150" dirty="0"/>
          </a:p>
        </p:txBody>
      </p:sp>
      <p:sp>
        <p:nvSpPr>
          <p:cNvPr id="11" name="Shape 9"/>
          <p:cNvSpPr/>
          <p:nvPr/>
        </p:nvSpPr>
        <p:spPr>
          <a:xfrm>
            <a:off x="347472" y="2304288"/>
            <a:ext cx="8412480" cy="512064"/>
          </a:xfrm>
          <a:prstGeom prst="rect">
            <a:avLst/>
          </a:prstGeom>
          <a:solidFill>
            <a:srgbClr val="112A47"/>
          </a:solidFill>
        </p:spPr>
      </p:sp>
      <p:sp>
        <p:nvSpPr>
          <p:cNvPr id="12" name="Shape 10"/>
          <p:cNvSpPr/>
          <p:nvPr/>
        </p:nvSpPr>
        <p:spPr>
          <a:xfrm>
            <a:off x="438912" y="2359152"/>
            <a:ext cx="402336" cy="402336"/>
          </a:xfrm>
          <a:prstGeom prst="ellipse">
            <a:avLst/>
          </a:prstGeom>
          <a:solidFill>
            <a:srgbClr val="00AEEF"/>
          </a:solidFill>
        </p:spPr>
      </p:sp>
      <p:sp>
        <p:nvSpPr>
          <p:cNvPr id="13" name="Text 11"/>
          <p:cNvSpPr/>
          <p:nvPr/>
        </p:nvSpPr>
        <p:spPr>
          <a:xfrm>
            <a:off x="438912" y="235915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B</a:t>
            </a:r>
            <a:endParaRPr lang="en-US" sz="1300" dirty="0"/>
          </a:p>
        </p:txBody>
      </p:sp>
      <p:sp>
        <p:nvSpPr>
          <p:cNvPr id="14" name="Text 12"/>
          <p:cNvSpPr/>
          <p:nvPr/>
        </p:nvSpPr>
        <p:spPr>
          <a:xfrm>
            <a:off x="987552" y="2423160"/>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15" name="Text 13"/>
          <p:cNvSpPr/>
          <p:nvPr/>
        </p:nvSpPr>
        <p:spPr>
          <a:xfrm>
            <a:off x="1901952" y="2423160"/>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Continue: Add Channels, Customer Relationships, and Revenue Streams (right + center)</a:t>
            </a:r>
            <a:endParaRPr lang="en-US" sz="1150" dirty="0"/>
          </a:p>
        </p:txBody>
      </p:sp>
      <p:sp>
        <p:nvSpPr>
          <p:cNvPr id="16" name="Shape 14"/>
          <p:cNvSpPr/>
          <p:nvPr/>
        </p:nvSpPr>
        <p:spPr>
          <a:xfrm>
            <a:off x="347472" y="2889504"/>
            <a:ext cx="8412480" cy="512064"/>
          </a:xfrm>
          <a:prstGeom prst="rect">
            <a:avLst/>
          </a:prstGeom>
          <a:solidFill>
            <a:srgbClr val="112A47"/>
          </a:solidFill>
        </p:spPr>
      </p:sp>
      <p:sp>
        <p:nvSpPr>
          <p:cNvPr id="17" name="Shape 15"/>
          <p:cNvSpPr/>
          <p:nvPr/>
        </p:nvSpPr>
        <p:spPr>
          <a:xfrm>
            <a:off x="438912" y="2944368"/>
            <a:ext cx="402336" cy="402336"/>
          </a:xfrm>
          <a:prstGeom prst="ellipse">
            <a:avLst/>
          </a:prstGeom>
          <a:solidFill>
            <a:srgbClr val="00AEEF"/>
          </a:solidFill>
        </p:spPr>
      </p:sp>
      <p:sp>
        <p:nvSpPr>
          <p:cNvPr id="18" name="Text 16"/>
          <p:cNvSpPr/>
          <p:nvPr/>
        </p:nvSpPr>
        <p:spPr>
          <a:xfrm>
            <a:off x="438912" y="294436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C</a:t>
            </a:r>
            <a:endParaRPr lang="en-US" sz="1300" dirty="0"/>
          </a:p>
        </p:txBody>
      </p:sp>
      <p:sp>
        <p:nvSpPr>
          <p:cNvPr id="19" name="Text 17"/>
          <p:cNvSpPr/>
          <p:nvPr/>
        </p:nvSpPr>
        <p:spPr>
          <a:xfrm>
            <a:off x="987552" y="3008376"/>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[10 min]</a:t>
            </a:r>
            <a:endParaRPr lang="en-US" sz="1000" dirty="0"/>
          </a:p>
        </p:txBody>
      </p:sp>
      <p:sp>
        <p:nvSpPr>
          <p:cNvPr id="20" name="Text 18"/>
          <p:cNvSpPr/>
          <p:nvPr/>
        </p:nvSpPr>
        <p:spPr>
          <a:xfrm>
            <a:off x="1901952" y="3008376"/>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Continue: Add Key Activities, Key Resources, and Key Partners (left side)</a:t>
            </a:r>
            <a:endParaRPr lang="en-US" sz="1150" dirty="0"/>
          </a:p>
        </p:txBody>
      </p:sp>
      <p:sp>
        <p:nvSpPr>
          <p:cNvPr id="21" name="Shape 19"/>
          <p:cNvSpPr/>
          <p:nvPr/>
        </p:nvSpPr>
        <p:spPr>
          <a:xfrm>
            <a:off x="347472" y="3474720"/>
            <a:ext cx="8412480" cy="512064"/>
          </a:xfrm>
          <a:prstGeom prst="rect">
            <a:avLst/>
          </a:prstGeom>
          <a:solidFill>
            <a:srgbClr val="112A47"/>
          </a:solidFill>
        </p:spPr>
      </p:sp>
      <p:sp>
        <p:nvSpPr>
          <p:cNvPr id="22" name="Shape 20"/>
          <p:cNvSpPr/>
          <p:nvPr/>
        </p:nvSpPr>
        <p:spPr>
          <a:xfrm>
            <a:off x="438912" y="3529584"/>
            <a:ext cx="402336" cy="402336"/>
          </a:xfrm>
          <a:prstGeom prst="ellipse">
            <a:avLst/>
          </a:prstGeom>
          <a:solidFill>
            <a:srgbClr val="00AEEF"/>
          </a:solidFill>
        </p:spPr>
      </p:sp>
      <p:sp>
        <p:nvSpPr>
          <p:cNvPr id="23" name="Text 21"/>
          <p:cNvSpPr/>
          <p:nvPr/>
        </p:nvSpPr>
        <p:spPr>
          <a:xfrm>
            <a:off x="438912" y="352958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D</a:t>
            </a:r>
            <a:endParaRPr lang="en-US" sz="1300" dirty="0"/>
          </a:p>
        </p:txBody>
      </p:sp>
      <p:sp>
        <p:nvSpPr>
          <p:cNvPr id="24" name="Text 22"/>
          <p:cNvSpPr/>
          <p:nvPr/>
        </p:nvSpPr>
        <p:spPr>
          <a:xfrm>
            <a:off x="987552" y="3593592"/>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[5 min]</a:t>
            </a:r>
            <a:endParaRPr lang="en-US" sz="1000" dirty="0"/>
          </a:p>
        </p:txBody>
      </p:sp>
      <p:sp>
        <p:nvSpPr>
          <p:cNvPr id="25" name="Text 23"/>
          <p:cNvSpPr/>
          <p:nvPr/>
        </p:nvSpPr>
        <p:spPr>
          <a:xfrm>
            <a:off x="1901952" y="3593592"/>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Complete: Add Cost Structure and Revenue Streams at the bottom</a:t>
            </a:r>
            <a:endParaRPr lang="en-US" sz="1150" dirty="0"/>
          </a:p>
        </p:txBody>
      </p:sp>
      <p:sp>
        <p:nvSpPr>
          <p:cNvPr id="26" name="Shape 24"/>
          <p:cNvSpPr/>
          <p:nvPr/>
        </p:nvSpPr>
        <p:spPr>
          <a:xfrm>
            <a:off x="347472" y="4059936"/>
            <a:ext cx="8412480" cy="512064"/>
          </a:xfrm>
          <a:prstGeom prst="rect">
            <a:avLst/>
          </a:prstGeom>
          <a:solidFill>
            <a:srgbClr val="112A47"/>
          </a:solidFill>
        </p:spPr>
      </p:sp>
      <p:sp>
        <p:nvSpPr>
          <p:cNvPr id="27" name="Shape 25"/>
          <p:cNvSpPr/>
          <p:nvPr/>
        </p:nvSpPr>
        <p:spPr>
          <a:xfrm>
            <a:off x="438912" y="4114800"/>
            <a:ext cx="402336" cy="402336"/>
          </a:xfrm>
          <a:prstGeom prst="ellipse">
            <a:avLst/>
          </a:prstGeom>
          <a:solidFill>
            <a:srgbClr val="00AEEF"/>
          </a:solidFill>
        </p:spPr>
      </p:sp>
      <p:sp>
        <p:nvSpPr>
          <p:cNvPr id="28" name="Text 26"/>
          <p:cNvSpPr/>
          <p:nvPr/>
        </p:nvSpPr>
        <p:spPr>
          <a:xfrm>
            <a:off x="438912" y="4114800"/>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E</a:t>
            </a:r>
            <a:endParaRPr lang="en-US" sz="1300" dirty="0"/>
          </a:p>
        </p:txBody>
      </p:sp>
      <p:sp>
        <p:nvSpPr>
          <p:cNvPr id="29" name="Text 27"/>
          <p:cNvSpPr/>
          <p:nvPr/>
        </p:nvSpPr>
        <p:spPr>
          <a:xfrm>
            <a:off x="987552" y="4178808"/>
            <a:ext cx="822960" cy="256032"/>
          </a:xfrm>
          <a:prstGeom prst="rect">
            <a:avLst/>
          </a:prstGeom>
          <a:noFill/>
        </p:spPr>
        <p:txBody>
          <a:bodyPr wrap="square" lIns="0" tIns="0" rIns="0" bIns="0" rtlCol="0" anchor="ctr"/>
          <a:lstStyle/>
          <a:p>
            <a:pPr marL="0" indent="0">
              <a:buNone/>
            </a:pPr>
            <a:r>
              <a:rPr lang="en-US" sz="1000" dirty="0">
                <a:solidFill>
                  <a:srgbClr val="FFC20E"/>
                </a:solidFill>
                <a:latin typeface="Calibri" panose="020F05020202040A0204" pitchFamily="34" charset="0"/>
                <a:ea typeface="Calibri" panose="020F05020202040A0204" pitchFamily="34" charset="-122"/>
                <a:cs typeface="Calibri" panose="020F05020202040A0204" pitchFamily="34" charset="-120"/>
              </a:rPr>
              <a:t>[15 min]</a:t>
            </a:r>
            <a:endParaRPr lang="en-US" sz="1000" dirty="0"/>
          </a:p>
        </p:txBody>
      </p:sp>
      <p:sp>
        <p:nvSpPr>
          <p:cNvPr id="30" name="Text 28"/>
          <p:cNvSpPr/>
          <p:nvPr/>
        </p:nvSpPr>
        <p:spPr>
          <a:xfrm>
            <a:off x="1901952" y="4178808"/>
            <a:ext cx="6720840" cy="256032"/>
          </a:xfrm>
          <a:prstGeom prst="rect">
            <a:avLst/>
          </a:prstGeom>
          <a:noFill/>
        </p:spPr>
        <p:txBody>
          <a:bodyPr wrap="square" lIns="0" tIns="0" rIns="0" bIns="0" rtlCol="0" anchor="ctr"/>
          <a:lstStyle/>
          <a:p>
            <a:pPr marL="0" indent="0">
              <a:buNone/>
            </a:pPr>
            <a:r>
              <a:rPr lang="en-US" sz="1150" dirty="0">
                <a:solidFill>
                  <a:srgbClr val="E8F4FD"/>
                </a:solidFill>
                <a:latin typeface="Calibri" panose="020F05020202040A0204" pitchFamily="34" charset="0"/>
                <a:ea typeface="Calibri" panose="020F05020202040A0204" pitchFamily="34" charset="-122"/>
                <a:cs typeface="Calibri" panose="020F05020202040A0204" pitchFamily="34" charset="-120"/>
              </a:rPr>
              <a:t>Peer review: Swap your BMC with a partner. Give 2 strengths and 1 specific challenge</a:t>
            </a:r>
            <a:endParaRPr lang="en-US" sz="1150" dirty="0"/>
          </a:p>
        </p:txBody>
      </p:sp>
      <p:sp>
        <p:nvSpPr>
          <p:cNvPr id="31" name="Text 29"/>
          <p:cNvSpPr/>
          <p:nvPr/>
        </p:nvSpPr>
        <p:spPr>
          <a:xfrm>
            <a:off x="347472" y="4572000"/>
            <a:ext cx="8412480" cy="292608"/>
          </a:xfrm>
          <a:prstGeom prst="rect">
            <a:avLst/>
          </a:prstGeom>
          <a:noFill/>
        </p:spPr>
        <p:txBody>
          <a:bodyPr wrap="square" lIns="0" tIns="0" rIns="0" bIns="0" rtlCol="0" anchor="ctr"/>
          <a:lstStyle/>
          <a:p>
            <a:pPr marL="0" indent="0">
              <a:buNone/>
            </a:pPr>
            <a:r>
              <a:rPr lang="en-US" sz="1100" i="1" dirty="0">
                <a:solidFill>
                  <a:srgbClr val="00AEEF"/>
                </a:solidFill>
                <a:latin typeface="Calibri" panose="020F05020202040A0204" pitchFamily="34" charset="0"/>
                <a:ea typeface="Calibri" panose="020F05020202040A0204" pitchFamily="34" charset="-122"/>
                <a:cs typeface="Calibri" panose="020F05020202040A0204" pitchFamily="34" charset="-120"/>
              </a:rPr>
              <a:t>Deliverable: A completed BMC on A3 paper or Strategyzer canvas. Able to present in 60 seconds.</a:t>
            </a:r>
            <a:endParaRPr lang="en-US" sz="1100" dirty="0"/>
          </a:p>
        </p:txBody>
      </p:sp>
      <p:sp>
        <p:nvSpPr>
          <p:cNvPr id="32" name="Shape 30"/>
          <p:cNvSpPr/>
          <p:nvPr/>
        </p:nvSpPr>
        <p:spPr>
          <a:xfrm>
            <a:off x="6949440" y="91440"/>
            <a:ext cx="1828800" cy="384048"/>
          </a:xfrm>
          <a:prstGeom prst="rect">
            <a:avLst/>
          </a:prstGeom>
          <a:solidFill>
            <a:srgbClr val="00AEEF"/>
          </a:solidFill>
        </p:spPr>
      </p:sp>
      <p:sp>
        <p:nvSpPr>
          <p:cNvPr id="33" name="Text 31"/>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1 Key Takeaways</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Shape 5"/>
          <p:cNvSpPr/>
          <p:nvPr/>
        </p:nvSpPr>
        <p:spPr>
          <a:xfrm>
            <a:off x="365760" y="960120"/>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8" name="Shape 6"/>
          <p:cNvSpPr/>
          <p:nvPr/>
        </p:nvSpPr>
        <p:spPr>
          <a:xfrm>
            <a:off x="457200" y="1106424"/>
            <a:ext cx="402336" cy="402336"/>
          </a:xfrm>
          <a:prstGeom prst="ellipse">
            <a:avLst/>
          </a:prstGeom>
          <a:solidFill>
            <a:srgbClr val="00AEEF"/>
          </a:solidFill>
        </p:spPr>
      </p:sp>
      <p:sp>
        <p:nvSpPr>
          <p:cNvPr id="9" name="Text 7"/>
          <p:cNvSpPr/>
          <p:nvPr/>
        </p:nvSpPr>
        <p:spPr>
          <a:xfrm>
            <a:off x="457200" y="1106424"/>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1</a:t>
            </a:r>
            <a:endParaRPr lang="en-US" sz="1300" dirty="0"/>
          </a:p>
        </p:txBody>
      </p:sp>
      <p:sp>
        <p:nvSpPr>
          <p:cNvPr id="10" name="Text 8"/>
          <p:cNvSpPr/>
          <p:nvPr/>
        </p:nvSpPr>
        <p:spPr>
          <a:xfrm>
            <a:off x="1024128" y="1069848"/>
            <a:ext cx="2560320" cy="347472"/>
          </a:xfrm>
          <a:prstGeom prst="rect">
            <a:avLst/>
          </a:prstGeom>
          <a:noFill/>
        </p:spPr>
        <p:txBody>
          <a:bodyPr wrap="square" lIns="0" tIns="0" rIns="0" bIns="0" rtlCol="0" anchor="ctr"/>
          <a:lstStyle/>
          <a:p>
            <a:pPr marL="0" indent="0">
              <a:buNone/>
            </a:pPr>
            <a:r>
              <a:rPr lang="en-US" sz="14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Model = System</a:t>
            </a:r>
            <a:endParaRPr lang="en-US" sz="1400" dirty="0"/>
          </a:p>
        </p:txBody>
      </p:sp>
      <p:sp>
        <p:nvSpPr>
          <p:cNvPr id="11" name="Text 9"/>
          <p:cNvSpPr/>
          <p:nvPr/>
        </p:nvSpPr>
        <p:spPr>
          <a:xfrm>
            <a:off x="3730752" y="1069848"/>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Not just your product; it is how you create, deliver AND capture value together.</a:t>
            </a:r>
            <a:endParaRPr lang="en-US" sz="1200" dirty="0"/>
          </a:p>
        </p:txBody>
      </p:sp>
      <p:sp>
        <p:nvSpPr>
          <p:cNvPr id="12" name="Shape 10"/>
          <p:cNvSpPr/>
          <p:nvPr/>
        </p:nvSpPr>
        <p:spPr>
          <a:xfrm>
            <a:off x="365760" y="1764792"/>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457200" y="1911096"/>
            <a:ext cx="402336" cy="402336"/>
          </a:xfrm>
          <a:prstGeom prst="ellipse">
            <a:avLst/>
          </a:prstGeom>
          <a:solidFill>
            <a:srgbClr val="00AEEF"/>
          </a:solidFill>
        </p:spPr>
      </p:sp>
      <p:sp>
        <p:nvSpPr>
          <p:cNvPr id="14" name="Text 12"/>
          <p:cNvSpPr/>
          <p:nvPr/>
        </p:nvSpPr>
        <p:spPr>
          <a:xfrm>
            <a:off x="457200" y="1911096"/>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2</a:t>
            </a:r>
            <a:endParaRPr lang="en-US" sz="1300" dirty="0"/>
          </a:p>
        </p:txBody>
      </p:sp>
      <p:sp>
        <p:nvSpPr>
          <p:cNvPr id="15" name="Text 13"/>
          <p:cNvSpPr/>
          <p:nvPr/>
        </p:nvSpPr>
        <p:spPr>
          <a:xfrm>
            <a:off x="1024128" y="1874520"/>
            <a:ext cx="2560320" cy="347472"/>
          </a:xfrm>
          <a:prstGeom prst="rect">
            <a:avLst/>
          </a:prstGeom>
          <a:noFill/>
        </p:spPr>
        <p:txBody>
          <a:bodyPr wrap="square" lIns="0" tIns="0" rIns="0" bIns="0" rtlCol="0" anchor="ctr"/>
          <a:lstStyle/>
          <a:p>
            <a:pPr marL="0" indent="0">
              <a:buNone/>
            </a:pPr>
            <a:r>
              <a:rPr lang="en-US" sz="14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Start with Customer</a:t>
            </a:r>
            <a:endParaRPr lang="en-US" sz="1400" dirty="0"/>
          </a:p>
        </p:txBody>
      </p:sp>
      <p:sp>
        <p:nvSpPr>
          <p:cNvPr id="16" name="Text 14"/>
          <p:cNvSpPr/>
          <p:nvPr/>
        </p:nvSpPr>
        <p:spPr>
          <a:xfrm>
            <a:off x="3730752" y="1874520"/>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The BMC always begins with Customer Segments, build everything outward from your customer.</a:t>
            </a:r>
            <a:endParaRPr lang="en-US" sz="1200" dirty="0"/>
          </a:p>
        </p:txBody>
      </p:sp>
      <p:sp>
        <p:nvSpPr>
          <p:cNvPr id="17" name="Shape 15"/>
          <p:cNvSpPr/>
          <p:nvPr/>
        </p:nvSpPr>
        <p:spPr>
          <a:xfrm>
            <a:off x="365760" y="2569464"/>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18" name="Shape 16"/>
          <p:cNvSpPr/>
          <p:nvPr/>
        </p:nvSpPr>
        <p:spPr>
          <a:xfrm>
            <a:off x="457200" y="2715768"/>
            <a:ext cx="402336" cy="402336"/>
          </a:xfrm>
          <a:prstGeom prst="ellipse">
            <a:avLst/>
          </a:prstGeom>
          <a:solidFill>
            <a:srgbClr val="00AEEF"/>
          </a:solidFill>
        </p:spPr>
      </p:sp>
      <p:sp>
        <p:nvSpPr>
          <p:cNvPr id="19" name="Text 17"/>
          <p:cNvSpPr/>
          <p:nvPr/>
        </p:nvSpPr>
        <p:spPr>
          <a:xfrm>
            <a:off x="457200" y="2715768"/>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3</a:t>
            </a:r>
            <a:endParaRPr lang="en-US" sz="1300" dirty="0"/>
          </a:p>
        </p:txBody>
      </p:sp>
      <p:sp>
        <p:nvSpPr>
          <p:cNvPr id="20" name="Text 18"/>
          <p:cNvSpPr/>
          <p:nvPr/>
        </p:nvSpPr>
        <p:spPr>
          <a:xfrm>
            <a:off x="1024128" y="2679192"/>
            <a:ext cx="2560320" cy="347472"/>
          </a:xfrm>
          <a:prstGeom prst="rect">
            <a:avLst/>
          </a:prstGeom>
          <a:noFill/>
        </p:spPr>
        <p:txBody>
          <a:bodyPr wrap="square" lIns="0" tIns="0" rIns="0" bIns="0" rtlCol="0" anchor="ctr"/>
          <a:lstStyle/>
          <a:p>
            <a:pPr marL="0" indent="0">
              <a:buNone/>
            </a:pPr>
            <a:r>
              <a:rPr lang="en-US" sz="14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VP Must Be Specific</a:t>
            </a:r>
            <a:endParaRPr lang="en-US" sz="1400" dirty="0"/>
          </a:p>
        </p:txBody>
      </p:sp>
      <p:sp>
        <p:nvSpPr>
          <p:cNvPr id="21" name="Text 19"/>
          <p:cNvSpPr/>
          <p:nvPr/>
        </p:nvSpPr>
        <p:spPr>
          <a:xfrm>
            <a:off x="3730752" y="2679192"/>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"We help farmers" is not a VP. Name the customer, the pain, the outcome, and how.</a:t>
            </a:r>
            <a:endParaRPr lang="en-US" sz="1200" dirty="0"/>
          </a:p>
        </p:txBody>
      </p:sp>
      <p:sp>
        <p:nvSpPr>
          <p:cNvPr id="22" name="Shape 20"/>
          <p:cNvSpPr/>
          <p:nvPr/>
        </p:nvSpPr>
        <p:spPr>
          <a:xfrm>
            <a:off x="365760" y="3374136"/>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3" name="Shape 21"/>
          <p:cNvSpPr/>
          <p:nvPr/>
        </p:nvSpPr>
        <p:spPr>
          <a:xfrm>
            <a:off x="457200" y="3520440"/>
            <a:ext cx="402336" cy="402336"/>
          </a:xfrm>
          <a:prstGeom prst="ellipse">
            <a:avLst/>
          </a:prstGeom>
          <a:solidFill>
            <a:srgbClr val="00AEEF"/>
          </a:solidFill>
        </p:spPr>
      </p:sp>
      <p:sp>
        <p:nvSpPr>
          <p:cNvPr id="24" name="Text 22"/>
          <p:cNvSpPr/>
          <p:nvPr/>
        </p:nvSpPr>
        <p:spPr>
          <a:xfrm>
            <a:off x="457200" y="3520440"/>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4</a:t>
            </a:r>
            <a:endParaRPr lang="en-US" sz="1300" dirty="0"/>
          </a:p>
        </p:txBody>
      </p:sp>
      <p:sp>
        <p:nvSpPr>
          <p:cNvPr id="25" name="Text 23"/>
          <p:cNvSpPr/>
          <p:nvPr/>
        </p:nvSpPr>
        <p:spPr>
          <a:xfrm>
            <a:off x="1024128" y="3483864"/>
            <a:ext cx="2560320" cy="347472"/>
          </a:xfrm>
          <a:prstGeom prst="rect">
            <a:avLst/>
          </a:prstGeom>
          <a:noFill/>
        </p:spPr>
        <p:txBody>
          <a:bodyPr wrap="square" lIns="0" tIns="0" rIns="0" bIns="0" rtlCol="0" anchor="ctr"/>
          <a:lstStyle/>
          <a:p>
            <a:pPr marL="0" indent="0">
              <a:buNone/>
            </a:pPr>
            <a:r>
              <a:rPr lang="en-US" sz="14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Diagnostics Required</a:t>
            </a:r>
            <a:endParaRPr lang="en-US" sz="1400" dirty="0"/>
          </a:p>
        </p:txBody>
      </p:sp>
      <p:sp>
        <p:nvSpPr>
          <p:cNvPr id="26" name="Text 24"/>
          <p:cNvSpPr/>
          <p:nvPr/>
        </p:nvSpPr>
        <p:spPr>
          <a:xfrm>
            <a:off x="3730752" y="3483864"/>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Run regular health checks with real metrics, CAC, LTV, churn, burn rate.</a:t>
            </a:r>
            <a:endParaRPr lang="en-US" sz="1200" dirty="0"/>
          </a:p>
        </p:txBody>
      </p:sp>
      <p:sp>
        <p:nvSpPr>
          <p:cNvPr id="27" name="Shape 25"/>
          <p:cNvSpPr/>
          <p:nvPr/>
        </p:nvSpPr>
        <p:spPr>
          <a:xfrm>
            <a:off x="365760" y="4178808"/>
            <a:ext cx="8412480" cy="694944"/>
          </a:xfrm>
          <a:prstGeom prst="rect">
            <a:avLst/>
          </a:prstGeom>
          <a:solidFill>
            <a:srgbClr val="FFFFFF"/>
          </a:solidFill>
          <a:effectLst>
            <a:outerShdw blurRad="101600" dist="25400" dir="8100000" algn="bl" rotWithShape="0">
              <a:srgbClr val="000000">
                <a:alpha val="10000"/>
              </a:srgbClr>
            </a:outerShdw>
          </a:effectLst>
        </p:spPr>
      </p:sp>
      <p:sp>
        <p:nvSpPr>
          <p:cNvPr id="28" name="Shape 26"/>
          <p:cNvSpPr/>
          <p:nvPr/>
        </p:nvSpPr>
        <p:spPr>
          <a:xfrm>
            <a:off x="457200" y="4325112"/>
            <a:ext cx="402336" cy="402336"/>
          </a:xfrm>
          <a:prstGeom prst="ellipse">
            <a:avLst/>
          </a:prstGeom>
          <a:solidFill>
            <a:srgbClr val="00AEEF"/>
          </a:solidFill>
        </p:spPr>
      </p:sp>
      <p:sp>
        <p:nvSpPr>
          <p:cNvPr id="29" name="Text 27"/>
          <p:cNvSpPr/>
          <p:nvPr/>
        </p:nvSpPr>
        <p:spPr>
          <a:xfrm>
            <a:off x="457200" y="4325112"/>
            <a:ext cx="402336" cy="402336"/>
          </a:xfrm>
          <a:prstGeom prst="rect">
            <a:avLst/>
          </a:prstGeom>
          <a:noFill/>
        </p:spPr>
        <p:txBody>
          <a:bodyPr wrap="square" lIns="0" tIns="0" rIns="0" bIns="0" rtlCol="0" anchor="ctr"/>
          <a:lstStyle/>
          <a:p>
            <a:pPr marL="0" indent="0" algn="ctr">
              <a:buNone/>
            </a:pPr>
            <a:r>
              <a:rPr lang="en-US" sz="1300" b="1" dirty="0">
                <a:solidFill>
                  <a:srgbClr val="FFFFFF"/>
                </a:solidFill>
                <a:latin typeface="Trebuchet MS" panose="020B0703020202090204" pitchFamily="34" charset="0"/>
                <a:ea typeface="Trebuchet MS" panose="020B0703020202090204" pitchFamily="34" charset="-122"/>
                <a:cs typeface="Trebuchet MS" panose="020B0703020202090204" pitchFamily="34" charset="-120"/>
              </a:rPr>
              <a:t>5</a:t>
            </a:r>
            <a:endParaRPr lang="en-US" sz="1300" dirty="0"/>
          </a:p>
        </p:txBody>
      </p:sp>
      <p:sp>
        <p:nvSpPr>
          <p:cNvPr id="30" name="Text 28"/>
          <p:cNvSpPr/>
          <p:nvPr/>
        </p:nvSpPr>
        <p:spPr>
          <a:xfrm>
            <a:off x="1024128" y="4288536"/>
            <a:ext cx="2560320" cy="347472"/>
          </a:xfrm>
          <a:prstGeom prst="rect">
            <a:avLst/>
          </a:prstGeom>
          <a:noFill/>
        </p:spPr>
        <p:txBody>
          <a:bodyPr wrap="square" lIns="0" tIns="0" rIns="0" bIns="0" rtlCol="0" anchor="ctr"/>
          <a:lstStyle/>
          <a:p>
            <a:pPr marL="0" indent="0">
              <a:buNone/>
            </a:pPr>
            <a:r>
              <a:rPr lang="en-US" sz="1400" b="1" dirty="0">
                <a:solidFill>
                  <a:srgbClr val="00AEEF"/>
                </a:solidFill>
                <a:latin typeface="Trebuchet MS" panose="020B0703020202090204" pitchFamily="34" charset="0"/>
                <a:ea typeface="Trebuchet MS" panose="020B0703020202090204" pitchFamily="34" charset="-122"/>
                <a:cs typeface="Trebuchet MS" panose="020B0703020202090204" pitchFamily="34" charset="-120"/>
              </a:rPr>
              <a:t>BMC is Living</a:t>
            </a:r>
            <a:endParaRPr lang="en-US" sz="1400" dirty="0"/>
          </a:p>
        </p:txBody>
      </p:sp>
      <p:sp>
        <p:nvSpPr>
          <p:cNvPr id="31" name="Text 29"/>
          <p:cNvSpPr/>
          <p:nvPr/>
        </p:nvSpPr>
        <p:spPr>
          <a:xfrm>
            <a:off x="3730752" y="4288536"/>
            <a:ext cx="4892040" cy="45720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Version 1 will be wrong. Validated learning leads to Version 2. This is how startups grow.</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A2540"/>
          </a:solidFill>
        </p:spPr>
      </p:sp>
      <p:sp>
        <p:nvSpPr>
          <p:cNvPr id="3" name="Shape 1"/>
          <p:cNvSpPr/>
          <p:nvPr/>
        </p:nvSpPr>
        <p:spPr>
          <a:xfrm>
            <a:off x="0" y="5088636"/>
            <a:ext cx="9144000" cy="54864"/>
          </a:xfrm>
          <a:prstGeom prst="rect">
            <a:avLst/>
          </a:prstGeom>
          <a:solidFill>
            <a:srgbClr val="00AEEF"/>
          </a:solidFill>
        </p:spPr>
      </p:sp>
      <p:sp>
        <p:nvSpPr>
          <p:cNvPr id="4" name="Text 2"/>
          <p:cNvSpPr/>
          <p:nvPr/>
        </p:nvSpPr>
        <p:spPr>
          <a:xfrm>
            <a:off x="457200" y="164592"/>
            <a:ext cx="7772400" cy="594360"/>
          </a:xfrm>
          <a:prstGeom prst="rect">
            <a:avLst/>
          </a:prstGeom>
          <a:noFill/>
        </p:spPr>
        <p:txBody>
          <a:bodyPr wrap="square" lIns="0" tIns="0" rIns="0" bIns="0" rtlCol="0" anchor="ctr"/>
          <a:lstStyle/>
          <a:p>
            <a:pPr marL="0" indent="0" algn="l">
              <a:buNone/>
            </a:pPr>
            <a:r>
              <a:rPr lang="en-US" sz="24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Day 1 Homework — Prepare for Tomorrow</a:t>
            </a:r>
            <a:endParaRPr lang="en-US" sz="2400" dirty="0"/>
          </a:p>
        </p:txBody>
      </p:sp>
      <p:sp>
        <p:nvSpPr>
          <p:cNvPr id="5" name="Shape 3"/>
          <p:cNvSpPr/>
          <p:nvPr/>
        </p:nvSpPr>
        <p:spPr>
          <a:xfrm>
            <a:off x="6949440" y="91440"/>
            <a:ext cx="1828800" cy="384048"/>
          </a:xfrm>
          <a:prstGeom prst="rect">
            <a:avLst/>
          </a:prstGeom>
          <a:solidFill>
            <a:srgbClr val="00AEEF"/>
          </a:solidFill>
        </p:spPr>
      </p:sp>
      <p:sp>
        <p:nvSpPr>
          <p:cNvPr id="6" name="Text 4"/>
          <p:cNvSpPr/>
          <p:nvPr/>
        </p:nvSpPr>
        <p:spPr>
          <a:xfrm>
            <a:off x="6949440" y="91440"/>
            <a:ext cx="1828800" cy="384048"/>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A0204" pitchFamily="34" charset="0"/>
                <a:ea typeface="Calibri" panose="020F05020202040A0204" pitchFamily="34" charset="-122"/>
                <a:cs typeface="Calibri" panose="020F05020202040A0204" pitchFamily="34" charset="-120"/>
              </a:rPr>
              <a:t>DAY 1  |  MODULE 3</a:t>
            </a:r>
            <a:endParaRPr lang="en-US" sz="900" dirty="0"/>
          </a:p>
        </p:txBody>
      </p:sp>
      <p:sp>
        <p:nvSpPr>
          <p:cNvPr id="7" name="Text 5"/>
          <p:cNvSpPr/>
          <p:nvPr/>
        </p:nvSpPr>
        <p:spPr>
          <a:xfrm>
            <a:off x="457200" y="868680"/>
            <a:ext cx="8229600" cy="384048"/>
          </a:xfrm>
          <a:prstGeom prst="rect">
            <a:avLst/>
          </a:prstGeom>
          <a:noFill/>
        </p:spPr>
        <p:txBody>
          <a:bodyPr wrap="square" lIns="0" tIns="0" rIns="0" bIns="0" rtlCol="0" anchor="ctr"/>
          <a:lstStyle/>
          <a:p>
            <a:pPr marL="0" indent="0">
              <a:buNone/>
            </a:pPr>
            <a:r>
              <a:rPr lang="en-US" sz="1300" dirty="0">
                <a:solidFill>
                  <a:srgbClr val="1E293B"/>
                </a:solidFill>
                <a:latin typeface="Calibri" panose="020F05020202040A0204" pitchFamily="34" charset="0"/>
                <a:ea typeface="Calibri" panose="020F05020202040A0204" pitchFamily="34" charset="-122"/>
                <a:cs typeface="Calibri" panose="020F05020202040A0204" pitchFamily="34" charset="-120"/>
              </a:rPr>
              <a:t>Complete before the next session to get maximum value from Day 2:</a:t>
            </a:r>
            <a:endParaRPr lang="en-US" sz="1300" dirty="0"/>
          </a:p>
        </p:txBody>
      </p:sp>
      <p:sp>
        <p:nvSpPr>
          <p:cNvPr id="8" name="Shape 6"/>
          <p:cNvSpPr/>
          <p:nvPr/>
        </p:nvSpPr>
        <p:spPr>
          <a:xfrm>
            <a:off x="365760" y="1371600"/>
            <a:ext cx="8412480" cy="804672"/>
          </a:xfrm>
          <a:prstGeom prst="rect">
            <a:avLst/>
          </a:prstGeom>
          <a:solidFill>
            <a:srgbClr val="FFFFFF"/>
          </a:solidFill>
          <a:effectLst>
            <a:outerShdw blurRad="101600" dist="25400" dir="8100000" algn="bl" rotWithShape="0">
              <a:srgbClr val="000000">
                <a:alpha val="10000"/>
              </a:srgbClr>
            </a:outerShdw>
          </a:effectLst>
        </p:spPr>
      </p:sp>
      <p:sp>
        <p:nvSpPr>
          <p:cNvPr id="9" name="Shape 7"/>
          <p:cNvSpPr/>
          <p:nvPr/>
        </p:nvSpPr>
        <p:spPr>
          <a:xfrm>
            <a:off x="365760" y="1371600"/>
            <a:ext cx="64008" cy="804672"/>
          </a:xfrm>
          <a:prstGeom prst="rect">
            <a:avLst/>
          </a:prstGeom>
          <a:solidFill>
            <a:srgbClr val="00AEEF"/>
          </a:solidFill>
        </p:spPr>
      </p:sp>
      <p:sp>
        <p:nvSpPr>
          <p:cNvPr id="10" name="Text 8"/>
          <p:cNvSpPr/>
          <p:nvPr/>
        </p:nvSpPr>
        <p:spPr>
          <a:xfrm>
            <a:off x="566928" y="1463040"/>
            <a:ext cx="79552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Task 1: Interview 3 Customers</a:t>
            </a:r>
            <a:endParaRPr lang="en-US" sz="1300" dirty="0"/>
          </a:p>
        </p:txBody>
      </p:sp>
      <p:sp>
        <p:nvSpPr>
          <p:cNvPr id="11" name="Text 9"/>
          <p:cNvSpPr/>
          <p:nvPr/>
        </p:nvSpPr>
        <p:spPr>
          <a:xfrm>
            <a:off x="566928" y="1828800"/>
            <a:ext cx="7955280" cy="27432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Talk to 3 actual or potential customers tonight. For each: biggest pain, what they currently use, what they would pay. Write the answers down.</a:t>
            </a:r>
            <a:endParaRPr lang="en-US" sz="1200" dirty="0"/>
          </a:p>
        </p:txBody>
      </p:sp>
      <p:sp>
        <p:nvSpPr>
          <p:cNvPr id="12" name="Shape 10"/>
          <p:cNvSpPr/>
          <p:nvPr/>
        </p:nvSpPr>
        <p:spPr>
          <a:xfrm>
            <a:off x="365760" y="2331720"/>
            <a:ext cx="8412480" cy="804672"/>
          </a:xfrm>
          <a:prstGeom prst="rect">
            <a:avLst/>
          </a:prstGeom>
          <a:solidFill>
            <a:srgbClr val="FFFFFF"/>
          </a:solidFill>
          <a:effectLst>
            <a:outerShdw blurRad="101600" dist="25400" dir="8100000" algn="bl" rotWithShape="0">
              <a:srgbClr val="000000">
                <a:alpha val="10000"/>
              </a:srgbClr>
            </a:outerShdw>
          </a:effectLst>
        </p:spPr>
      </p:sp>
      <p:sp>
        <p:nvSpPr>
          <p:cNvPr id="13" name="Shape 11"/>
          <p:cNvSpPr/>
          <p:nvPr/>
        </p:nvSpPr>
        <p:spPr>
          <a:xfrm>
            <a:off x="365760" y="2331720"/>
            <a:ext cx="64008" cy="804672"/>
          </a:xfrm>
          <a:prstGeom prst="rect">
            <a:avLst/>
          </a:prstGeom>
          <a:solidFill>
            <a:srgbClr val="00AEEF"/>
          </a:solidFill>
        </p:spPr>
      </p:sp>
      <p:sp>
        <p:nvSpPr>
          <p:cNvPr id="14" name="Text 12"/>
          <p:cNvSpPr/>
          <p:nvPr/>
        </p:nvSpPr>
        <p:spPr>
          <a:xfrm>
            <a:off x="566928" y="2423160"/>
            <a:ext cx="79552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Task 2: Map a Competitor's BMC</a:t>
            </a:r>
            <a:endParaRPr lang="en-US" sz="1300" dirty="0"/>
          </a:p>
        </p:txBody>
      </p:sp>
      <p:sp>
        <p:nvSpPr>
          <p:cNvPr id="15" name="Text 13"/>
          <p:cNvSpPr/>
          <p:nvPr/>
        </p:nvSpPr>
        <p:spPr>
          <a:xfrm>
            <a:off x="566928" y="2788920"/>
            <a:ext cx="7955280" cy="27432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Pick your strongest competitor. Try to fill in all 9 blocks of their BMC based on what you can find online and from talking to their customers.</a:t>
            </a:r>
            <a:endParaRPr lang="en-US" sz="1200" dirty="0"/>
          </a:p>
        </p:txBody>
      </p:sp>
      <p:sp>
        <p:nvSpPr>
          <p:cNvPr id="16" name="Shape 14"/>
          <p:cNvSpPr/>
          <p:nvPr/>
        </p:nvSpPr>
        <p:spPr>
          <a:xfrm>
            <a:off x="365760" y="3291840"/>
            <a:ext cx="8412480" cy="804672"/>
          </a:xfrm>
          <a:prstGeom prst="rect">
            <a:avLst/>
          </a:prstGeom>
          <a:solidFill>
            <a:srgbClr val="FFFFFF"/>
          </a:solidFill>
          <a:effectLst>
            <a:outerShdw blurRad="101600" dist="25400" dir="8100000" algn="bl" rotWithShape="0">
              <a:srgbClr val="000000">
                <a:alpha val="10000"/>
              </a:srgbClr>
            </a:outerShdw>
          </a:effectLst>
        </p:spPr>
      </p:sp>
      <p:sp>
        <p:nvSpPr>
          <p:cNvPr id="17" name="Shape 15"/>
          <p:cNvSpPr/>
          <p:nvPr/>
        </p:nvSpPr>
        <p:spPr>
          <a:xfrm>
            <a:off x="365760" y="3291840"/>
            <a:ext cx="64008" cy="804672"/>
          </a:xfrm>
          <a:prstGeom prst="rect">
            <a:avLst/>
          </a:prstGeom>
          <a:solidFill>
            <a:srgbClr val="00AEEF"/>
          </a:solidFill>
        </p:spPr>
      </p:sp>
      <p:sp>
        <p:nvSpPr>
          <p:cNvPr id="18" name="Text 16"/>
          <p:cNvSpPr/>
          <p:nvPr/>
        </p:nvSpPr>
        <p:spPr>
          <a:xfrm>
            <a:off x="566928" y="3383280"/>
            <a:ext cx="7955280" cy="347472"/>
          </a:xfrm>
          <a:prstGeom prst="rect">
            <a:avLst/>
          </a:prstGeom>
          <a:noFill/>
        </p:spPr>
        <p:txBody>
          <a:bodyPr wrap="square" lIns="0" tIns="0" rIns="0" bIns="0" rtlCol="0" anchor="ctr"/>
          <a:lstStyle/>
          <a:p>
            <a:pPr marL="0" indent="0">
              <a:buNone/>
            </a:pPr>
            <a:r>
              <a:rPr lang="en-US" sz="1300" b="1" dirty="0">
                <a:solidFill>
                  <a:srgbClr val="0A2540"/>
                </a:solidFill>
                <a:latin typeface="Trebuchet MS" panose="020B0703020202090204" pitchFamily="34" charset="0"/>
                <a:ea typeface="Trebuchet MS" panose="020B0703020202090204" pitchFamily="34" charset="-122"/>
                <a:cs typeface="Trebuchet MS" panose="020B0703020202090204" pitchFamily="34" charset="-120"/>
              </a:rPr>
              <a:t>Task 3: Refine Your Value Proposition</a:t>
            </a:r>
            <a:endParaRPr lang="en-US" sz="1300" dirty="0"/>
          </a:p>
        </p:txBody>
      </p:sp>
      <p:sp>
        <p:nvSpPr>
          <p:cNvPr id="19" name="Text 17"/>
          <p:cNvSpPr/>
          <p:nvPr/>
        </p:nvSpPr>
        <p:spPr>
          <a:xfrm>
            <a:off x="566928" y="3749040"/>
            <a:ext cx="7955280" cy="274320"/>
          </a:xfrm>
          <a:prstGeom prst="rect">
            <a:avLst/>
          </a:prstGeom>
          <a:noFill/>
        </p:spPr>
        <p:txBody>
          <a:bodyPr wrap="square" lIns="0" tIns="0" rIns="0" bIns="0" rtlCol="0" anchor="ctr"/>
          <a:lstStyle/>
          <a:p>
            <a:pPr marL="0" indent="0">
              <a:buNone/>
            </a:pPr>
            <a:r>
              <a:rPr lang="en-US" sz="1200" dirty="0">
                <a:solidFill>
                  <a:srgbClr val="64748B"/>
                </a:solidFill>
                <a:latin typeface="Calibri" panose="020F05020202040A0204" pitchFamily="34" charset="0"/>
                <a:ea typeface="Calibri" panose="020F05020202040A0204" pitchFamily="34" charset="-122"/>
                <a:cs typeface="Calibri" panose="020F05020202040A0204" pitchFamily="34" charset="-120"/>
              </a:rPr>
              <a:t>Update your VP statement using today's template. Test it on 2 people outside the programme — do they immediately understand what you do?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10482</Words>
  <Application>WPS Presentation</Application>
  <PresentationFormat>On-screen Show (16:9)</PresentationFormat>
  <Paragraphs>511</Paragraphs>
  <Slides>16</Slides>
  <Notes>16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SimSun</vt:lpstr>
      <vt:lpstr>Wingdings</vt:lpstr>
      <vt:lpstr>Calibri</vt:lpstr>
      <vt:lpstr>Calibri</vt:lpstr>
      <vt:lpstr>Calibri</vt:lpstr>
      <vt:lpstr>Trebuchet MS</vt:lpstr>
      <vt:lpstr>Trebuchet MS</vt:lpstr>
      <vt:lpstr>Trebuchet MS</vt:lpstr>
      <vt:lpstr>Microsoft YaHei</vt:lpstr>
      <vt:lpstr>汉仪旗黑</vt:lpstr>
      <vt:lpstr>Arial Unicode MS</vt:lpstr>
      <vt:lpstr>汉仪书宋二KW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 Business Modeling | UNICEF Startup Lab Ghana</dc:title>
  <dc:creator>PptxGenJS</dc:creator>
  <dc:subject>PptxGenJS Presentation</dc:subject>
  <cp:lastModifiedBy>Bernard Anyan - Mensah</cp:lastModifiedBy>
  <cp:revision>7</cp:revision>
  <dcterms:created xsi:type="dcterms:W3CDTF">2026-05-31T13:13:30Z</dcterms:created>
  <dcterms:modified xsi:type="dcterms:W3CDTF">2026-05-31T13:13:30Z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D4B8B40FDAF6EF7489C9146A1AC7D647_42</vt:lpwstr>
  </property>
  <property fmtid="{D5CDD505-2E9C-101B-9397-08002B2CF9AE}" pid="3" name="KSOProductBuildVer">
    <vt:lpwstr>1033-6.14.0.8716</vt:lpwstr>
  </property>
</Properties>
</file>