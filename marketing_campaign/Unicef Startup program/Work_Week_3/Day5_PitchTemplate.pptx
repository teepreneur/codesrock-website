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PITCH COVER
TIMING: On screen as audience settles | 15 seconds spoken
FILL IN:
• [STARTUP NAME] — your startup's exact registered or trading name
• [Your one-line value proposition] — the elevator pitch sentence.
  Format: "We help [WHO] to [DO WHAT] so they can [OUTCOME]."
  Example: "We help smallholder farmers in Ghana's Northern Region access
  crop insurance in 3 minutes via USSD — without a smartphone or bank account."
• [Founder Name(s)] — full names of the founders presenting today
• [Date] — pitch day date
COACH TIP:
Before the audience sees this slide, the presenter should be ready to deliver
their opening line without notes. The slide is a backdrop — the founder IS the pitch.
Opening suggestion: "Good morning. My name is [X] and I'm the co-founder of [startup].
I want to start with a question: [problem-revealing question for the audience]."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THE PROBLEM
TIMING: 60–90 seconds
FILL IN:
• WHO HAS THIS PROBLEM: hyper-specific. "Women in rural Ghana" is vague.
  "Female cassava farmers aged 25–45 in the Brong-Ahafo Region with 1–3 acres
  and no formal banking relationship" is specific and credible.
• WHY IS THIS BIG: cite real data. Sources: Ghana Statistical Service,
  World Bank, GSMA, UNICEF MICS, MoFA, Bank of Ghana Annual Reports.
• WHY NOW: investors need a "why now" signal.
  Acceptable answers: (1) MoMo penetration just crossed 40%
  (2) New Bank of Ghana regulation unlocked this market
  (3) COVID exposed the gap and no credible solution has emerged
COACH TIP:
A great problem slide makes the audience feel the pain.
Use a real customer story: "Last harvest season, Abena in Tamale lost her entire
crop to flooding. She had no insurance. She is now in debt to her susu group."
ONE person's story — then the scale. Emotion first, data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OUR SOLUTION
TIMING: 60–90 seconds
FILL IN:
• Value proposition banner: your single most important sentence.
  It must be specific, outcome-focused, and jargon-free.
• WHAT IT IS: 2–3 plain sentences. No technical jargon.
• HOW IT WORKS: think 3 steps. Focus on the customer experience, not the code.
• FOR WHOM: specific customer definition — reference your Day 1 BMC Customer Segment.
COACH TIP:
Replace one column with a real product photo, screenshot, or demo GIF if you have one.
A picture of your actual product is worth 1,000 words of description.
If you have a working prototype — show it live during this slide.
LINK TO TRAINING: Day 1 (Value Proposition) + Day 2 (Business Model Type).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BUSINESS MODEL CANVAS
TIMING: 75–90 seconds — do NOT read every cell
FILL IN: Replace all placeholder text with your Day 1 BMC exercise output.
HOW TO NARRATE (do not read left-to-right):
"Our primary customer is [Segment]. We reach them via [Channel].
We deliver value by [VP summary]. We earn revenue through [Revenue Streams].
Our biggest cost is [top cost driver], which we manage by [strategy]."
KEY INVESTOR FOCUS AREAS:
Investors scan for 3 things on this slide:
(1) Specificity of the Customer Segment — is this a real, reachable group?
(2) Coherence between Value Prop, Channels, and Revenue Streams
(3) Whether the Cost Structure is manageable vs the Revenue Streams
LINK TO TRAINING: Day 1 — Business Model Canvas exercise and diagnostics.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BUSINESS MODEL TYPE &amp; STRATEGY
TIMING: 60–75 seconds
FILL IN:
• Model type badge: be specific. "B2B SaaS" not just "B2B."
  "B2C Subscription via USSD" not just "subscription."
• 5-Factor framework: your Day 2 exercise output goes directly here.
• Go-to-market: investors want SPECIFIC channels and a credible first-50-customers plan.
  "Social media and word of mouth" is not a go-to-market strategy.
  "We are partnering with 5 women's cooperatives in Kumasi who collectively represent
  800 potential customers" IS a go-to-market strategy.
LINK TO TRAINING: Day 2 — Business Model Type exercise and 5-factor selection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REVENUE MODEL &amp; UNIT ECONOMICS
TIMING: 75–90 seconds
FILL IN:
• Revenue model: exact model type, price point, and justification from Day 3 exercise.
• Unit economics table: fill in EVERY number with your best estimate.
  If estimated, write "(est.)" — honesty is respected over fake precision.
• LTV:CAC: the single most important number on this slide.
  If below 3x, explain what you are actively doing to improve it.
INVESTOR RED FLAGS TO AVOID:
• Blank unit economics in the final pitch = insufficient financial preparation
• LTV:CAC below 1x without a clear improvement plan = structural unsustainability
• "We haven't calculated this yet" = immediate credibility damage
KEY METRIC RELATIONSHIPS:
• If churn is high (&gt;10%/mo): prioritise retention investment before acquisition scaling
• If CAC is high relative to LTV: investigate lower-cost acquisition channels
• If ARPU is low: test price increase with top 20% of users before assuming it cannot rise
LINK TO TRAINING: Day 3 — Revenue Model Summary + Unit Economics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MARKET OPPORTUNITY
TIMING: 45–60 seconds
FILL IN:
• TAM: cite a credible external source (World Bank, GSMA, UNICEF, Ghana Statistical Service,
  sector report from IFC, AfDB, or CGAP). Do NOT invent market size figures.
• SAM: calculate from first principles — (target segment size) × (your price point).
  SHOW THE MATH. This demonstrates financial literacy.
• SOM: what investors actually care about. What % of SAM can you capture in 3–5 years?
  5–15% is credible for early-stage startups in competitive sectors.
  50%+ will cause immediate scepticism.
COMMON MISTAKES:
• "Ghana has 33M people and we capture 1%" — investors discount this immediately.
  Use bottom-up math from your actual target segment.
• Using global figures when you only operate in Ghana.
• SOM larger than SAM — mathematical impossibility that ends pitches early.
DATA SOURCES: Ghana Statistical Service (statsghana.gov.gh), World Bank Open Data,
GSMA Mobile Economy Sub-Saharan Africa, UNICEF annual country reports,
Bank of Ghana Financial Stability Report, MoFA agricultural census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TRACTION &amp; MILESTONES
TIMING: 60 seconds
FILL IN:
• Metric cards: use real numbers. If a number is 0, write 0 and explain what you DO have.
• Milestone rows: chronological. Row 4 = your specific next 90-day target (shows planning ability).
HONEST TRACTION FOR EARLY-STAGE STARTUPS:
You do not need revenue to show traction. Acceptable signals:
• "Completed 50 customer discovery interviews — 78% confirmed willingness to pay GHS 30/month"
• "Signed 3 Letters of Intent from cooperatives representing 2,400 farmers"
• "60-day pilot with [Partner]: 68% weekly retention, NPS of 72"
• "MVP built and tested with 25 beta users — product market fit score: 42%"
ONE REAL METRIC beats five vague claims.
"47 paying customers at GHS 25/month = GHS 1,175 MRR" is stronger than
"we are gaining strong traction in the market."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COMPETITIVE LANDSCAPE
TIMING: 75 seconds
FILL IN:
• Competitor table: MINIMUM 1 Direct + 1 Indirect + 1 Substitute. Use real names.
  Type 3 (Substitute) is often the most dangerous in Ghana — "doing nothing" or an
  informal alternative (susu, herbalist, market seller) can be a powerful substitute.
• Moat statement: the single most important competitive message in your pitch.
  Specific moats beat generic ones:
  NOT: "we have first-mover advantage"
  YES: "We have trained 480 community health workers as product ambassadors over
       18 months — that trust network cannot be bought with money alone."
COMMON MISTAKES:
• "We have no real competitors" — kills credibility immediately.
• First-mover advantage as the ONLY moat — only valid with switching costs or data.
• Listing 10 competitors without analysis — confuses and overwhelms.
MOAT TYPES TO CONSIDER:
Network effects | Proprietary data | Regulatory licence | Switching costs |
Community/language trust | Government or NGO relationships | Brand recognition
LINK TO TRAINING: Day 4 — Competition analysis, positioning map, and moat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12-MONTH REVENUE FORECAST
TIMING: 60–75 seconds
FILL IN:
• Assumptions box: all 6 fields are required. Investors check if the math in the
  assumptions produces the numbers in the table. If they don't match, you lose credibility.
• Quarterly table: calculate using the 5-step Day 3 method. Build month-by-month,
  consolidate to quarters. Do not guess — calculate.
• Year 1 comes from the table. Years 2–3 should use conservative multipliers (1.5–3x).
HOW TO DEFEND YOUR NUMBERS:
Question: "How will you acquire [X] customers per month?"
Answer must reference a SPECIFIC mechanism:
"We ran a pilot in Kumasi over 8 weeks, acquiring 23 customers via 2 community
health worker partners. We have 8 similar partners committed for Year 1,
each expected to contribute the same rate."
FORECAST RED FLAGS:
• Month 1 = 0 customers, Month 12 = 5,000 with no explanation of the jump
• Gross margin assumed at 90%+ in a service business without justification
• Zero churn in the model (unrealistic — investors know this and distrust it)
LINK TO TRAINING: Day 3 — Bottom-up revenue forecasting exercise.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THE TEAM
TIMING: 45–60 seconds
FILL IN:
• Replace [Full Name] with actual names
• Replace [PHOTO] with real professional headshots
• Roles: use real titles — CEO, CTO, CMO, COO, etc.
• Bio: 2–3 sentences per person. Focus on domain expertise, NOT general credentials.
  "Former MEST graduate with 3 years in agri-extension services in Northern Ghana"
  is stronger than "holds a BSc in Computer Science."
WHAT INVESTORS LOOK FOR:
1. Domain expertise — personal or professional experience with the problem
2. Execution track record — have they shipped something? Completed a programme? Managed a team?
3. Complementary skills — CEO + CTO is ideal. Two MBAs with no tech background is a gap.
4. Commitment — are they full-time on this startup?
5. Coachability — have they responded to feedback from the programme?
ADVISORY BOARD:
If you have MEST mentors, UNICEF contacts, or sector experts as advisors,
add a smaller row below: "ADVISORS: [Name, Title, Organization]"
Advisory credibility strengthens a founding team significantly in early-stage pitches.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THE ASK
TIMING: 45–60 seconds
FILL IN:
• Amount: be specific. "USD 50,000" is better than "seed funding."
  "USD 50,000 pre-seed for 12% equity via SAFE note" is best.
• Use of funds: percentages must add to 100%.
  Be specific — not "product development" but "hire one backend developer
  and complete USSD integration by Month 4 (GHS 32,000)."
UNICEF STARTUP LAB SPECIFIC ASKS (beyond capital):
• "We are seeking a 6-month mentor with FinTech compliance experience"
• "We want to explore the Digital Public Good (DPG) recognition pathway with UNICEF's DPG team"
• "We are seeking an introduction to [specific investor type / corporate partner]"
• "We are looking for a distribution partnership with [specific NGO or government body]"
CLOSE THE PITCH WITH A MILESTONE:
"With this investment, by [Month/Year] we will have [X paying customers /
GHS Y in MRR / Z communities served]. That milestone positions us for
[Series A / next grant round / DPG recognition]."
This is your LAST impression — make it specific, confident, and forward-looking.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 — THANK YOU / Q&amp;A
Leave this slide on screen during Q&amp;A. Contact info visible so investors can
capture it immediately without asking.
CLOSING LINE (verbal — not on the slide):
"We are building [startup] because [1 sentence connecting personal mission to problem].
We have shown you the business case. We need [YOUR ASK] to turn this into a company
that will change how [X] works in Ghana — and eventually across Africa. Thank you."
Q&amp;A PREPARATION — EXPECT THESE QUESTIONS:
1. "Why hasn't this been done before?" → What has changed (tech / regulation / market)
2. "How do you know customers will pay?" → Reference your traction data (Slide 8)
3. "What is your biggest risk?" → Name it honestly + show your mitigation plan
4. "Why are YOU the right team?" → Connect personal experience to the specific problem
5. "What does success look like in 3 years?" → Specific, measurable answer
FOLLOW-UP (within 24 hours):
• Email every investor / mentor who engaged: thank them + any data requested
• Send a 1-page executive summary PDF
• Note all questions asked — they are a free diagnosis of your pitch's weak points
• Update your pitch based on questions that stumped you: those are the gaps
PROGRAMME NOTES:
• Collect NPS feedback forms before participants leave
• Identify 2–3 startups for UNICEF DPG pathway recommendation
• Group photo for programme records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FFC20E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132320" y="2743200"/>
            <a:ext cx="2743200" cy="2743200"/>
          </a:xfrm>
          <a:prstGeom prst="ellipse">
            <a:avLst/>
          </a:prstGeom>
          <a:solidFill>
            <a:srgbClr val="00AEEF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6" name="Text 4"/>
          <p:cNvSpPr/>
          <p:nvPr/>
        </p:nvSpPr>
        <p:spPr>
          <a:xfrm>
            <a:off x="411480" y="384048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UNICEF STARTUP LAB GHANA  |  MODULE 3  |  PITCH 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046720" cy="1325880"/>
          </a:xfrm>
          <a:prstGeom prst="rect">
            <a:avLst/>
          </a:prstGeom>
          <a:solidFill>
            <a:srgbClr val="12326A"/>
          </a:solidFill>
        </p:spPr>
      </p:sp>
      <p:sp>
        <p:nvSpPr>
          <p:cNvPr id="8" name="Text 6"/>
          <p:cNvSpPr/>
          <p:nvPr/>
        </p:nvSpPr>
        <p:spPr>
          <a:xfrm>
            <a:off x="411480" y="1005840"/>
            <a:ext cx="7772400" cy="1234440"/>
          </a:xfrm>
          <a:prstGeom prst="rect">
            <a:avLst/>
          </a:prstGeom>
          <a:noFill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[STARTUP NAME]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7132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8F4FD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[Your one-line value proposition — what you do, for whom, and what outcome you deliver]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82880" y="4133088"/>
            <a:ext cx="8961120" cy="658368"/>
          </a:xfrm>
          <a:prstGeom prst="rect">
            <a:avLst/>
          </a:prstGeom>
          <a:solidFill>
            <a:srgbClr val="0D1B2E"/>
          </a:solidFill>
        </p:spPr>
      </p:sp>
      <p:sp>
        <p:nvSpPr>
          <p:cNvPr id="11" name="Text 9"/>
          <p:cNvSpPr/>
          <p:nvPr/>
        </p:nvSpPr>
        <p:spPr>
          <a:xfrm>
            <a:off x="411480" y="4178808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[Founder Name(s)]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0" y="4178808"/>
            <a:ext cx="45720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[Date]  |  MEST Africa  |  Accra, Ghana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321868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3218688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9" name="Text 7"/>
          <p:cNvSpPr/>
          <p:nvPr/>
        </p:nvSpPr>
        <p:spPr>
          <a:xfrm>
            <a:off x="530352" y="1005840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WHO HAS THIS PROBLEM?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408176"/>
            <a:ext cx="3794760" cy="2624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[Describe your target customer in one specific sentence — who, where, and their context in Ghana / Africa]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[How many people or businesses experience this problem? Use Ghana or Africa data where available]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do they currently use as a workaround? What does the 'doing nothing' option look like for them?]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does this problem cost them in money, time, opportunity, or health? Quantify where possible]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321868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14400"/>
            <a:ext cx="64008" cy="321868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3" name="Text 11"/>
          <p:cNvSpPr/>
          <p:nvPr/>
        </p:nvSpPr>
        <p:spPr>
          <a:xfrm>
            <a:off x="4736592" y="1005840"/>
            <a:ext cx="3977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WHY IS THIS A BIG PROBLEM?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408176"/>
            <a:ext cx="3977640" cy="2624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[Cite ONE compelling statistic about the problem scale in Ghana or Africa — e.g. 'Ghana has 2.6M uninsured smallholder farmers']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[Why is the problem getting worse or more urgent today? What trend is driving it?]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has been tried before — and why has it not worked or scaled?]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[Connection to UNICEF mission: how does this problem specifically affect children, youth, or vulnerable communities?]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4233672"/>
            <a:ext cx="8412480" cy="50292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16" name="Shape 14"/>
          <p:cNvSpPr/>
          <p:nvPr/>
        </p:nvSpPr>
        <p:spPr>
          <a:xfrm>
            <a:off x="365760" y="4233672"/>
            <a:ext cx="64008" cy="50292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7" name="Text 15"/>
          <p:cNvSpPr/>
          <p:nvPr/>
        </p:nvSpPr>
        <p:spPr>
          <a:xfrm>
            <a:off x="566928" y="4288536"/>
            <a:ext cx="80924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WHY NOW?  [What has changed — in policy, technology, infrastructure, or behaviour — that makes this problem solvable TODAY when it was not 3 years ago?]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" name="Text 7"/>
          <p:cNvSpPr/>
          <p:nvPr/>
        </p:nvSpPr>
        <p:spPr>
          <a:xfrm>
            <a:off x="365760" y="950849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Complete this sentence: "We are a [product type] that helps [specific customer] to [core action] via [channel/mechanism], resulting in [measurable outcome]."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2788920" cy="303580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691640"/>
            <a:ext cx="2788920" cy="64008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2" name="Text 10"/>
          <p:cNvSpPr/>
          <p:nvPr/>
        </p:nvSpPr>
        <p:spPr>
          <a:xfrm>
            <a:off x="475488" y="1792224"/>
            <a:ext cx="25694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176272"/>
            <a:ext cx="2569464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[Describe the product or service in plain, jargon-free language. What does the customer actually see, touch, or interact with?]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is the one core feature that delivers the most value?]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1691640"/>
            <a:ext cx="2788920" cy="303580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0128" y="1691640"/>
            <a:ext cx="2788920" cy="640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6" name="Text 14"/>
          <p:cNvSpPr/>
          <p:nvPr/>
        </p:nvSpPr>
        <p:spPr>
          <a:xfrm>
            <a:off x="3419856" y="1792224"/>
            <a:ext cx="25694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19856" y="2176272"/>
            <a:ext cx="2569464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[Describe the customer journey in 3 steps: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(1) Customer does X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(2) Your platform or service does Y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(3) Customer receives Z outcome]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technology, process, or approach makes this possible?]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54496" y="1691640"/>
            <a:ext cx="2788920" cy="303580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54496" y="1691640"/>
            <a:ext cx="2788920" cy="64008"/>
          </a:xfrm>
          <a:prstGeom prst="rect">
            <a:avLst/>
          </a:prstGeom>
          <a:solidFill>
            <a:srgbClr val="009A44"/>
          </a:solidFill>
        </p:spPr>
      </p:sp>
      <p:sp>
        <p:nvSpPr>
          <p:cNvPr id="20" name="Text 18"/>
          <p:cNvSpPr/>
          <p:nvPr/>
        </p:nvSpPr>
        <p:spPr>
          <a:xfrm>
            <a:off x="6364224" y="1792224"/>
            <a:ext cx="256946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A44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FOR WHOM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4224" y="2176272"/>
            <a:ext cx="2569464" cy="2423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[Primary customer: age, location, income, behaviour]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[Who pays vs who uses? (e.g. 'Employers pay, employees use']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[Which UNICEF priority group does this serve? Children / youth / women / rural communities?]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Business Model Canvas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960120"/>
            <a:ext cx="1700784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960120"/>
            <a:ext cx="1700784" cy="59436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9" name="Text 7"/>
          <p:cNvSpPr/>
          <p:nvPr/>
        </p:nvSpPr>
        <p:spPr>
          <a:xfrm>
            <a:off x="228600" y="1051560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KEY PARTNERS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" y="1325880"/>
            <a:ext cx="1572768" cy="2569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[Who are your key partners and suppliers?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Who do you need to deliver your solution?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Ex: MTN for USSD, NGOs for distribution, MoFA for farmer access]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9384" y="960120"/>
            <a:ext cx="170078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9384" y="960120"/>
            <a:ext cx="1700784" cy="59436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3" name="Text 11"/>
          <p:cNvSpPr/>
          <p:nvPr/>
        </p:nvSpPr>
        <p:spPr>
          <a:xfrm>
            <a:off x="1993392" y="1051560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KEY ACTIVITIES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93392" y="1325880"/>
            <a:ext cx="1572768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activities does delivering your value proposition require?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Ex: Platform development, agent training, data collection, customer onboarding]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94176" y="960120"/>
            <a:ext cx="1700784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960120"/>
            <a:ext cx="1700784" cy="59436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7" name="Text 15"/>
          <p:cNvSpPr/>
          <p:nvPr/>
        </p:nvSpPr>
        <p:spPr>
          <a:xfrm>
            <a:off x="3758184" y="1051560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VALUE PROPOSITION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758184" y="1325880"/>
            <a:ext cx="1572768" cy="2569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value do you deliver?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What problem are you solving?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What makes your offer better than alternatives?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Why do customers come to you?]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58968" y="960120"/>
            <a:ext cx="1700784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58968" y="960120"/>
            <a:ext cx="1700784" cy="59436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1" name="Text 19"/>
          <p:cNvSpPr/>
          <p:nvPr/>
        </p:nvSpPr>
        <p:spPr>
          <a:xfrm>
            <a:off x="5522976" y="1051560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CUSTOMER RELATIONSHIPS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522976" y="1325880"/>
            <a:ext cx="1572768" cy="10789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relationship does your customer expect?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Ex: Self-service app, personal agent, USSD automated, community-based, peer-to-peer]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23760" y="960120"/>
            <a:ext cx="1572768" cy="3008376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960120"/>
            <a:ext cx="1572768" cy="59436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25" name="Text 23"/>
          <p:cNvSpPr/>
          <p:nvPr/>
        </p:nvSpPr>
        <p:spPr>
          <a:xfrm>
            <a:off x="7287768" y="1051560"/>
            <a:ext cx="14447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CUSTOMER SEGMENTS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287768" y="1325880"/>
            <a:ext cx="1444752" cy="2569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[Who are your most important customers?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Primary segment: specific demographics, geography, behaviour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Secondary segment if any]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929384" y="2532888"/>
            <a:ext cx="1700784" cy="14356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29384" y="2532888"/>
            <a:ext cx="1700784" cy="59436"/>
          </a:xfrm>
          <a:prstGeom prst="rect">
            <a:avLst/>
          </a:prstGeom>
          <a:solidFill>
            <a:srgbClr val="009A44"/>
          </a:solidFill>
        </p:spPr>
      </p:sp>
      <p:sp>
        <p:nvSpPr>
          <p:cNvPr id="29" name="Text 27"/>
          <p:cNvSpPr/>
          <p:nvPr/>
        </p:nvSpPr>
        <p:spPr>
          <a:xfrm>
            <a:off x="1993392" y="2624328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9A44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KEY RESOURCES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93392" y="2898648"/>
            <a:ext cx="1572768" cy="996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resources does your value proposition require?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Ex: Proprietary data, tech platform, regulatory licence, community relationships, team expertise]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58968" y="2532888"/>
            <a:ext cx="1700784" cy="14356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58968" y="2532888"/>
            <a:ext cx="1700784" cy="59436"/>
          </a:xfrm>
          <a:prstGeom prst="rect">
            <a:avLst/>
          </a:prstGeom>
          <a:solidFill>
            <a:srgbClr val="009A44"/>
          </a:solidFill>
        </p:spPr>
      </p:sp>
      <p:sp>
        <p:nvSpPr>
          <p:cNvPr id="33" name="Text 31"/>
          <p:cNvSpPr/>
          <p:nvPr/>
        </p:nvSpPr>
        <p:spPr>
          <a:xfrm>
            <a:off x="5522976" y="2624328"/>
            <a:ext cx="157276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9A44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CHANNELS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522976" y="2898648"/>
            <a:ext cx="1572768" cy="9966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[How do you reach and serve your customers?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Ex: USSD, mobile app, SMS, community agents, WhatsApp, partner NGOs, field officers]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64592" y="4023360"/>
            <a:ext cx="4379976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" y="4023360"/>
            <a:ext cx="4379976" cy="594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7" name="Text 35"/>
          <p:cNvSpPr/>
          <p:nvPr/>
        </p:nvSpPr>
        <p:spPr>
          <a:xfrm>
            <a:off x="228600" y="4114800"/>
            <a:ext cx="4251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COST STRUCTURE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28600" y="4389120"/>
            <a:ext cx="425196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[What are your biggest costs? Fixed vs variable. Top 3 cost drivers.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Ex: Cloud hosting, agent commissions, MoMo transaction fees, staff salaries]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81144" y="4023360"/>
            <a:ext cx="439826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1144" y="4023360"/>
            <a:ext cx="4398264" cy="59436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41" name="Text 39"/>
          <p:cNvSpPr/>
          <p:nvPr/>
        </p:nvSpPr>
        <p:spPr>
          <a:xfrm>
            <a:off x="4645152" y="4114800"/>
            <a:ext cx="4270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4748B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REVENUE STREAMS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45152" y="4389120"/>
            <a:ext cx="4270248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[How does money flow to your company from each segment?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Model type + price point + frequency. Reference your Day 3 Revenue Model output.]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Business Model Type &amp; Strategy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3200400" cy="1691640"/>
          </a:xfrm>
          <a:prstGeom prst="rect">
            <a:avLst/>
          </a:prstGeom>
          <a:solidFill>
            <a:srgbClr val="0A254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98755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OUR MODEL 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335024"/>
            <a:ext cx="292608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[e.g. B2B SaaS</a:t>
            </a:r>
            <a:endParaRPr lang="en-US" sz="1900" dirty="0"/>
          </a:p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or B2C Subscription</a:t>
            </a:r>
            <a:endParaRPr lang="en-US" sz="1900" dirty="0"/>
          </a:p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or Platform / Marketplace]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749040" y="914400"/>
            <a:ext cx="5029200" cy="169164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914400"/>
            <a:ext cx="64008" cy="169164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2" name="Text 10"/>
          <p:cNvSpPr/>
          <p:nvPr/>
        </p:nvSpPr>
        <p:spPr>
          <a:xfrm>
            <a:off x="3913632" y="1005840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WHY THIS MODEL FITS OUR BUSINESS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1408176"/>
            <a:ext cx="48006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[Customer type: explain why your target customer is best served by this model — B2B, B2C, B2G, or Platform]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[Ghana market fit: what specific market condition makes this the right choice — e.g. mobile penetration, informality of sector, enterprise procurement cycles]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41148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24912"/>
            <a:ext cx="64008" cy="21031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6" name="Text 14"/>
          <p:cNvSpPr/>
          <p:nvPr/>
        </p:nvSpPr>
        <p:spPr>
          <a:xfrm>
            <a:off x="530352" y="281635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5-FACTOR JUSTIFICATION (Day 2 Framework)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218688"/>
            <a:ext cx="3886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Customer Type: [direct end-user / business buyer / government / platform participant]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Scale Needed: [low volume high value per customer / high volume low value per customer]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Cash Flow Timing: [upfront payment / monthly recurring / milestone or project-based]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Competitive Landscape: [fragmented / dominated by incumbents / regulated market entry]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Regulatory Environment: [open market / licensed category / government procurement required]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63440" y="2724912"/>
            <a:ext cx="41148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724912"/>
            <a:ext cx="64008" cy="2103120"/>
          </a:xfrm>
          <a:prstGeom prst="rect">
            <a:avLst/>
          </a:prstGeom>
          <a:solidFill>
            <a:srgbClr val="009A44"/>
          </a:solidFill>
        </p:spPr>
      </p:sp>
      <p:sp>
        <p:nvSpPr>
          <p:cNvPr id="20" name="Text 18"/>
          <p:cNvSpPr/>
          <p:nvPr/>
        </p:nvSpPr>
        <p:spPr>
          <a:xfrm>
            <a:off x="4828032" y="2816352"/>
            <a:ext cx="3886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GO-TO-MARKET STRATEGY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3218688"/>
            <a:ext cx="3886200" cy="1508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Primary acquisition channel: [how you get your first 100 paying customers — be specific]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Beachhead market: [the specific segment or geography you enter FIRST and why it is the right beachhead]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Expansion path: [the adjacent segment or region you enter after proving the beachhead]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Key partnership: [one strategic partnership that reduces CAC or unlocks distribution at scale]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Revenue Model &amp; Unit Economics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4023360" cy="33375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64008" cy="333756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9" name="Text 7"/>
          <p:cNvSpPr/>
          <p:nvPr/>
        </p:nvSpPr>
        <p:spPr>
          <a:xfrm>
            <a:off x="530352" y="1005840"/>
            <a:ext cx="3794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REVENUE MODEL (Day 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408176"/>
            <a:ext cx="379476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Model type: [Subscription / Transaction / Freemium / Licensing / Blended]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Primary stream: [describe how customers pay — what triggers payment, how often, in what amount]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Price point: [GHS ___ per month / ___% commission per transaction / GHS ___ per unit]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Pricing justification: [why this price? Have you tested it with real customers? What did they say?]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Secondary stream (if blended): [describe additional revenue layer once primary model is proven]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206240" cy="333756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914400"/>
            <a:ext cx="4206240" cy="59436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3" name="Text 11"/>
          <p:cNvSpPr/>
          <p:nvPr/>
        </p:nvSpPr>
        <p:spPr>
          <a:xfrm>
            <a:off x="4681728" y="1005840"/>
            <a:ext cx="39867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UNIT ECONOMICS (Day 3)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411480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15" name="Text 13"/>
          <p:cNvSpPr/>
          <p:nvPr/>
        </p:nvSpPr>
        <p:spPr>
          <a:xfrm>
            <a:off x="4700016" y="149961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CAC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94960" y="1499616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Customer Acquisition Cost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242048" y="147218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[GHS ____]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1892808"/>
            <a:ext cx="41148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4700016" y="1975104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ARPU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94960" y="1975104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Avg Revenue / User / Month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42048" y="194767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[GHS ____]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17720" y="2368296"/>
            <a:ext cx="411480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23" name="Text 21"/>
          <p:cNvSpPr/>
          <p:nvPr/>
        </p:nvSpPr>
        <p:spPr>
          <a:xfrm>
            <a:off x="4700016" y="2450592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Churn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450592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Monthly Churn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42048" y="2423160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  ____%  ]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2843784"/>
            <a:ext cx="41148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4700016" y="2926080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LTV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2926080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Lifetime Value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42048" y="289864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[GHS ____]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3319272"/>
            <a:ext cx="411480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1" name="Shape 29"/>
          <p:cNvSpPr/>
          <p:nvPr/>
        </p:nvSpPr>
        <p:spPr>
          <a:xfrm>
            <a:off x="4617720" y="3319272"/>
            <a:ext cx="54864" cy="420624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32" name="Text 30"/>
          <p:cNvSpPr/>
          <p:nvPr/>
        </p:nvSpPr>
        <p:spPr>
          <a:xfrm>
            <a:off x="4700016" y="3401568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LTV:CAC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34015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The Golden Ratio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42048" y="337413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 ____ x  ]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17720" y="3794760"/>
            <a:ext cx="41148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6" name="Text 34"/>
          <p:cNvSpPr/>
          <p:nvPr/>
        </p:nvSpPr>
        <p:spPr>
          <a:xfrm>
            <a:off x="4700016" y="3877056"/>
            <a:ext cx="65836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Payback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94960" y="3877056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CAC Payback Period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42048" y="384962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[__ months]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Market Opportunity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Addressable market in Ghana and Africa. Be specific — investors discount global TAM figures without Ghana-level grounding.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788920" cy="3310128"/>
          </a:xfrm>
          <a:prstGeom prst="rect">
            <a:avLst/>
          </a:prstGeom>
          <a:solidFill>
            <a:srgbClr val="0A254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89888"/>
            <a:ext cx="2788920" cy="7315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0" name="Text 8"/>
          <p:cNvSpPr/>
          <p:nvPr/>
        </p:nvSpPr>
        <p:spPr>
          <a:xfrm>
            <a:off x="457200" y="153619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TAM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23113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4FD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Total global or African demand for your product category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328416"/>
            <a:ext cx="2606040" cy="4572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4" name="Text 12"/>
          <p:cNvSpPr/>
          <p:nvPr/>
        </p:nvSpPr>
        <p:spPr>
          <a:xfrm>
            <a:off x="457200" y="3419856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[Your TAM figure — GHS or USD ____ / year]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85616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Total crop insurance premiums in Sub-Saharan Africa: $2.4B/year (IFC 2023)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64408" y="1389888"/>
            <a:ext cx="2788920" cy="331012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89888"/>
            <a:ext cx="2788920" cy="73152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8" name="Text 16"/>
          <p:cNvSpPr/>
          <p:nvPr/>
        </p:nvSpPr>
        <p:spPr>
          <a:xfrm>
            <a:off x="3401568" y="153619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SAM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401568" y="223113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263347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The portion of TAM you can realistically reach with your current model, in Ghana / West Africa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55848" y="3328416"/>
            <a:ext cx="2606040" cy="4572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22" name="Text 20"/>
          <p:cNvSpPr/>
          <p:nvPr/>
        </p:nvSpPr>
        <p:spPr>
          <a:xfrm>
            <a:off x="3401568" y="3419856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[Your SAM figure — GHS or USD ____ / year]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01568" y="3785616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Ghana smallholder farmers with MoMo access: 1.2M × $12/yr = $14.4M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08776" y="1389888"/>
            <a:ext cx="2788920" cy="3310128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1389888"/>
            <a:ext cx="2788920" cy="73152"/>
          </a:xfrm>
          <a:prstGeom prst="rect">
            <a:avLst/>
          </a:prstGeom>
          <a:solidFill>
            <a:srgbClr val="009A44"/>
          </a:solidFill>
        </p:spPr>
      </p:sp>
      <p:sp>
        <p:nvSpPr>
          <p:cNvPr id="26" name="Text 24"/>
          <p:cNvSpPr/>
          <p:nvPr/>
        </p:nvSpPr>
        <p:spPr>
          <a:xfrm>
            <a:off x="6345936" y="153619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9A44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SOM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345936" y="2231136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Serviceable Obtainable Market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45936" y="2633472"/>
            <a:ext cx="25146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What you can capture within 3–5 years with your team and resources today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0216" y="3328416"/>
            <a:ext cx="2606040" cy="4572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30" name="Text 28"/>
          <p:cNvSpPr/>
          <p:nvPr/>
        </p:nvSpPr>
        <p:spPr>
          <a:xfrm>
            <a:off x="6345936" y="3419856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9A44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[Your SOM figure — GHS or USD ____ / year]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45936" y="3785616"/>
            <a:ext cx="25146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10% of SAM in 3 yrs = $1.44M/yr (15,000 farmers × $96/yr)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Traction &amp; Milestones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What have you already built, validated, and delivered? Evidence beats promises.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084832" cy="1188720"/>
          </a:xfrm>
          <a:prstGeom prst="rect">
            <a:avLst/>
          </a:prstGeom>
          <a:solidFill>
            <a:srgbClr val="0A254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1408176"/>
            <a:ext cx="20848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[# ____]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E8F4FD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USERS / CUSTOMERS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32888" y="1353312"/>
            <a:ext cx="2084832" cy="11887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32888" y="1408176"/>
            <a:ext cx="20848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[GHS ____]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32888" y="2029968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A2540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REVENUE TO DATE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45736" y="1353312"/>
            <a:ext cx="2084832" cy="11887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1408176"/>
            <a:ext cx="20848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[# ____]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45736" y="2029968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A2540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PILOTS / PARTNERS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58584" y="1353312"/>
            <a:ext cx="2084832" cy="11887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58584" y="1408176"/>
            <a:ext cx="208483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[# ____]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58584" y="2029968"/>
            <a:ext cx="20848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A2540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LIVES IMPACTED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Shape 19"/>
          <p:cNvSpPr/>
          <p:nvPr/>
        </p:nvSpPr>
        <p:spPr>
          <a:xfrm>
            <a:off x="420624" y="2743200"/>
            <a:ext cx="274320" cy="274320"/>
          </a:xfrm>
          <a:prstGeom prst="ellipse">
            <a:avLst/>
          </a:prstGeom>
          <a:solidFill>
            <a:srgbClr val="FFC20E"/>
          </a:solidFill>
        </p:spPr>
      </p:sp>
      <p:sp>
        <p:nvSpPr>
          <p:cNvPr id="22" name="Text 20"/>
          <p:cNvSpPr/>
          <p:nvPr/>
        </p:nvSpPr>
        <p:spPr>
          <a:xfrm>
            <a:off x="786384" y="2752344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[Month/Year]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84832" y="275234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[Milestone 1]: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13632" y="2752344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Incorporated startup, completed MVP prototype, ran first user testing session with 10 beta users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163824"/>
            <a:ext cx="8412480" cy="457200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26" name="Shape 24"/>
          <p:cNvSpPr/>
          <p:nvPr/>
        </p:nvSpPr>
        <p:spPr>
          <a:xfrm>
            <a:off x="420624" y="3255264"/>
            <a:ext cx="274320" cy="274320"/>
          </a:xfrm>
          <a:prstGeom prst="ellipse">
            <a:avLst/>
          </a:prstGeom>
          <a:solidFill>
            <a:srgbClr val="FFC20E"/>
          </a:solidFill>
        </p:spPr>
      </p:sp>
      <p:sp>
        <p:nvSpPr>
          <p:cNvPr id="27" name="Text 25"/>
          <p:cNvSpPr/>
          <p:nvPr/>
        </p:nvSpPr>
        <p:spPr>
          <a:xfrm>
            <a:off x="786384" y="3264408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[Month/Year]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84832" y="326440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[Milestone 2]: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13632" y="3264408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Completed 60-day pilot with 50 customers, validated willingness to pay at GHS 30/month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675888"/>
            <a:ext cx="841248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Shape 29"/>
          <p:cNvSpPr/>
          <p:nvPr/>
        </p:nvSpPr>
        <p:spPr>
          <a:xfrm>
            <a:off x="420624" y="3767328"/>
            <a:ext cx="274320" cy="274320"/>
          </a:xfrm>
          <a:prstGeom prst="ellipse">
            <a:avLst/>
          </a:prstGeom>
          <a:solidFill>
            <a:srgbClr val="FFC20E"/>
          </a:solidFill>
        </p:spPr>
      </p:sp>
      <p:sp>
        <p:nvSpPr>
          <p:cNvPr id="32" name="Text 30"/>
          <p:cNvSpPr/>
          <p:nvPr/>
        </p:nvSpPr>
        <p:spPr>
          <a:xfrm>
            <a:off x="786384" y="3776472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[Month/Year]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084832" y="37764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[Milestone 3]: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13632" y="3776472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Signed first paying B2B client, processed GHS 10,000 in revenue, obtained regulatory registration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187952"/>
            <a:ext cx="8412480" cy="457200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6" name="Shape 34"/>
          <p:cNvSpPr/>
          <p:nvPr/>
        </p:nvSpPr>
        <p:spPr>
          <a:xfrm>
            <a:off x="420624" y="4279392"/>
            <a:ext cx="274320" cy="274320"/>
          </a:xfrm>
          <a:prstGeom prst="ellipse">
            <a:avLst/>
          </a:prstGeom>
          <a:solidFill>
            <a:srgbClr val="009A44"/>
          </a:solidFill>
        </p:spPr>
      </p:sp>
      <p:sp>
        <p:nvSpPr>
          <p:cNvPr id="37" name="Text 35"/>
          <p:cNvSpPr/>
          <p:nvPr/>
        </p:nvSpPr>
        <p:spPr>
          <a:xfrm>
            <a:off x="786384" y="4288536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09A44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[Next 90 days]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084832" y="4288536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[Next milestone]: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913632" y="4288536"/>
            <a:ext cx="480060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e.g. Scale to 500 users, close partnership with key distributor, launch USSD channel in Ashanti Region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Competitive Landscape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Direct, indirect, and substitute competitors — and why customers will choose you over all three.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93392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9" name="Text 7"/>
          <p:cNvSpPr/>
          <p:nvPr/>
        </p:nvSpPr>
        <p:spPr>
          <a:xfrm>
            <a:off x="365760" y="1325880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COMPETITOR 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50008" y="1325880"/>
            <a:ext cx="804672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1" name="Text 9"/>
          <p:cNvSpPr/>
          <p:nvPr/>
        </p:nvSpPr>
        <p:spPr>
          <a:xfrm>
            <a:off x="2395728" y="1325880"/>
            <a:ext cx="71323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TYPE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91256" y="1325880"/>
            <a:ext cx="1755648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3" name="Text 11"/>
          <p:cNvSpPr/>
          <p:nvPr/>
        </p:nvSpPr>
        <p:spPr>
          <a:xfrm>
            <a:off x="3236976" y="1325880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THEIR STRENGTH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983480" y="1325880"/>
            <a:ext cx="1755648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5029200" y="1325880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THEIR WEAKNESS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75704" y="1325880"/>
            <a:ext cx="2267712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7" name="Text 15"/>
          <p:cNvSpPr/>
          <p:nvPr/>
        </p:nvSpPr>
        <p:spPr>
          <a:xfrm>
            <a:off x="6821424" y="1325880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YOUR ADVANTAGE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1737360"/>
            <a:ext cx="1993392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365760" y="1773936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[Name]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50008" y="1737360"/>
            <a:ext cx="804672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2395728" y="1773936"/>
            <a:ext cx="71323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Direct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91256" y="1737360"/>
            <a:ext cx="1755648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3" name="Text 21"/>
          <p:cNvSpPr/>
          <p:nvPr/>
        </p:nvSpPr>
        <p:spPr>
          <a:xfrm>
            <a:off x="3236976" y="1773936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[Key strength]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83480" y="1737360"/>
            <a:ext cx="1755648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5029200" y="1773936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[Key gap / weakness]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75704" y="1737360"/>
            <a:ext cx="2267712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6821424" y="1773936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[How you outperform here]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212848"/>
            <a:ext cx="1993392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29" name="Text 27"/>
          <p:cNvSpPr/>
          <p:nvPr/>
        </p:nvSpPr>
        <p:spPr>
          <a:xfrm>
            <a:off x="365760" y="2249424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[Name]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350008" y="2212848"/>
            <a:ext cx="804672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1" name="Text 29"/>
          <p:cNvSpPr/>
          <p:nvPr/>
        </p:nvSpPr>
        <p:spPr>
          <a:xfrm>
            <a:off x="2395728" y="2249424"/>
            <a:ext cx="71323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Indirect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91256" y="2212848"/>
            <a:ext cx="1755648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3" name="Text 31"/>
          <p:cNvSpPr/>
          <p:nvPr/>
        </p:nvSpPr>
        <p:spPr>
          <a:xfrm>
            <a:off x="3236976" y="2249424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[Why customers use them]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83480" y="2212848"/>
            <a:ext cx="1755648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5" name="Text 33"/>
          <p:cNvSpPr/>
          <p:nvPr/>
        </p:nvSpPr>
        <p:spPr>
          <a:xfrm>
            <a:off x="5029200" y="2249424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[Why it fails customers]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775704" y="2212848"/>
            <a:ext cx="2267712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7" name="Text 35"/>
          <p:cNvSpPr/>
          <p:nvPr/>
        </p:nvSpPr>
        <p:spPr>
          <a:xfrm>
            <a:off x="6821424" y="2249424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[Why your approach is better]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2688336"/>
            <a:ext cx="1993392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9" name="Text 37"/>
          <p:cNvSpPr/>
          <p:nvPr/>
        </p:nvSpPr>
        <p:spPr>
          <a:xfrm>
            <a:off x="365760" y="2724912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[Behaviour / habit]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350008" y="2688336"/>
            <a:ext cx="804672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2395728" y="2724912"/>
            <a:ext cx="71323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Substitute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191256" y="2688336"/>
            <a:ext cx="1755648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3236976" y="2724912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[Why customers default to it]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983480" y="2688336"/>
            <a:ext cx="1755648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5029200" y="2724912"/>
            <a:ext cx="1664208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[Its core limitation]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75704" y="2688336"/>
            <a:ext cx="2267712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7" name="Text 45"/>
          <p:cNvSpPr/>
          <p:nvPr/>
        </p:nvSpPr>
        <p:spPr>
          <a:xfrm>
            <a:off x="6821424" y="2724912"/>
            <a:ext cx="217627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[Why your solution wins]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0040" y="3236976"/>
            <a:ext cx="8503920" cy="1536192"/>
          </a:xfrm>
          <a:prstGeom prst="rect">
            <a:avLst/>
          </a:prstGeom>
          <a:solidFill>
            <a:srgbClr val="0A254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3236976"/>
            <a:ext cx="64008" cy="1536192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50" name="Text 48"/>
          <p:cNvSpPr/>
          <p:nvPr/>
        </p:nvSpPr>
        <p:spPr>
          <a:xfrm>
            <a:off x="502920" y="3310128"/>
            <a:ext cx="8138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OUR COMPETITIVE MOAT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365760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[In 2–3 sentences: what is your structural advantage that a better-funded competitor cannot replicate quickly?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Choose from: Network effects / Proprietary data / Regulatory moat / Switching costs / Community trust / Local language / Relationships built over years.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Then explain WHY it is hard or expensive to copy.]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12-Month Revenue Forecast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Bottom-up forecast from your actual acquisition capacity and churn assumptions (Day 3 method).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3200400" cy="25603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98448"/>
            <a:ext cx="64008" cy="256032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0" name="Text 8"/>
          <p:cNvSpPr/>
          <p:nvPr/>
        </p:nvSpPr>
        <p:spPr>
          <a:xfrm>
            <a:off x="530352" y="1389888"/>
            <a:ext cx="2971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KEY ASSUMPTIONS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" y="1792224"/>
            <a:ext cx="2971800" cy="1965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Starting customers (Month 1): [___]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Monthly new customers acquired: [___]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Monthly churn rate: [___%]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ARPU — Avg Revenue Per User / Month: [GHS ___]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Gross margin per customer: [___%]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Primary acquisition channel: [___________]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30752" y="1298448"/>
            <a:ext cx="1508760" cy="347472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13" name="Text 11"/>
          <p:cNvSpPr/>
          <p:nvPr/>
        </p:nvSpPr>
        <p:spPr>
          <a:xfrm>
            <a:off x="3767328" y="1298448"/>
            <a:ext cx="143560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57800" y="1298448"/>
            <a:ext cx="777240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5" name="Text 13"/>
          <p:cNvSpPr/>
          <p:nvPr/>
        </p:nvSpPr>
        <p:spPr>
          <a:xfrm>
            <a:off x="5294376" y="1298448"/>
            <a:ext cx="7040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Q1 Mo 1–3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53328" y="1298448"/>
            <a:ext cx="777240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7" name="Text 15"/>
          <p:cNvSpPr/>
          <p:nvPr/>
        </p:nvSpPr>
        <p:spPr>
          <a:xfrm>
            <a:off x="6089904" y="1298448"/>
            <a:ext cx="7040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Q2 Mo 4–6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48856" y="1298448"/>
            <a:ext cx="777240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9" name="Text 17"/>
          <p:cNvSpPr/>
          <p:nvPr/>
        </p:nvSpPr>
        <p:spPr>
          <a:xfrm>
            <a:off x="6885432" y="1298448"/>
            <a:ext cx="7040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Q3 Mo 7–9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644384" y="1298448"/>
            <a:ext cx="777240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1" name="Text 19"/>
          <p:cNvSpPr/>
          <p:nvPr/>
        </p:nvSpPr>
        <p:spPr>
          <a:xfrm>
            <a:off x="7680960" y="1298448"/>
            <a:ext cx="704088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Q4 Mo 10–12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439785" y="1298575"/>
            <a:ext cx="706120" cy="347345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3" name="Text 21"/>
          <p:cNvSpPr/>
          <p:nvPr/>
        </p:nvSpPr>
        <p:spPr>
          <a:xfrm>
            <a:off x="8476615" y="1298575"/>
            <a:ext cx="66802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YEAR 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30752" y="1700784"/>
            <a:ext cx="150876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3767328" y="1764792"/>
            <a:ext cx="1435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Customers (avg)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57800" y="1700784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7" name="Text 25"/>
          <p:cNvSpPr/>
          <p:nvPr/>
        </p:nvSpPr>
        <p:spPr>
          <a:xfrm>
            <a:off x="5294376" y="1764792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53328" y="1700784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6089904" y="1764792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48856" y="1700784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6885432" y="1764792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44384" y="1700784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7680960" y="1764792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39785" y="1700530"/>
            <a:ext cx="706120" cy="42037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5" name="Text 33"/>
          <p:cNvSpPr/>
          <p:nvPr/>
        </p:nvSpPr>
        <p:spPr>
          <a:xfrm>
            <a:off x="8476488" y="1764792"/>
            <a:ext cx="795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730752" y="2176272"/>
            <a:ext cx="150876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7" name="Text 35"/>
          <p:cNvSpPr/>
          <p:nvPr/>
        </p:nvSpPr>
        <p:spPr>
          <a:xfrm>
            <a:off x="3767328" y="2240280"/>
            <a:ext cx="1435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New Acquired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57800" y="2176272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9" name="Text 37"/>
          <p:cNvSpPr/>
          <p:nvPr/>
        </p:nvSpPr>
        <p:spPr>
          <a:xfrm>
            <a:off x="5294376" y="2240280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53328" y="2176272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41" name="Text 39"/>
          <p:cNvSpPr/>
          <p:nvPr/>
        </p:nvSpPr>
        <p:spPr>
          <a:xfrm>
            <a:off x="6089904" y="2240280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48856" y="2176272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43" name="Text 41"/>
          <p:cNvSpPr/>
          <p:nvPr/>
        </p:nvSpPr>
        <p:spPr>
          <a:xfrm>
            <a:off x="6885432" y="2240280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644384" y="2176272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45" name="Text 43"/>
          <p:cNvSpPr/>
          <p:nvPr/>
        </p:nvSpPr>
        <p:spPr>
          <a:xfrm>
            <a:off x="7680960" y="2240280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39785" y="2176145"/>
            <a:ext cx="706120" cy="420370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47" name="Text 45"/>
          <p:cNvSpPr/>
          <p:nvPr/>
        </p:nvSpPr>
        <p:spPr>
          <a:xfrm>
            <a:off x="8476488" y="2240280"/>
            <a:ext cx="795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[#]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30752" y="2651760"/>
            <a:ext cx="150876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9" name="Text 47"/>
          <p:cNvSpPr/>
          <p:nvPr/>
        </p:nvSpPr>
        <p:spPr>
          <a:xfrm>
            <a:off x="3767328" y="2715768"/>
            <a:ext cx="1435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Revenue (GHS)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257800" y="2651760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1" name="Text 49"/>
          <p:cNvSpPr/>
          <p:nvPr/>
        </p:nvSpPr>
        <p:spPr>
          <a:xfrm>
            <a:off x="5294376" y="271576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053328" y="2651760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6089904" y="271576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48856" y="2651760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6885432" y="271576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44384" y="2651760"/>
            <a:ext cx="77724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7680960" y="2715768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439785" y="2651760"/>
            <a:ext cx="708660" cy="42037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9" name="Text 57"/>
          <p:cNvSpPr/>
          <p:nvPr/>
        </p:nvSpPr>
        <p:spPr>
          <a:xfrm>
            <a:off x="8390763" y="2715768"/>
            <a:ext cx="795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[___,___]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730752" y="3127248"/>
            <a:ext cx="150876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61" name="Text 59"/>
          <p:cNvSpPr/>
          <p:nvPr/>
        </p:nvSpPr>
        <p:spPr>
          <a:xfrm>
            <a:off x="3767328" y="3191256"/>
            <a:ext cx="14356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Gross Profit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257800" y="3127248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63" name="Text 61"/>
          <p:cNvSpPr/>
          <p:nvPr/>
        </p:nvSpPr>
        <p:spPr>
          <a:xfrm>
            <a:off x="5294376" y="3191256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53328" y="3127248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65" name="Text 63"/>
          <p:cNvSpPr/>
          <p:nvPr/>
        </p:nvSpPr>
        <p:spPr>
          <a:xfrm>
            <a:off x="6089904" y="3191256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848856" y="3127248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67" name="Text 65"/>
          <p:cNvSpPr/>
          <p:nvPr/>
        </p:nvSpPr>
        <p:spPr>
          <a:xfrm>
            <a:off x="6885432" y="3191256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7644384" y="3127248"/>
            <a:ext cx="777240" cy="420624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69" name="Text 67"/>
          <p:cNvSpPr/>
          <p:nvPr/>
        </p:nvSpPr>
        <p:spPr>
          <a:xfrm>
            <a:off x="7680960" y="3191256"/>
            <a:ext cx="7040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[__,___]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439785" y="3127375"/>
            <a:ext cx="708660" cy="420370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71" name="Text 69"/>
          <p:cNvSpPr/>
          <p:nvPr/>
        </p:nvSpPr>
        <p:spPr>
          <a:xfrm>
            <a:off x="8409813" y="3191256"/>
            <a:ext cx="79552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[___,___]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E8F4FD"/>
          </a:solidFill>
        </p:spPr>
      </p:sp>
      <p:sp>
        <p:nvSpPr>
          <p:cNvPr id="73" name="Shape 71"/>
          <p:cNvSpPr/>
          <p:nvPr/>
        </p:nvSpPr>
        <p:spPr>
          <a:xfrm>
            <a:off x="365760" y="3931920"/>
            <a:ext cx="64008" cy="86868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74" name="Text 72"/>
          <p:cNvSpPr/>
          <p:nvPr/>
        </p:nvSpPr>
        <p:spPr>
          <a:xfrm>
            <a:off x="566928" y="4005072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3-YEAR SUMMARY: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2670048" y="4005072"/>
            <a:ext cx="594360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Year 1: [GHS ___] revenue / [#] customers   |   Year 2: [GHS ___] / [#] customers   |   Year 3: [GHS ___] / [#] customers</a:t>
            </a:r>
            <a:endParaRPr lang="en-US" sz="1050" dirty="0"/>
          </a:p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Break-even target: [Month ___]   |   What milestone triggers your next funding round?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Team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Why are YOU the right team to solve this problem — and to build this business in Ghana?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53312"/>
            <a:ext cx="2743200" cy="3438144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53312"/>
            <a:ext cx="2743200" cy="64008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0" name="Shape 8"/>
          <p:cNvSpPr/>
          <p:nvPr/>
        </p:nvSpPr>
        <p:spPr>
          <a:xfrm>
            <a:off x="960120" y="1481328"/>
            <a:ext cx="1463040" cy="1298448"/>
          </a:xfrm>
          <a:prstGeom prst="rect">
            <a:avLst/>
          </a:prstGeom>
          <a:solidFill>
            <a:srgbClr val="E8F4FD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481328"/>
            <a:ext cx="14630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[PHOTO]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2852928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[Full Name]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" y="3218688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CEO / CO-FOUNDER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" y="3529584"/>
            <a:ext cx="2523744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[2–3 sentences: domain expertise, specific past experience relevant to this problem, and why this person is uniquely suited to build this startup in Ghana]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353312"/>
            <a:ext cx="2743200" cy="3438144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53312"/>
            <a:ext cx="2743200" cy="6400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8" name="Shape 16"/>
          <p:cNvSpPr/>
          <p:nvPr/>
        </p:nvSpPr>
        <p:spPr>
          <a:xfrm>
            <a:off x="3904488" y="1481328"/>
            <a:ext cx="1463040" cy="1298448"/>
          </a:xfrm>
          <a:prstGeom prst="rect">
            <a:avLst/>
          </a:prstGeom>
          <a:solidFill>
            <a:srgbClr val="E8F4FD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1481328"/>
            <a:ext cx="14630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[PHOTO]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2852928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[Full Name]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74136" y="3218688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A2540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CTO / CO-FOUNDER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74136" y="3529584"/>
            <a:ext cx="2523744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[2–3 sentences: domain expertise, specific past experience relevant to this problem, and why this person is uniquely suited to build this startup in Ghana]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08776" y="1353312"/>
            <a:ext cx="2743200" cy="3438144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1353312"/>
            <a:ext cx="2743200" cy="64008"/>
          </a:xfrm>
          <a:prstGeom prst="rect">
            <a:avLst/>
          </a:prstGeom>
          <a:solidFill>
            <a:srgbClr val="009A44"/>
          </a:solidFill>
        </p:spPr>
      </p:sp>
      <p:sp>
        <p:nvSpPr>
          <p:cNvPr id="26" name="Shape 24"/>
          <p:cNvSpPr/>
          <p:nvPr/>
        </p:nvSpPr>
        <p:spPr>
          <a:xfrm>
            <a:off x="6848856" y="1481328"/>
            <a:ext cx="1463040" cy="1298448"/>
          </a:xfrm>
          <a:prstGeom prst="rect">
            <a:avLst/>
          </a:prstGeom>
          <a:solidFill>
            <a:srgbClr val="E8F4FD"/>
          </a:solidFill>
          <a:ln w="9525">
            <a:solidFill>
              <a:srgbClr val="C5D5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1481328"/>
            <a:ext cx="146304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[PHOTO]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18504" y="2852928"/>
            <a:ext cx="252374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[Full Name]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18504" y="3218688"/>
            <a:ext cx="2523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009A44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[ROLE] / ADVISOR OR THIRD FOUNDER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18504" y="3529584"/>
            <a:ext cx="2523744" cy="11704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[2–3 sentences: domain expertise, specific past experience relevant to this problem, and why this person is uniquely suited to build this startup in Ghana]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AEEF"/>
          </a:solidFill>
        </p:spPr>
      </p:sp>
      <p:sp>
        <p:nvSpPr>
          <p:cNvPr id="4" name="Text 2"/>
          <p:cNvSpPr/>
          <p:nvPr/>
        </p:nvSpPr>
        <p:spPr>
          <a:xfrm>
            <a:off x="457200" y="164592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The Ask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675120" y="91440"/>
            <a:ext cx="214884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PITCH DAY 5  |  MODULE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Be specific. Vague asks get vague responses. Tell investors exactly what you need and what you will achieve with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3200400" cy="1554480"/>
          </a:xfrm>
          <a:prstGeom prst="rect">
            <a:avLst/>
          </a:prstGeom>
          <a:solidFill>
            <a:srgbClr val="0A2540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389888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WE ARE SEEKING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292608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[USD / GHS</a:t>
            </a:r>
            <a:endParaRPr lang="en-US" sz="2600" dirty="0"/>
          </a:p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____]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749040" y="1298448"/>
            <a:ext cx="5029200" cy="155448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298448"/>
            <a:ext cx="64008" cy="155448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3" name="Text 11"/>
          <p:cNvSpPr/>
          <p:nvPr/>
        </p:nvSpPr>
        <p:spPr>
          <a:xfrm>
            <a:off x="3913632" y="1389888"/>
            <a:ext cx="4800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IN EXCHANGE FOR / TYPE OF SUPPORT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13632" y="1792224"/>
            <a:ext cx="4800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[Equity offered: ___% equity / SAFE note / convertible loan]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[Grant / non-dilutive funding from UNICEF / KOICA programme]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[Non-financial: mentorship / DPG pathway / strategic partnership / network access]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2944368"/>
            <a:ext cx="8412480" cy="347472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6" name="Text 14"/>
          <p:cNvSpPr/>
          <p:nvPr/>
        </p:nvSpPr>
        <p:spPr>
          <a:xfrm>
            <a:off x="502920" y="2944368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355848"/>
            <a:ext cx="841248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8" name="Text 16"/>
          <p:cNvSpPr/>
          <p:nvPr/>
        </p:nvSpPr>
        <p:spPr>
          <a:xfrm>
            <a:off x="457200" y="3429000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[___%]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342900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Product / Technology: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82112" y="3429000"/>
            <a:ext cx="544068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[e.g. Complete USSD integration, hire backend developer, build offline mode for Northern Region]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776472"/>
            <a:ext cx="8412480" cy="365760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22" name="Text 20"/>
          <p:cNvSpPr/>
          <p:nvPr/>
        </p:nvSpPr>
        <p:spPr>
          <a:xfrm>
            <a:off x="457200" y="3849624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[___%]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384962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Sales &amp; Customer Acquisition: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82112" y="3849624"/>
            <a:ext cx="544068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[e.g. Hire 2 community agents in Tamale, fund 90-day paid acquisition pilot, attend 2 trade fairs]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197096"/>
            <a:ext cx="841248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457200" y="4270248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[___%]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42702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Operations &amp; Compliance: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82112" y="4270248"/>
            <a:ext cx="544068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[e.g. Bank of Ghana PSP licence, data protection compliance, workspace and operational setup]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solidFill>
            <a:srgbClr val="F4F8FC"/>
          </a:solidFill>
        </p:spPr>
      </p:sp>
      <p:sp>
        <p:nvSpPr>
          <p:cNvPr id="30" name="Text 28"/>
          <p:cNvSpPr/>
          <p:nvPr/>
        </p:nvSpPr>
        <p:spPr>
          <a:xfrm>
            <a:off x="457200" y="4690872"/>
            <a:ext cx="731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C20E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[___%]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61872" y="469087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540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Working Capital / Runway: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82112" y="4690872"/>
            <a:ext cx="5440680" cy="2194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[e.g. 6 months of operating expenses to reach target ARR before next funding milestone]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FFC20E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2926080"/>
            <a:ext cx="2743200" cy="2743200"/>
          </a:xfrm>
          <a:prstGeom prst="ellipse">
            <a:avLst/>
          </a:prstGeom>
          <a:solidFill>
            <a:srgbClr val="00AEEF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6" name="Text 4"/>
          <p:cNvSpPr/>
          <p:nvPr/>
        </p:nvSpPr>
        <p:spPr>
          <a:xfrm>
            <a:off x="411480" y="475488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UNICEF STARTUP LAB GHANA  |  MODULE 3  |  PITCH DAY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8580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anose="020B0703020202090204" pitchFamily="34" charset="0"/>
                <a:ea typeface="Trebuchet MS" panose="020B0703020202090204" pitchFamily="34" charset="-122"/>
                <a:cs typeface="Trebuchet MS" panose="020B0703020202090204" pitchFamily="34" charset="-120"/>
              </a:rPr>
              <a:t>Thank You.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359152"/>
            <a:ext cx="68580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4FD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[Your startup's tagline or mission statement — one powerful sentence to leave with the audience]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4048" y="3090672"/>
            <a:ext cx="5029200" cy="50292"/>
          </a:xfrm>
          <a:prstGeom prst="rect">
            <a:avLst/>
          </a:prstGeom>
          <a:solidFill>
            <a:srgbClr val="FFC20E"/>
          </a:solidFill>
        </p:spPr>
      </p:sp>
      <p:sp>
        <p:nvSpPr>
          <p:cNvPr id="10" name="Text 8"/>
          <p:cNvSpPr/>
          <p:nvPr/>
        </p:nvSpPr>
        <p:spPr>
          <a:xfrm>
            <a:off x="411480" y="3236976"/>
            <a:ext cx="73152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4FD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[Founder Name(s)]  |  [Email]  |  [Phone / WhatsApp]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68580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20E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[startup website or LinkedIn profile]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" y="4572000"/>
            <a:ext cx="8961120" cy="498348"/>
          </a:xfrm>
          <a:prstGeom prst="rect">
            <a:avLst/>
          </a:prstGeom>
          <a:solidFill>
            <a:srgbClr val="0D1E35"/>
          </a:solidFill>
        </p:spPr>
      </p:sp>
      <p:sp>
        <p:nvSpPr>
          <p:cNvPr id="13" name="Text 11"/>
          <p:cNvSpPr/>
          <p:nvPr/>
        </p:nvSpPr>
        <p:spPr>
          <a:xfrm>
            <a:off x="457200" y="4608576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A0204" pitchFamily="34" charset="0"/>
                <a:ea typeface="Calibri" panose="020F05020202040A0204" pitchFamily="34" charset="-122"/>
                <a:cs typeface="Calibri" panose="020F05020202040A0204" pitchFamily="34" charset="-120"/>
              </a:rPr>
              <a:t>MEST Africa  |  UNICEF Ghana  |  KOICA  |  StartUp Lab Ghana — Module 3 Pitch Day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10588</Words>
  <Application>WPS Presentation</Application>
  <PresentationFormat>On-screen Show (16:9)</PresentationFormat>
  <Paragraphs>489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Trebuchet MS</vt:lpstr>
      <vt:lpstr>Trebuchet MS</vt:lpstr>
      <vt:lpstr>Trebuchet MS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Pitch Template | UNICEF Startup Lab Ghana — Day 5</dc:title>
  <dc:creator>PptxGenJS</dc:creator>
  <dc:subject>PptxGenJS Presentation</dc:subject>
  <cp:lastModifiedBy>Bernard Anyan - Mensah</cp:lastModifiedBy>
  <cp:revision>4</cp:revision>
  <dcterms:created xsi:type="dcterms:W3CDTF">2026-06-03T13:57:27Z</dcterms:created>
  <dcterms:modified xsi:type="dcterms:W3CDTF">2026-06-03T13:57:27Z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9A68765DEDEB367C50281F6A885DB036_42</vt:lpwstr>
  </property>
  <property fmtid="{D5CDD505-2E9C-101B-9397-08002B2CF9AE}" pid="3" name="KSOProductBuildVer">
    <vt:lpwstr>1033-6.14.0.8716</vt:lpwstr>
  </property>
</Properties>
</file>