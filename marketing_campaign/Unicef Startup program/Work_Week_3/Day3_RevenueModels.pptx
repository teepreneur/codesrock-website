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3 TITLE SLIDE
TIMING: 5 minutes | 9:00–9:05 AM
WELCOME SCRIPT:
"Good morning — welcome to Day 3. We have covered your Business Model Canvas on Day 1 and your Business Model Type on Day 2. Today we answer the most critical question an investor will ask: how exactly does your startup make money — and keep making it? That is your Revenue Model."
ENERGY CHECK:
Ask: "Stand up if you completed last night's homework." Then: "Stay standing if you can now describe your startup's revenue model in ONE sentence." Usually 20–30% remain standing — this creates urgency for the day.
GHANA CONTEXT:
Highlight that Ghana has seen genuine revenue model innovation: MoMo transaction fees, USSD subscription models, agent-based blended models. Many successful Ghanaian startups are not the biggest — they are the ones who figured out the right revenue model early and executed it consistently.
FACILITATOR TIP:
Leave the day's outputs on the whiteboard: "By 4 PM you will have a Revenue Model Summary and a 12-month revenue forecast ready to go into your investor pitch deck."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3 SCHEDULE
TIMING: 3 minutes
Walk participants through the full day. Highlight the afternoon exercise block (3:00–4:00 PM) as the most hands-on and important part of the day. Confirm lunch and break arrangements. Ask if there are any questions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3 RECAP
TIMING: 10 minutes
Do NOT just read the points — ask participants to say them. Ask: "Who can tell me what we covered yesterday?" Use this as an energiser to kick off Day 3. Revisit any homework from Day 2 — ask 2-3 participants to share what they discovered. Address any lingering questions before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LEARNING OBJECTIVES
TIMING: 5 minutes
Read each objective aloud. Ask: "Which of these is most relevant to where your startup is right now?" Take 2 show-of-hands. Return to these at the end of the day — self-assess whether each was met. Facilitator tip: write these on a whiteboard/flip-chart so they stay visible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 tell participants what is coming in this block, why it matters, and roughly how long it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REVENUE VS BUSINESS MODEL
TIMING: 20 minutes | 9:20–9:40 AM
KEY TALKING POINTS:
1. Business model is the FULL picture; revenue model is ONE component — the pricing mechanism
2. You can have the same business model with DIFFERENT revenue models. Illustration:
   Two food delivery startups (same model) — one charges restaurants 15% commission, one charges consumers a monthly subscription. Very different unit economics and cash flow.
3. The revenue model choice drives: cash flow timing, customer behaviour, investor attractiveness, and regulatory obligations
GHANA CONTEXT:
In Ghana, B2C subscription models historically struggled due to low card penetration and irregular income cycles. MTN MoMo Auto-Debit has changed this — startups can now set up recurring mobile money payments, enabling subscription models at scale.
DISCUSSION QUESTION (3 min):
"Can you describe YOUR startup's revenue model in one sentence right now?" Take 2-3 volunteers. Most will describe their product, not their revenue mechanism — use this to reinforce the distinction.
FACILITATOR TIP:
Use a whiteboard: draw the BMC, circle "Revenue Streams" — show that this ONE block contains the entire revenue model logic. Everything else on the canvas is infrastructure to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WHY REVENUE MODEL MATTERS
TIMING: 20 minutes | 9:40–10:00 AM
KEY TALKING POINTS:
1. Reason 3 (investor attractiveness) is CRITICAL for this programme — participants will pitch to UNICEF/MEST investors. MRR/ARR commands premium valuations. A startup with GHS 10k/month subscription ARR is worth far more to investors than one with GHS 10k/month one-off consulting revenue.
2. Reason 4: flag that Bank of Ghana (BoG) has specific fintech licensing requirements — any revenue model involving payment processing, lending, or savings requires prior regulatory consultation. Several cohort startups have been caught by this.
3. Use the "same product, different model" illustration: a telemedicine platform could be:
   (a) Pay-per-consultation (transaction) — GHS 30/session
   (b) GHS 50/month per patient (subscription)
   (c) Free to patients, paid by corporate employers (B2B2C)
   → Very different CAC, LTV, and scaling paths
FACILITATOR TIP:
Run a 5-minute sticky-note activity: each team writes their startup name and CURRENT revenue model assumption on a note. Collect and read 3-4 aloud anonymously. This surfaces common misconceptions and creates urgency for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 tell participants what is coming in this block, why it matters, and roughly how long it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6 CORE REVENUE MODELS OVERVIEW
TIMING: 15 minutes | 10:00–10:15 AM
KEY TALKING POINTS:
1. This is a landscape map — participants will return to it when choosing their model in the exercise
2. Ask: "Raise your hand if your startup fits each model as I go through them" — this is diagnostic for the room
3. Advertising model warning: needs massive scale before it generates meaningful revenue — 99% of startups should NOT use advertising as their primary model
4. Highlight that Model 06 (Blended) is where most successful Ghanaian startups end up — but start with ONE model, prove it, then layer
GHANA CONTEXT:
- Subscription: growing fast due to MoMo Auto-Debit — MTN and Vodafone now enable recurring mobile money deductions
- Transaction: dominant in Ghana's informal economy — people prefer pay-as-you-go over upfront commitments
- Freemium: works in B2C digital products; B2B freemium is less common due to procurement processes
- Licensing: underused by Ghanaian startups — significant opportunity for tech companies to license IP regionally
DISCUSSION QUESTION:
"If your startup's primary model is currently 'we'll figure it out later' — today we fix that. Which of these 6 most closely fits your startup right now?"
FACILITATION TIP:
Have each participant circle their primary model on a printed handout. Collect after the session to identify which models are most common in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SUBSCRIPTION VS TRANSACTION
TIMING: 25 minutes | 11:00–11:25 AM
KEY TALKING POINTS:
1. The key trade-off: subscription = predictable revenue but harder to acquire; transaction = easy to start but lumpy cash flow
2. For social impact startups: subscription models align better with SDG-reporting requirements (measurable ongoing engagement vs one-off transactions)
3. Subscription "lock-in" is NOT a dirty word — when the product delivers real value, switching costs benefit both parties
4. Transaction model warning: take rate compression is real. As competition increases, platforms are forced to lower commission rates (see: ride-hailing across Africa, dropping from 20% to 8%)
GHANA CONTEXT:
MoMo Auto-Debit (available via Hubtel API): startups can now set up recurring mobile money payments. This has been a game changer for B2C subscription models in Ghana. Before this API existed, subscription models effectively required a bank card.
DISCUSSION QUESTIONS:
1. "For your startup — would customers prefer to pay monthly or per-use? Why? Have you actually asked them?"
2. "What churn rate would make your subscription model financially unviable? Have you calculated this?"
FACILITATION TIP:
Draw a quick comparison table on whiteboard: Subscription vs Transaction across 5 dimensions (cash flow, growth velocity, acquisition difficulty, retention, investor appeal). Ask participants to vote on which dimension matters most for their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FREEMIUM
TIMING: 20 minutes | 11:25–11:45 AM
KEY TALKING POINTS:
1. Most participants OVERESTIMATE their free-to-paid conversion rate — challenge them: "Would YOU upgrade to paid if you were your own customer? What would you need to see?"
2. The dangerous freemium trap: giving too much away for free means users have no reason to pay. The free tier must be valuable but deliberately incomplete.
3. Freemium requires SCALE before it generates meaningful revenue — usually not viable in early-stage unless you have strong built-in virality
4. mPharma's Trojan horse: they gave free inventory management to capture market share, then used that footprint to offer procurement financing (their real high-margin product)
GHANA CONTEXT:
Freemium works well when the free tier captures MARKET SHARE in a fragmented sector first. Example opportunity: professional tools (legal tech, accounting, HR platforms) where free tier educates users and paid tier operationalises their work.
DISCUSSION QUESTION:
"If you were building a freemium product for smallholder farmers in Ghana, what would the free tier include — and what specific trigger would convert them to pay?"
FACILITATION TIP:
Have any participants considering freemium stand up and defend WHY their conversion rate would be above 5%. This surfaces key assumptions that need testing before they commit to the freemium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ADVERTISING, LICENSING &amp; BLENDED
TIMING: 30 minutes | 11:45 AM–12:15 PM
KEY TALKING POINTS:
1. Advertising warning: the audience size required for meaningful ad revenue is almost always beyond early-stage reach. It is a terrible PRIMARY model for most startups.
2. Licensing is dramatically underused by Ghanaian startups — especially those with proprietary data or compliance infrastructure that other companies need
3. CRITICAL on blended models: the most common mistake is trying to launch with 3 revenue models simultaneously, none of which are proven. Start with 1. Prove it. Then layer.
4. Data monetisation (selling user insights to third parties) is a potential 7th model — but immediately flag Ghana Data Protection Act 2012 (Act 843) and GDPR if operating in the EU. You CANNOT sell personal data without explicit consent.
GHANA CONTEXT:
Development partner blend is a unique opportunity for UNICEF Startup Lab participants: early-stage grant funding + commercial revenue + potential licensing = a robust blended model that reduces dependency on any single source.
FACILITATION TIP:
Ask: "For your startup, what would be your PRIMARY model and what would be your SECONDARY model once you reach scale?" This is the question they need to answer in today's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 tell participants what is coming in this block, why it matters, and roughly how long it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CAC AND LTV
TIMING: 30 minutes | 1:15–1:45 PM
KEY TALKING POINTS:
1. These three numbers (CAC, LTV, Payback Period) are the most common investor interview questions for early-stage startups. Participants MUST be able to calculate and state their numbers confidently.
2. Walk through the Ghana example LIVE on whiteboard — make participants compute Month 2 and Month 3 from the example numbers
3. Mobile money transaction fees reduce effective ARPU — if your MoMo payment gateway charges 2%, subtract this from your ARPU calculation
FACILITATOR EXERCISE (10 min):
Ask participants to SILENTLY estimate their CAC and LTV for 3 minutes, then share with a table partner for 2 minutes. Then ask 2-3 to share with the room.
Most will have:
(a) No idea — needs immediate coaching
(b) Numbers that are wildly optimistic — needs calibration
(c) Rough estimates with clear assumptions — encourage them, refine together
GHANA CONTEXT:
High churn is a major challenge in Ghana's B2C digital market — many users are "price shoppers." If monthly churn is &gt; 10%, an LTV:CAC ratio &gt; 3x becomes very hard to achieve, which means the business is structurally difficult. This is not a death sentence — it is a signal to invest in retention before acquisition.
DISCUSSION QUESTION:
"If your LTV:CAC ratio is below 1x right now — what are your three levers to fix it? (Hint: you can reduce CAC, increase ARPU, or reduce churn — choose one to focus on first.)"
FACILITATION TIP:
This is a high-stakes moment — some participants may realise their current business is not financially viable. Frame this constructively: "Knowing your numbers is the first step to fixing them. Ignorance of your unit economics is what kills startups."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REVENUE FORECASTING
TIMING: 15 minutes | 1:45–2:00 PM
KEY TALKING POINTS:
1. Walk through a live example: 50 customers in Month 1, acquire 30/month, 5% monthly churn, GHS 80 ARPU
   Month 1: 50 x 80 = GHS 4,000
   Month 6: ~200 customers x 80 = GHS 16,000
   Month 12: ~390 customers x 80 = GHS 31,200
   PAUSE: have participants calculate Month 3 with a partner (3 minutes)
2. The forecast is only as good as its assumptions — transparency about assumptions is a sign of founder maturity to investors
3. Being honest about a conservative forecast is more impressive than an unrealistic optimistic one
GHANA SEASONAL FACTORS:
- January-February: post-Christmas cash crunch — many SME customers spend conservatively
- August: school fees pressure — household discretionary spending drops
- October-December: harvest season for cocoa and maize — agricultural customers flush with cash
- Q4: mobile money system maintenance windows can affect transaction-based revenue
FACILITATION TIP:
If time allows, walk through the calculation LIVE on whiteboard. Ask: "What is your biggest uncertainty in this forecast?" The answer reveals the key assumptions that need immediate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ZEEPAY CASE STUDY
TIMING: 30 minutes | 2:00–2:30 PM
TELL THE STORY:
Zeepay founder Andrew Takyi-Appiah identified a gap that banks and traditional remittance players overlooked: Ghana's 40%+ unbanked population could not receive bank wire transfers. But they all had MTN MoMo wallets. Zeepay built a "last mile" delivery system — connecting global payment rails to local mobile wallets.
KEY TEACHING POINTS:
1. The blended revenue model worked because: transaction fee covered basic operating costs; FX spread was the upside lever that scaled with volume
2. Regulatory moat: UK FCA approval took 18 months and significant capital. This created a real barrier that raised the cost of entry for any copycat — and signalled to enterprise clients that Zeepay was serious
3. Ghana diaspora remittance context: remittances are Ghana's second largest foreign exchange source (est. $4.5B in 2022). Even 1% market share = $45M/year in gross payments value
DISCUSSION QUESTIONS:
1. "Why couldn't a Ghanaian bank copy Zeepay's model immediately? What were Zeepay's real competitive moats beyond the technology?"
2. "How would you model Zeepay's LTV for a regular diaspora sender who remits $200/month? (Hint: calculate annual fees + FX spread x years retained)"
FACILITATOR TIP:
Use Zeepay as a pricing model example: the flat fee vs percentage model is a real pricing strategy decision. Flat fees are easier for customers to predict; percentage models scale better with large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3 EXERCISE
TIMING: 35 minutes | 3:15–3:50 PM
FACILITATION STRUCTURE:
- 0-3 min: Read the brief aloud, clarify questions, confirm working format (individual or same teams as Day 2)
- 3-30 min: Working time — walk the room CONSTANTLY, intervene early when you see errors
- 30-35 min: Ask 3 teams to share their revenue model choice + LTV:CAC ratio (60 seconds each). Peers give 1 question each.
KEY COACHING INTERVENTIONS BY TASK:
- Task 1 (model selection): Most will default to "transaction fee" because it is familiar. Push: "Is there a subscription version of this? What would need to be true for subscribers to commit?"
- Task 3 (unit economics): Many will struggle with churn estimation. Help: "Of 10 customers you acquire today, how many do you genuinely believe will still be paying in 12 months? Start there."
- Task 4 (forecast): Watch for hockey-stick assumptions — if they project 0 customers now but 500 in Month 6, ask "HOW?" Make them explain the specific marketing actions that produce each new customer.
- Task 5 (risk): Most will write generic risks. Push for specificity: "My #1 risk is that MoMo Auto-Debit adoption is slower than assumed, which reduces my subscription conversion rate from 8% to 3%."
COMMON MISTAKES TO COACH:
- Setting prices too low from fear: "I'll charge GHS 5/month" — challenge: "At GHS 5/month you need 5,000 customers to reach GHS 25k MRR. Is that achievable in 12 months? Could you charge GHS 50/month to 500 customers instead?"
- Forgetting MNO transaction fees (2-2.5% of every MoMo payment) — these are real COGS that erode ARPU
FACILITATION TIP:
If teams are stuck on the forecast, try the reverse approach: "What monthly revenue do you need to be sustainable by Month 12? Work backwards from that target to figure out how many customers you need and at what ARPU."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KEY TAKEAWAYS
TIMING: 5 minutes | 3:50–3:55 PM
DEBRIEF METHOD:
For each takeaway, ask: "Can someone give me an example of this from their own startup exercise today?" Do not just read — make it participatory.
SELF-ASSESSMENT:
Ask participants to rate their confidence on each takeaway 1-3 (1=still unclear, 3=can explain to others). For any 1s, address in homework or tomorrow's 1:1 mentor sessions.
CLOSING QUESTIONS:
- "What was the most uncomfortable insight from today — the number or assumption that challenged you most?"
- "What ONE thing will you change about your revenue model assumptions based on today?"
FACILITATOR TIP:
Quick "lightning round": ask each participant to state their revenue model in ONE sentence before they leave. Compare to the morning — most will now be able to do it clearly. This demonstrates real learning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3 HOMEWORK
TIMING: 5 minutes | 3:55–4:00 PM
KEY MESSAGES:
- Task 1 (Revenue Model Summary) feeds directly into the investor pitch deck used in Module 4
- Task 2 (competitor revenue research) prepares participants for tomorrow's competition analysis — they'll need competitor data
- Task 3 (Unit Economics Template) is critical — mentors will do 1:1 reviews during tomorrow's lunch break
FACILITATOR TIP:
Send a WhatsApp group message this evening with: (1) Unit Economics Template download link, (2) a reminder of the 3 homework tasks, (3) a motivating word. Mention that participants who complete all 3 tasks consistently finish the programme with stronger investor pitch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9A44">
              <a:alpha val="15000"/>
            </a:srgbClr>
          </a:solidFill>
        </p:spPr>
      </p:sp>
      <p:sp>
        <p:nvSpPr>
          <p:cNvPr id="3" name="Shape 1"/>
          <p:cNvSpPr/>
          <p:nvPr/>
        </p:nvSpPr>
        <p:spPr>
          <a:xfrm>
            <a:off x="7498080" y="2377440"/>
            <a:ext cx="2286000" cy="2286000"/>
          </a:xfrm>
          <a:prstGeom prst="ellipse">
            <a:avLst/>
          </a:prstGeom>
          <a:solidFill>
            <a:srgbClr val="FFC20E">
              <a:alpha val="20000"/>
            </a:srgbClr>
          </a:solidFill>
        </p:spPr>
      </p:sp>
      <p:sp>
        <p:nvSpPr>
          <p:cNvPr id="4" name="Shape 2"/>
          <p:cNvSpPr/>
          <p:nvPr/>
        </p:nvSpPr>
        <p:spPr>
          <a:xfrm>
            <a:off x="0" y="0"/>
            <a:ext cx="201168" cy="5143500"/>
          </a:xfrm>
          <a:prstGeom prst="rect">
            <a:avLst/>
          </a:prstGeom>
          <a:solidFill>
            <a:srgbClr val="009A44"/>
          </a:solidFill>
        </p:spPr>
      </p:sp>
      <p:sp>
        <p:nvSpPr>
          <p:cNvPr id="5" name="Text 3"/>
          <p:cNvSpPr/>
          <p:nvPr/>
        </p:nvSpPr>
        <p:spPr>
          <a:xfrm>
            <a:off x="411480" y="594360"/>
            <a:ext cx="6400800" cy="347472"/>
          </a:xfrm>
          <a:prstGeom prst="rect">
            <a:avLst/>
          </a:prstGeom>
          <a:noFill/>
        </p:spPr>
        <p:txBody>
          <a:bodyPr wrap="square" lIns="0" tIns="0" rIns="0" bIns="0" rtlCol="0" anchor="ctr"/>
          <a:lstStyle/>
          <a:p>
            <a:pPr marL="0" indent="0">
              <a:buNone/>
            </a:pPr>
            <a:r>
              <a:rPr lang="en-US" sz="1100" kern="0" spc="400" dirty="0">
                <a:solidFill>
                  <a:srgbClr val="009A44"/>
                </a:solidFill>
                <a:latin typeface="Calibri" panose="020F05020202040A0204" pitchFamily="34" charset="0"/>
                <a:ea typeface="Calibri" panose="020F05020202040A0204" pitchFamily="34" charset="-122"/>
                <a:cs typeface="Calibri" panose="020F05020202040A0204" pitchFamily="34" charset="-120"/>
              </a:rPr>
              <a:t>UNICEF STARTUP LAB GHANA</a:t>
            </a:r>
            <a:endParaRPr lang="en-US" sz="1100" dirty="0"/>
          </a:p>
        </p:txBody>
      </p:sp>
      <p:sp>
        <p:nvSpPr>
          <p:cNvPr id="6" name="Text 4"/>
          <p:cNvSpPr/>
          <p:nvPr/>
        </p:nvSpPr>
        <p:spPr>
          <a:xfrm>
            <a:off x="411480" y="1024128"/>
            <a:ext cx="3657600" cy="475488"/>
          </a:xfrm>
          <a:prstGeom prst="rect">
            <a:avLst/>
          </a:prstGeom>
          <a:noFill/>
        </p:spPr>
        <p:txBody>
          <a:bodyPr wrap="square" lIns="0" tIns="0" rIns="0" bIns="0" rtlCol="0" anchor="ctr"/>
          <a:lstStyle/>
          <a:p>
            <a:pPr marL="0" indent="0">
              <a:buNone/>
            </a:pPr>
            <a:r>
              <a:rPr lang="en-US" sz="2200"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Day 3 of 4</a:t>
            </a:r>
            <a:endParaRPr lang="en-US" sz="2200" dirty="0"/>
          </a:p>
        </p:txBody>
      </p:sp>
      <p:sp>
        <p:nvSpPr>
          <p:cNvPr id="7" name="Text 5"/>
          <p:cNvSpPr/>
          <p:nvPr/>
        </p:nvSpPr>
        <p:spPr>
          <a:xfrm>
            <a:off x="411480" y="1481328"/>
            <a:ext cx="7772400" cy="1234440"/>
          </a:xfrm>
          <a:prstGeom prst="rect">
            <a:avLst/>
          </a:prstGeom>
          <a:noFill/>
        </p:spPr>
        <p:txBody>
          <a:bodyPr wrap="square" lIns="0" tIns="0" rIns="0" bIns="0" rtlCol="0" anchor="ctr"/>
          <a:lstStyle/>
          <a:p>
            <a:pPr marL="0" indent="0">
              <a:buNone/>
            </a:pPr>
            <a:r>
              <a:rPr lang="en-US" sz="4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Revenue Models</a:t>
            </a:r>
            <a:endParaRPr lang="en-US" sz="4400" dirty="0"/>
          </a:p>
        </p:txBody>
      </p:sp>
      <p:sp>
        <p:nvSpPr>
          <p:cNvPr id="8" name="Text 6"/>
          <p:cNvSpPr/>
          <p:nvPr/>
        </p:nvSpPr>
        <p:spPr>
          <a:xfrm>
            <a:off x="411480" y="2788920"/>
            <a:ext cx="7315200" cy="457200"/>
          </a:xfrm>
          <a:prstGeom prst="rect">
            <a:avLst/>
          </a:prstGeom>
          <a:noFill/>
        </p:spPr>
        <p:txBody>
          <a:bodyPr wrap="square" lIns="0" tIns="0" rIns="0" bIns="0" rtlCol="0" anchor="ctr"/>
          <a:lstStyle/>
          <a:p>
            <a:pPr marL="0" indent="0">
              <a:buNone/>
            </a:pPr>
            <a:r>
              <a:rPr lang="en-US" sz="1500" dirty="0">
                <a:solidFill>
                  <a:srgbClr val="E8F4FD"/>
                </a:solidFill>
                <a:latin typeface="Calibri" panose="020F05020202040A0204" pitchFamily="34" charset="0"/>
                <a:ea typeface="Calibri" panose="020F05020202040A0204" pitchFamily="34" charset="-122"/>
                <a:cs typeface="Calibri" panose="020F05020202040A0204" pitchFamily="34" charset="-120"/>
              </a:rPr>
              <a:t>Extracting Value, Unit Economics &amp; Revenue Forecasting</a:t>
            </a:r>
            <a:endParaRPr lang="en-US" sz="1500" dirty="0"/>
          </a:p>
        </p:txBody>
      </p:sp>
      <p:sp>
        <p:nvSpPr>
          <p:cNvPr id="9" name="Text 7"/>
          <p:cNvSpPr/>
          <p:nvPr/>
        </p:nvSpPr>
        <p:spPr>
          <a:xfrm>
            <a:off x="411480" y="3337560"/>
            <a:ext cx="4572000" cy="347472"/>
          </a:xfrm>
          <a:prstGeom prst="rect">
            <a:avLst/>
          </a:prstGeom>
          <a:noFill/>
        </p:spPr>
        <p:txBody>
          <a:bodyPr wrap="square" lIns="0" tIns="0" rIns="0" bIns="0" rtlCol="0" anchor="ctr"/>
          <a:lstStyle/>
          <a:p>
            <a:pPr marL="0" indent="0">
              <a:buNone/>
            </a:pPr>
            <a:r>
              <a:rPr lang="en-US" sz="1300" dirty="0">
                <a:solidFill>
                  <a:srgbClr val="009A44"/>
                </a:solidFill>
                <a:latin typeface="Calibri" panose="020F05020202040A0204" pitchFamily="34" charset="0"/>
                <a:ea typeface="Calibri" panose="020F05020202040A0204" pitchFamily="34" charset="-122"/>
                <a:cs typeface="Calibri" panose="020F05020202040A0204" pitchFamily="34" charset="-120"/>
              </a:rPr>
              <a:t>Session: 9:00 AM - 4:00 PM</a:t>
            </a:r>
            <a:endParaRPr lang="en-US" sz="1300" dirty="0"/>
          </a:p>
        </p:txBody>
      </p:sp>
      <p:sp>
        <p:nvSpPr>
          <p:cNvPr id="10" name="Shape 8"/>
          <p:cNvSpPr/>
          <p:nvPr/>
        </p:nvSpPr>
        <p:spPr>
          <a:xfrm>
            <a:off x="201168" y="4645152"/>
            <a:ext cx="8942832" cy="498348"/>
          </a:xfrm>
          <a:prstGeom prst="rect">
            <a:avLst/>
          </a:prstGeom>
          <a:solidFill>
            <a:srgbClr val="0D1E35"/>
          </a:solidFill>
        </p:spPr>
      </p:sp>
      <p:sp>
        <p:nvSpPr>
          <p:cNvPr id="11" name="Text 9"/>
          <p:cNvSpPr/>
          <p:nvPr/>
        </p:nvSpPr>
        <p:spPr>
          <a:xfrm>
            <a:off x="457200" y="4681728"/>
            <a:ext cx="8412480" cy="365760"/>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UNICEF Ghana  |  KOICA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3 Schedule — 9:00 AM to 4:00 PM</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65760" y="91440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475488"/>
          </a:xfrm>
          <a:prstGeom prst="rect">
            <a:avLst/>
          </a:prstGeom>
          <a:solidFill>
            <a:srgbClr val="009A44"/>
          </a:solidFill>
        </p:spPr>
      </p:sp>
      <p:sp>
        <p:nvSpPr>
          <p:cNvPr id="9" name="Text 7"/>
          <p:cNvSpPr/>
          <p:nvPr/>
        </p:nvSpPr>
        <p:spPr>
          <a:xfrm>
            <a:off x="548640" y="987552"/>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9:00 AM</a:t>
            </a:r>
            <a:endParaRPr lang="en-US" sz="1100" dirty="0"/>
          </a:p>
        </p:txBody>
      </p:sp>
      <p:sp>
        <p:nvSpPr>
          <p:cNvPr id="10" name="Text 8"/>
          <p:cNvSpPr/>
          <p:nvPr/>
        </p:nvSpPr>
        <p:spPr>
          <a:xfrm>
            <a:off x="1965960" y="98755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Welcome, Day 2 Recap &amp; Day 3 Objectives</a:t>
            </a:r>
            <a:endParaRPr lang="en-US" sz="1150" dirty="0"/>
          </a:p>
        </p:txBody>
      </p:sp>
      <p:sp>
        <p:nvSpPr>
          <p:cNvPr id="11" name="Text 9"/>
          <p:cNvSpPr/>
          <p:nvPr/>
        </p:nvSpPr>
        <p:spPr>
          <a:xfrm>
            <a:off x="7132320" y="98755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20 min</a:t>
            </a:r>
            <a:endParaRPr lang="en-US" sz="1050" dirty="0"/>
          </a:p>
        </p:txBody>
      </p:sp>
      <p:sp>
        <p:nvSpPr>
          <p:cNvPr id="12" name="Shape 10"/>
          <p:cNvSpPr/>
          <p:nvPr/>
        </p:nvSpPr>
        <p:spPr>
          <a:xfrm>
            <a:off x="365760" y="148132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1481328"/>
            <a:ext cx="64008" cy="475488"/>
          </a:xfrm>
          <a:prstGeom prst="rect">
            <a:avLst/>
          </a:prstGeom>
          <a:solidFill>
            <a:srgbClr val="009A44"/>
          </a:solidFill>
        </p:spPr>
      </p:sp>
      <p:sp>
        <p:nvSpPr>
          <p:cNvPr id="14" name="Text 12"/>
          <p:cNvSpPr/>
          <p:nvPr/>
        </p:nvSpPr>
        <p:spPr>
          <a:xfrm>
            <a:off x="548640" y="1554480"/>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9:20 AM</a:t>
            </a:r>
            <a:endParaRPr lang="en-US" sz="1100" dirty="0"/>
          </a:p>
        </p:txBody>
      </p:sp>
      <p:sp>
        <p:nvSpPr>
          <p:cNvPr id="15" name="Text 13"/>
          <p:cNvSpPr/>
          <p:nvPr/>
        </p:nvSpPr>
        <p:spPr>
          <a:xfrm>
            <a:off x="1965960" y="155448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Revenue Model vs Business Model — Foundations</a:t>
            </a:r>
            <a:endParaRPr lang="en-US" sz="1150" dirty="0"/>
          </a:p>
        </p:txBody>
      </p:sp>
      <p:sp>
        <p:nvSpPr>
          <p:cNvPr id="16" name="Text 14"/>
          <p:cNvSpPr/>
          <p:nvPr/>
        </p:nvSpPr>
        <p:spPr>
          <a:xfrm>
            <a:off x="7132320" y="155448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40 min</a:t>
            </a:r>
            <a:endParaRPr lang="en-US" sz="1050" dirty="0"/>
          </a:p>
        </p:txBody>
      </p:sp>
      <p:sp>
        <p:nvSpPr>
          <p:cNvPr id="17" name="Shape 15"/>
          <p:cNvSpPr/>
          <p:nvPr/>
        </p:nvSpPr>
        <p:spPr>
          <a:xfrm>
            <a:off x="365760" y="204825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365760" y="2048256"/>
            <a:ext cx="64008" cy="475488"/>
          </a:xfrm>
          <a:prstGeom prst="rect">
            <a:avLst/>
          </a:prstGeom>
          <a:solidFill>
            <a:srgbClr val="009A44"/>
          </a:solidFill>
        </p:spPr>
      </p:sp>
      <p:sp>
        <p:nvSpPr>
          <p:cNvPr id="19" name="Text 17"/>
          <p:cNvSpPr/>
          <p:nvPr/>
        </p:nvSpPr>
        <p:spPr>
          <a:xfrm>
            <a:off x="548640" y="2121408"/>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10:00 AM</a:t>
            </a:r>
            <a:endParaRPr lang="en-US" sz="1100" dirty="0"/>
          </a:p>
        </p:txBody>
      </p:sp>
      <p:sp>
        <p:nvSpPr>
          <p:cNvPr id="20" name="Text 18"/>
          <p:cNvSpPr/>
          <p:nvPr/>
        </p:nvSpPr>
        <p:spPr>
          <a:xfrm>
            <a:off x="1965960" y="212140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The 6 Core Revenue Models — Deep Dives</a:t>
            </a:r>
            <a:endParaRPr lang="en-US" sz="1150" dirty="0"/>
          </a:p>
        </p:txBody>
      </p:sp>
      <p:sp>
        <p:nvSpPr>
          <p:cNvPr id="21" name="Text 19"/>
          <p:cNvSpPr/>
          <p:nvPr/>
        </p:nvSpPr>
        <p:spPr>
          <a:xfrm>
            <a:off x="7132320" y="212140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22" name="Shape 20"/>
          <p:cNvSpPr/>
          <p:nvPr/>
        </p:nvSpPr>
        <p:spPr>
          <a:xfrm>
            <a:off x="365760" y="2615184"/>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23" name="Shape 21"/>
          <p:cNvSpPr/>
          <p:nvPr/>
        </p:nvSpPr>
        <p:spPr>
          <a:xfrm>
            <a:off x="365760" y="2615184"/>
            <a:ext cx="64008" cy="475488"/>
          </a:xfrm>
          <a:prstGeom prst="rect">
            <a:avLst/>
          </a:prstGeom>
          <a:solidFill>
            <a:srgbClr val="64748B"/>
          </a:solidFill>
        </p:spPr>
      </p:sp>
      <p:sp>
        <p:nvSpPr>
          <p:cNvPr id="24" name="Text 22"/>
          <p:cNvSpPr/>
          <p:nvPr/>
        </p:nvSpPr>
        <p:spPr>
          <a:xfrm>
            <a:off x="548640" y="2688336"/>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10:45 AM</a:t>
            </a:r>
            <a:endParaRPr lang="en-US" sz="1100" dirty="0"/>
          </a:p>
        </p:txBody>
      </p:sp>
      <p:sp>
        <p:nvSpPr>
          <p:cNvPr id="25" name="Text 23"/>
          <p:cNvSpPr/>
          <p:nvPr/>
        </p:nvSpPr>
        <p:spPr>
          <a:xfrm>
            <a:off x="1965960" y="2688336"/>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MORNING BREAK</a:t>
            </a:r>
            <a:endParaRPr lang="en-US" sz="1150" dirty="0"/>
          </a:p>
        </p:txBody>
      </p:sp>
      <p:sp>
        <p:nvSpPr>
          <p:cNvPr id="26" name="Text 24"/>
          <p:cNvSpPr/>
          <p:nvPr/>
        </p:nvSpPr>
        <p:spPr>
          <a:xfrm>
            <a:off x="7132320" y="268833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27" name="Shape 25"/>
          <p:cNvSpPr/>
          <p:nvPr/>
        </p:nvSpPr>
        <p:spPr>
          <a:xfrm>
            <a:off x="365760" y="3182112"/>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365760" y="3182112"/>
            <a:ext cx="64008" cy="475488"/>
          </a:xfrm>
          <a:prstGeom prst="rect">
            <a:avLst/>
          </a:prstGeom>
          <a:solidFill>
            <a:srgbClr val="009A44"/>
          </a:solidFill>
        </p:spPr>
      </p:sp>
      <p:sp>
        <p:nvSpPr>
          <p:cNvPr id="29" name="Text 27"/>
          <p:cNvSpPr/>
          <p:nvPr/>
        </p:nvSpPr>
        <p:spPr>
          <a:xfrm>
            <a:off x="548640" y="3255264"/>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11:00 AM</a:t>
            </a:r>
            <a:endParaRPr lang="en-US" sz="1100" dirty="0"/>
          </a:p>
        </p:txBody>
      </p:sp>
      <p:sp>
        <p:nvSpPr>
          <p:cNvPr id="30" name="Text 28"/>
          <p:cNvSpPr/>
          <p:nvPr/>
        </p:nvSpPr>
        <p:spPr>
          <a:xfrm>
            <a:off x="1965960" y="3255264"/>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Subscription, Transaction, Freemium &amp; Advertising</a:t>
            </a:r>
            <a:endParaRPr lang="en-US" sz="1150" dirty="0"/>
          </a:p>
        </p:txBody>
      </p:sp>
      <p:sp>
        <p:nvSpPr>
          <p:cNvPr id="31" name="Text 29"/>
          <p:cNvSpPr/>
          <p:nvPr/>
        </p:nvSpPr>
        <p:spPr>
          <a:xfrm>
            <a:off x="7132320" y="325526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32" name="Shape 30"/>
          <p:cNvSpPr/>
          <p:nvPr/>
        </p:nvSpPr>
        <p:spPr>
          <a:xfrm>
            <a:off x="365760" y="374904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3" name="Shape 31"/>
          <p:cNvSpPr/>
          <p:nvPr/>
        </p:nvSpPr>
        <p:spPr>
          <a:xfrm>
            <a:off x="365760" y="3749040"/>
            <a:ext cx="64008" cy="475488"/>
          </a:xfrm>
          <a:prstGeom prst="rect">
            <a:avLst/>
          </a:prstGeom>
          <a:solidFill>
            <a:srgbClr val="009A44"/>
          </a:solidFill>
        </p:spPr>
      </p:sp>
      <p:sp>
        <p:nvSpPr>
          <p:cNvPr id="34" name="Text 32"/>
          <p:cNvSpPr/>
          <p:nvPr/>
        </p:nvSpPr>
        <p:spPr>
          <a:xfrm>
            <a:off x="548640" y="3822192"/>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11:45 AM</a:t>
            </a:r>
            <a:endParaRPr lang="en-US" sz="1100" dirty="0"/>
          </a:p>
        </p:txBody>
      </p:sp>
      <p:sp>
        <p:nvSpPr>
          <p:cNvPr id="35" name="Text 33"/>
          <p:cNvSpPr/>
          <p:nvPr/>
        </p:nvSpPr>
        <p:spPr>
          <a:xfrm>
            <a:off x="1965960" y="382219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Licensing, Blended &amp; Hybrid Models</a:t>
            </a:r>
            <a:endParaRPr lang="en-US" sz="1150" dirty="0"/>
          </a:p>
        </p:txBody>
      </p:sp>
      <p:sp>
        <p:nvSpPr>
          <p:cNvPr id="36" name="Text 34"/>
          <p:cNvSpPr/>
          <p:nvPr/>
        </p:nvSpPr>
        <p:spPr>
          <a:xfrm>
            <a:off x="7132320" y="382219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37" name="Shape 35"/>
          <p:cNvSpPr/>
          <p:nvPr/>
        </p:nvSpPr>
        <p:spPr>
          <a:xfrm>
            <a:off x="365760" y="4315968"/>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38" name="Shape 36"/>
          <p:cNvSpPr/>
          <p:nvPr/>
        </p:nvSpPr>
        <p:spPr>
          <a:xfrm>
            <a:off x="365760" y="4315968"/>
            <a:ext cx="64008" cy="475488"/>
          </a:xfrm>
          <a:prstGeom prst="rect">
            <a:avLst/>
          </a:prstGeom>
          <a:solidFill>
            <a:srgbClr val="64748B"/>
          </a:solidFill>
        </p:spPr>
      </p:sp>
      <p:sp>
        <p:nvSpPr>
          <p:cNvPr id="39" name="Text 37"/>
          <p:cNvSpPr/>
          <p:nvPr/>
        </p:nvSpPr>
        <p:spPr>
          <a:xfrm>
            <a:off x="548640" y="4389120"/>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12:15 PM</a:t>
            </a:r>
            <a:endParaRPr lang="en-US" sz="1100" dirty="0"/>
          </a:p>
        </p:txBody>
      </p:sp>
      <p:sp>
        <p:nvSpPr>
          <p:cNvPr id="40" name="Text 38"/>
          <p:cNvSpPr/>
          <p:nvPr/>
        </p:nvSpPr>
        <p:spPr>
          <a:xfrm>
            <a:off x="1965960" y="4389120"/>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LUNCH BREAK</a:t>
            </a:r>
            <a:endParaRPr lang="en-US" sz="1150" dirty="0"/>
          </a:p>
        </p:txBody>
      </p:sp>
      <p:sp>
        <p:nvSpPr>
          <p:cNvPr id="41" name="Text 39"/>
          <p:cNvSpPr/>
          <p:nvPr/>
        </p:nvSpPr>
        <p:spPr>
          <a:xfrm>
            <a:off x="7132320" y="438912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60 min</a:t>
            </a:r>
            <a:endParaRPr lang="en-US" sz="1050" dirty="0"/>
          </a:p>
        </p:txBody>
      </p:sp>
      <p:sp>
        <p:nvSpPr>
          <p:cNvPr id="42" name="Shape 40"/>
          <p:cNvSpPr/>
          <p:nvPr/>
        </p:nvSpPr>
        <p:spPr>
          <a:xfrm>
            <a:off x="365760" y="488289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3" name="Shape 41"/>
          <p:cNvSpPr/>
          <p:nvPr/>
        </p:nvSpPr>
        <p:spPr>
          <a:xfrm>
            <a:off x="365760" y="4882896"/>
            <a:ext cx="64008" cy="475488"/>
          </a:xfrm>
          <a:prstGeom prst="rect">
            <a:avLst/>
          </a:prstGeom>
          <a:solidFill>
            <a:srgbClr val="009A44"/>
          </a:solidFill>
        </p:spPr>
      </p:sp>
      <p:sp>
        <p:nvSpPr>
          <p:cNvPr id="44" name="Text 42"/>
          <p:cNvSpPr/>
          <p:nvPr/>
        </p:nvSpPr>
        <p:spPr>
          <a:xfrm>
            <a:off x="548640" y="4956048"/>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1:15 PM</a:t>
            </a:r>
            <a:endParaRPr lang="en-US" sz="1100" dirty="0"/>
          </a:p>
        </p:txBody>
      </p:sp>
      <p:sp>
        <p:nvSpPr>
          <p:cNvPr id="45" name="Text 43"/>
          <p:cNvSpPr/>
          <p:nvPr/>
        </p:nvSpPr>
        <p:spPr>
          <a:xfrm>
            <a:off x="1965960" y="495604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Unit Economics: CAC, LTV &amp; Payback Period</a:t>
            </a:r>
            <a:endParaRPr lang="en-US" sz="1150" dirty="0"/>
          </a:p>
        </p:txBody>
      </p:sp>
      <p:sp>
        <p:nvSpPr>
          <p:cNvPr id="46" name="Text 44"/>
          <p:cNvSpPr/>
          <p:nvPr/>
        </p:nvSpPr>
        <p:spPr>
          <a:xfrm>
            <a:off x="7132320" y="495604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47" name="Shape 45"/>
          <p:cNvSpPr/>
          <p:nvPr/>
        </p:nvSpPr>
        <p:spPr>
          <a:xfrm>
            <a:off x="365760" y="544982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8" name="Shape 46"/>
          <p:cNvSpPr/>
          <p:nvPr/>
        </p:nvSpPr>
        <p:spPr>
          <a:xfrm>
            <a:off x="365760" y="5449824"/>
            <a:ext cx="64008" cy="475488"/>
          </a:xfrm>
          <a:prstGeom prst="rect">
            <a:avLst/>
          </a:prstGeom>
          <a:solidFill>
            <a:srgbClr val="009A44"/>
          </a:solidFill>
        </p:spPr>
      </p:sp>
      <p:sp>
        <p:nvSpPr>
          <p:cNvPr id="49" name="Text 47"/>
          <p:cNvSpPr/>
          <p:nvPr/>
        </p:nvSpPr>
        <p:spPr>
          <a:xfrm>
            <a:off x="548640" y="5522976"/>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2:00 PM</a:t>
            </a:r>
            <a:endParaRPr lang="en-US" sz="1100" dirty="0"/>
          </a:p>
        </p:txBody>
      </p:sp>
      <p:sp>
        <p:nvSpPr>
          <p:cNvPr id="50" name="Text 48"/>
          <p:cNvSpPr/>
          <p:nvPr/>
        </p:nvSpPr>
        <p:spPr>
          <a:xfrm>
            <a:off x="1965960" y="552297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Revenue Forecasting — Bottom-Up Method</a:t>
            </a:r>
            <a:endParaRPr lang="en-US" sz="1150" dirty="0"/>
          </a:p>
        </p:txBody>
      </p:sp>
      <p:sp>
        <p:nvSpPr>
          <p:cNvPr id="51" name="Text 49"/>
          <p:cNvSpPr/>
          <p:nvPr/>
        </p:nvSpPr>
        <p:spPr>
          <a:xfrm>
            <a:off x="7132320" y="552297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52" name="Shape 50"/>
          <p:cNvSpPr/>
          <p:nvPr/>
        </p:nvSpPr>
        <p:spPr>
          <a:xfrm>
            <a:off x="365760" y="6016752"/>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53" name="Shape 51"/>
          <p:cNvSpPr/>
          <p:nvPr/>
        </p:nvSpPr>
        <p:spPr>
          <a:xfrm>
            <a:off x="365760" y="6016752"/>
            <a:ext cx="64008" cy="475488"/>
          </a:xfrm>
          <a:prstGeom prst="rect">
            <a:avLst/>
          </a:prstGeom>
          <a:solidFill>
            <a:srgbClr val="009A44"/>
          </a:solidFill>
        </p:spPr>
      </p:sp>
      <p:sp>
        <p:nvSpPr>
          <p:cNvPr id="54" name="Text 52"/>
          <p:cNvSpPr/>
          <p:nvPr/>
        </p:nvSpPr>
        <p:spPr>
          <a:xfrm>
            <a:off x="548640" y="6089904"/>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2:30 PM</a:t>
            </a:r>
            <a:endParaRPr lang="en-US" sz="1100" dirty="0"/>
          </a:p>
        </p:txBody>
      </p:sp>
      <p:sp>
        <p:nvSpPr>
          <p:cNvPr id="55" name="Text 53"/>
          <p:cNvSpPr/>
          <p:nvPr/>
        </p:nvSpPr>
        <p:spPr>
          <a:xfrm>
            <a:off x="1965960" y="6089904"/>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Case Study: Zeepay &amp; M-Pesa Africa</a:t>
            </a:r>
            <a:endParaRPr lang="en-US" sz="1150" dirty="0"/>
          </a:p>
        </p:txBody>
      </p:sp>
      <p:sp>
        <p:nvSpPr>
          <p:cNvPr id="56" name="Text 54"/>
          <p:cNvSpPr/>
          <p:nvPr/>
        </p:nvSpPr>
        <p:spPr>
          <a:xfrm>
            <a:off x="7132320" y="608990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57" name="Shape 55"/>
          <p:cNvSpPr/>
          <p:nvPr/>
        </p:nvSpPr>
        <p:spPr>
          <a:xfrm>
            <a:off x="365760" y="6583680"/>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58" name="Shape 56"/>
          <p:cNvSpPr/>
          <p:nvPr/>
        </p:nvSpPr>
        <p:spPr>
          <a:xfrm>
            <a:off x="365760" y="6583680"/>
            <a:ext cx="64008" cy="475488"/>
          </a:xfrm>
          <a:prstGeom prst="rect">
            <a:avLst/>
          </a:prstGeom>
          <a:solidFill>
            <a:srgbClr val="64748B"/>
          </a:solidFill>
        </p:spPr>
      </p:sp>
      <p:sp>
        <p:nvSpPr>
          <p:cNvPr id="59" name="Text 57"/>
          <p:cNvSpPr/>
          <p:nvPr/>
        </p:nvSpPr>
        <p:spPr>
          <a:xfrm>
            <a:off x="548640" y="6656832"/>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3:00 PM</a:t>
            </a:r>
            <a:endParaRPr lang="en-US" sz="1100" dirty="0"/>
          </a:p>
        </p:txBody>
      </p:sp>
      <p:sp>
        <p:nvSpPr>
          <p:cNvPr id="60" name="Text 58"/>
          <p:cNvSpPr/>
          <p:nvPr/>
        </p:nvSpPr>
        <p:spPr>
          <a:xfrm>
            <a:off x="1965960" y="6656832"/>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AFTERNOON BREAK</a:t>
            </a:r>
            <a:endParaRPr lang="en-US" sz="1150" dirty="0"/>
          </a:p>
        </p:txBody>
      </p:sp>
      <p:sp>
        <p:nvSpPr>
          <p:cNvPr id="61" name="Text 59"/>
          <p:cNvSpPr/>
          <p:nvPr/>
        </p:nvSpPr>
        <p:spPr>
          <a:xfrm>
            <a:off x="7132320" y="665683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62" name="Shape 60"/>
          <p:cNvSpPr/>
          <p:nvPr/>
        </p:nvSpPr>
        <p:spPr>
          <a:xfrm>
            <a:off x="365760" y="715060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63" name="Shape 61"/>
          <p:cNvSpPr/>
          <p:nvPr/>
        </p:nvSpPr>
        <p:spPr>
          <a:xfrm>
            <a:off x="365760" y="7150608"/>
            <a:ext cx="64008" cy="475488"/>
          </a:xfrm>
          <a:prstGeom prst="rect">
            <a:avLst/>
          </a:prstGeom>
          <a:solidFill>
            <a:srgbClr val="009A44"/>
          </a:solidFill>
        </p:spPr>
      </p:sp>
      <p:sp>
        <p:nvSpPr>
          <p:cNvPr id="64" name="Text 62"/>
          <p:cNvSpPr/>
          <p:nvPr/>
        </p:nvSpPr>
        <p:spPr>
          <a:xfrm>
            <a:off x="548640" y="7223760"/>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3:15 PM</a:t>
            </a:r>
            <a:endParaRPr lang="en-US" sz="1100" dirty="0"/>
          </a:p>
        </p:txBody>
      </p:sp>
      <p:sp>
        <p:nvSpPr>
          <p:cNvPr id="65" name="Text 63"/>
          <p:cNvSpPr/>
          <p:nvPr/>
        </p:nvSpPr>
        <p:spPr>
          <a:xfrm>
            <a:off x="1965960" y="722376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Exercise: Design Revenue Model + 12-Month Forecast</a:t>
            </a:r>
            <a:endParaRPr lang="en-US" sz="1150" dirty="0"/>
          </a:p>
        </p:txBody>
      </p:sp>
      <p:sp>
        <p:nvSpPr>
          <p:cNvPr id="66" name="Text 64"/>
          <p:cNvSpPr/>
          <p:nvPr/>
        </p:nvSpPr>
        <p:spPr>
          <a:xfrm>
            <a:off x="7132320" y="722376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35 min</a:t>
            </a:r>
            <a:endParaRPr lang="en-US" sz="1050" dirty="0"/>
          </a:p>
        </p:txBody>
      </p:sp>
      <p:sp>
        <p:nvSpPr>
          <p:cNvPr id="67" name="Shape 65"/>
          <p:cNvSpPr/>
          <p:nvPr/>
        </p:nvSpPr>
        <p:spPr>
          <a:xfrm>
            <a:off x="365760" y="771753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68" name="Shape 66"/>
          <p:cNvSpPr/>
          <p:nvPr/>
        </p:nvSpPr>
        <p:spPr>
          <a:xfrm>
            <a:off x="365760" y="7717536"/>
            <a:ext cx="64008" cy="475488"/>
          </a:xfrm>
          <a:prstGeom prst="rect">
            <a:avLst/>
          </a:prstGeom>
          <a:solidFill>
            <a:srgbClr val="009A44"/>
          </a:solidFill>
        </p:spPr>
      </p:sp>
      <p:sp>
        <p:nvSpPr>
          <p:cNvPr id="69" name="Text 67"/>
          <p:cNvSpPr/>
          <p:nvPr/>
        </p:nvSpPr>
        <p:spPr>
          <a:xfrm>
            <a:off x="548640" y="7790688"/>
            <a:ext cx="128016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3:50 PM</a:t>
            </a:r>
            <a:endParaRPr lang="en-US" sz="1100" dirty="0"/>
          </a:p>
        </p:txBody>
      </p:sp>
      <p:sp>
        <p:nvSpPr>
          <p:cNvPr id="70" name="Text 68"/>
          <p:cNvSpPr/>
          <p:nvPr/>
        </p:nvSpPr>
        <p:spPr>
          <a:xfrm>
            <a:off x="1965960" y="779068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Key Takeaways, Homework &amp; Close</a:t>
            </a:r>
            <a:endParaRPr lang="en-US" sz="1150" dirty="0"/>
          </a:p>
        </p:txBody>
      </p:sp>
      <p:sp>
        <p:nvSpPr>
          <p:cNvPr id="71" name="Text 69"/>
          <p:cNvSpPr/>
          <p:nvPr/>
        </p:nvSpPr>
        <p:spPr>
          <a:xfrm>
            <a:off x="7132320" y="779068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10 min</a:t>
            </a:r>
            <a:endParaRPr lang="en-US" sz="105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2 Recap — What We Covered</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Quick recap before we begin. What do you remember from Day 2 — Business Model Types?</a:t>
            </a:r>
            <a:endParaRPr lang="en-US" sz="1300" dirty="0"/>
          </a:p>
        </p:txBody>
      </p:sp>
      <p:sp>
        <p:nvSpPr>
          <p:cNvPr id="8" name="Shape 6"/>
          <p:cNvSpPr/>
          <p:nvPr/>
        </p:nvSpPr>
        <p:spPr>
          <a:xfrm>
            <a:off x="365760" y="1353312"/>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658368"/>
          </a:xfrm>
          <a:prstGeom prst="rect">
            <a:avLst/>
          </a:prstGeom>
          <a:solidFill>
            <a:srgbClr val="009A44"/>
          </a:solidFill>
        </p:spPr>
      </p:sp>
      <p:sp>
        <p:nvSpPr>
          <p:cNvPr id="10" name="Text 8"/>
          <p:cNvSpPr/>
          <p:nvPr/>
        </p:nvSpPr>
        <p:spPr>
          <a:xfrm>
            <a:off x="566928" y="1508760"/>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Business model TYPE describes HOW your business makes money — B2C, B2B, B2G, Platform, SaaS, or Hybrid</a:t>
            </a:r>
            <a:endParaRPr lang="en-US" sz="1300" dirty="0"/>
          </a:p>
        </p:txBody>
      </p:sp>
      <p:sp>
        <p:nvSpPr>
          <p:cNvPr id="11" name="Shape 9"/>
          <p:cNvSpPr/>
          <p:nvPr/>
        </p:nvSpPr>
        <p:spPr>
          <a:xfrm>
            <a:off x="365760" y="2139696"/>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2" name="Shape 10"/>
          <p:cNvSpPr/>
          <p:nvPr/>
        </p:nvSpPr>
        <p:spPr>
          <a:xfrm>
            <a:off x="365760" y="2139696"/>
            <a:ext cx="64008" cy="658368"/>
          </a:xfrm>
          <a:prstGeom prst="rect">
            <a:avLst/>
          </a:prstGeom>
          <a:solidFill>
            <a:srgbClr val="009A44"/>
          </a:solidFill>
        </p:spPr>
      </p:sp>
      <p:sp>
        <p:nvSpPr>
          <p:cNvPr id="13" name="Text 11"/>
          <p:cNvSpPr/>
          <p:nvPr/>
        </p:nvSpPr>
        <p:spPr>
          <a:xfrm>
            <a:off x="566928" y="2295144"/>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B2B and B2G typically have higher revenue per transaction but longer sales cycles than B2C</a:t>
            </a:r>
            <a:endParaRPr lang="en-US" sz="1300" dirty="0"/>
          </a:p>
        </p:txBody>
      </p:sp>
      <p:sp>
        <p:nvSpPr>
          <p:cNvPr id="14" name="Shape 12"/>
          <p:cNvSpPr/>
          <p:nvPr/>
        </p:nvSpPr>
        <p:spPr>
          <a:xfrm>
            <a:off x="365760" y="2926080"/>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65760" y="2926080"/>
            <a:ext cx="64008" cy="658368"/>
          </a:xfrm>
          <a:prstGeom prst="rect">
            <a:avLst/>
          </a:prstGeom>
          <a:solidFill>
            <a:srgbClr val="009A44"/>
          </a:solidFill>
        </p:spPr>
      </p:sp>
      <p:sp>
        <p:nvSpPr>
          <p:cNvPr id="16" name="Text 14"/>
          <p:cNvSpPr/>
          <p:nvPr/>
        </p:nvSpPr>
        <p:spPr>
          <a:xfrm>
            <a:off x="566928" y="3081528"/>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Platform/Marketplace models require solving the 'chicken-and-egg' problem — you need both sides to launch</a:t>
            </a:r>
            <a:endParaRPr lang="en-US" sz="1300" dirty="0"/>
          </a:p>
        </p:txBody>
      </p:sp>
      <p:sp>
        <p:nvSpPr>
          <p:cNvPr id="17" name="Shape 15"/>
          <p:cNvSpPr/>
          <p:nvPr/>
        </p:nvSpPr>
        <p:spPr>
          <a:xfrm>
            <a:off x="365760" y="3712464"/>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8" name="Shape 16"/>
          <p:cNvSpPr/>
          <p:nvPr/>
        </p:nvSpPr>
        <p:spPr>
          <a:xfrm>
            <a:off x="365760" y="3712464"/>
            <a:ext cx="64008" cy="658368"/>
          </a:xfrm>
          <a:prstGeom prst="rect">
            <a:avLst/>
          </a:prstGeom>
          <a:solidFill>
            <a:srgbClr val="009A44"/>
          </a:solidFill>
        </p:spPr>
      </p:sp>
      <p:sp>
        <p:nvSpPr>
          <p:cNvPr id="19" name="Text 17"/>
          <p:cNvSpPr/>
          <p:nvPr/>
        </p:nvSpPr>
        <p:spPr>
          <a:xfrm>
            <a:off x="566928" y="3867912"/>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Use the 5-factor framework (customer type, scale, cash flow, competition, regulation) to choose your model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Today's Learning Objectives</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By the end of today, you will be able to:</a:t>
            </a:r>
            <a:endParaRPr lang="en-US" sz="1300" dirty="0"/>
          </a:p>
        </p:txBody>
      </p:sp>
      <p:sp>
        <p:nvSpPr>
          <p:cNvPr id="8" name="Shape 6"/>
          <p:cNvSpPr/>
          <p:nvPr/>
        </p:nvSpPr>
        <p:spPr>
          <a:xfrm>
            <a:off x="365760" y="132588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72184"/>
            <a:ext cx="402336" cy="402336"/>
          </a:xfrm>
          <a:prstGeom prst="ellipse">
            <a:avLst/>
          </a:prstGeom>
          <a:solidFill>
            <a:srgbClr val="009A44"/>
          </a:solidFill>
        </p:spPr>
      </p:sp>
      <p:sp>
        <p:nvSpPr>
          <p:cNvPr id="10" name="Text 8"/>
          <p:cNvSpPr/>
          <p:nvPr/>
        </p:nvSpPr>
        <p:spPr>
          <a:xfrm>
            <a:off x="457200" y="147218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1" name="Text 9"/>
          <p:cNvSpPr/>
          <p:nvPr/>
        </p:nvSpPr>
        <p:spPr>
          <a:xfrm>
            <a:off x="1024128" y="148132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Explain the difference between a revenue model and a business model — and why both matter</a:t>
            </a:r>
            <a:endParaRPr lang="en-US" sz="1300" dirty="0"/>
          </a:p>
        </p:txBody>
      </p:sp>
      <p:sp>
        <p:nvSpPr>
          <p:cNvPr id="12" name="Shape 10"/>
          <p:cNvSpPr/>
          <p:nvPr/>
        </p:nvSpPr>
        <p:spPr>
          <a:xfrm>
            <a:off x="365760" y="214884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2295144"/>
            <a:ext cx="402336" cy="402336"/>
          </a:xfrm>
          <a:prstGeom prst="ellipse">
            <a:avLst/>
          </a:prstGeom>
          <a:solidFill>
            <a:srgbClr val="009A44"/>
          </a:solidFill>
        </p:spPr>
      </p:sp>
      <p:sp>
        <p:nvSpPr>
          <p:cNvPr id="14" name="Text 12"/>
          <p:cNvSpPr/>
          <p:nvPr/>
        </p:nvSpPr>
        <p:spPr>
          <a:xfrm>
            <a:off x="457200" y="229514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230428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Identify, compare and evaluate all 6 core revenue model types with real Ghanaian and African examples</a:t>
            </a:r>
            <a:endParaRPr lang="en-US" sz="1300" dirty="0"/>
          </a:p>
        </p:txBody>
      </p:sp>
      <p:sp>
        <p:nvSpPr>
          <p:cNvPr id="16" name="Shape 14"/>
          <p:cNvSpPr/>
          <p:nvPr/>
        </p:nvSpPr>
        <p:spPr>
          <a:xfrm>
            <a:off x="365760" y="297180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457200" y="3118104"/>
            <a:ext cx="402336" cy="402336"/>
          </a:xfrm>
          <a:prstGeom prst="ellipse">
            <a:avLst/>
          </a:prstGeom>
          <a:solidFill>
            <a:srgbClr val="009A44"/>
          </a:solidFill>
        </p:spPr>
      </p:sp>
      <p:sp>
        <p:nvSpPr>
          <p:cNvPr id="18" name="Text 16"/>
          <p:cNvSpPr/>
          <p:nvPr/>
        </p:nvSpPr>
        <p:spPr>
          <a:xfrm>
            <a:off x="457200" y="311810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19" name="Text 17"/>
          <p:cNvSpPr/>
          <p:nvPr/>
        </p:nvSpPr>
        <p:spPr>
          <a:xfrm>
            <a:off x="1024128" y="312724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Calculate key unit economics: Customer Acquisition Cost (CAC), Lifetime Value (LTV), and payback period</a:t>
            </a:r>
            <a:endParaRPr lang="en-US" sz="1300" dirty="0"/>
          </a:p>
        </p:txBody>
      </p:sp>
      <p:sp>
        <p:nvSpPr>
          <p:cNvPr id="20" name="Shape 18"/>
          <p:cNvSpPr/>
          <p:nvPr/>
        </p:nvSpPr>
        <p:spPr>
          <a:xfrm>
            <a:off x="365760" y="379476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457200" y="3941064"/>
            <a:ext cx="402336" cy="402336"/>
          </a:xfrm>
          <a:prstGeom prst="ellipse">
            <a:avLst/>
          </a:prstGeom>
          <a:solidFill>
            <a:srgbClr val="009A44"/>
          </a:solidFill>
        </p:spPr>
      </p:sp>
      <p:sp>
        <p:nvSpPr>
          <p:cNvPr id="22" name="Text 20"/>
          <p:cNvSpPr/>
          <p:nvPr/>
        </p:nvSpPr>
        <p:spPr>
          <a:xfrm>
            <a:off x="457200" y="39410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3" name="Text 21"/>
          <p:cNvSpPr/>
          <p:nvPr/>
        </p:nvSpPr>
        <p:spPr>
          <a:xfrm>
            <a:off x="1024128" y="395020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Build a credible 12-month bottom-up revenue forecast using your own startup's assumptions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09A44">
              <a:alpha val="18000"/>
            </a:srgbClr>
          </a:solidFill>
        </p:spPr>
      </p:sp>
      <p:sp>
        <p:nvSpPr>
          <p:cNvPr id="3" name="Shape 1"/>
          <p:cNvSpPr/>
          <p:nvPr/>
        </p:nvSpPr>
        <p:spPr>
          <a:xfrm>
            <a:off x="7132320" y="182880"/>
            <a:ext cx="2560320" cy="2560320"/>
          </a:xfrm>
          <a:prstGeom prst="ellipse">
            <a:avLst/>
          </a:prstGeom>
          <a:solidFill>
            <a:srgbClr val="FFC20E">
              <a:alpha val="28000"/>
            </a:srgbClr>
          </a:solidFill>
        </p:spPr>
      </p:sp>
      <p:sp>
        <p:nvSpPr>
          <p:cNvPr id="4" name="Text 2"/>
          <p:cNvSpPr/>
          <p:nvPr/>
        </p:nvSpPr>
        <p:spPr>
          <a:xfrm>
            <a:off x="457200" y="594360"/>
            <a:ext cx="1645920" cy="1463040"/>
          </a:xfrm>
          <a:prstGeom prst="rect">
            <a:avLst/>
          </a:prstGeom>
          <a:noFill/>
        </p:spPr>
        <p:txBody>
          <a:bodyPr wrap="square" lIns="0" tIns="0" rIns="0" bIns="0" rtlCol="0" anchor="ctr"/>
          <a:lstStyle/>
          <a:p>
            <a:pPr marL="0" indent="0" algn="l">
              <a:buNone/>
            </a:pPr>
            <a:r>
              <a:rPr lang="en-US" sz="7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7200" dirty="0"/>
          </a:p>
        </p:txBody>
      </p:sp>
      <p:sp>
        <p:nvSpPr>
          <p:cNvPr id="5" name="Text 3"/>
          <p:cNvSpPr/>
          <p:nvPr/>
        </p:nvSpPr>
        <p:spPr>
          <a:xfrm>
            <a:off x="457200" y="621792"/>
            <a:ext cx="5486400" cy="347472"/>
          </a:xfrm>
          <a:prstGeom prst="rect">
            <a:avLst/>
          </a:prstGeom>
          <a:noFill/>
        </p:spPr>
        <p:txBody>
          <a:bodyPr wrap="square" lIns="0" tIns="0" rIns="0" bIns="0" rtlCol="0" anchor="ctr"/>
          <a:lstStyle/>
          <a:p>
            <a:pPr marL="0" indent="0">
              <a:buNone/>
            </a:pPr>
            <a:r>
              <a:rPr lang="en-US" sz="1100" kern="0" spc="400" dirty="0">
                <a:solidFill>
                  <a:srgbClr val="009A44"/>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1100" dirty="0"/>
          </a:p>
        </p:txBody>
      </p:sp>
      <p:sp>
        <p:nvSpPr>
          <p:cNvPr id="6" name="Text 4"/>
          <p:cNvSpPr/>
          <p:nvPr/>
        </p:nvSpPr>
        <p:spPr>
          <a:xfrm>
            <a:off x="457200" y="2148840"/>
            <a:ext cx="6858000" cy="1234440"/>
          </a:xfrm>
          <a:prstGeom prst="rect">
            <a:avLst/>
          </a:prstGeom>
          <a:noFill/>
        </p:spPr>
        <p:txBody>
          <a:bodyPr wrap="square" lIns="0" tIns="0" rIns="0" bIns="0" rtlCol="0" anchor="ctr"/>
          <a:lstStyle/>
          <a:p>
            <a:pPr marL="0" indent="0">
              <a:buNone/>
            </a:pPr>
            <a:r>
              <a:rPr lang="en-US" sz="3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Revenue Model vs Business Model</a:t>
            </a:r>
            <a:endParaRPr lang="en-US" sz="3400" dirty="0"/>
          </a:p>
        </p:txBody>
      </p:sp>
      <p:sp>
        <p:nvSpPr>
          <p:cNvPr id="7" name="Text 5"/>
          <p:cNvSpPr/>
          <p:nvPr/>
        </p:nvSpPr>
        <p:spPr>
          <a:xfrm>
            <a:off x="457200" y="3456432"/>
            <a:ext cx="6858000" cy="658368"/>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Two concepts. One startup. You need both — and they are not the same thing.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Revenue Model vs Business Model</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65760" y="914400"/>
            <a:ext cx="4023360" cy="320040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3200400"/>
          </a:xfrm>
          <a:prstGeom prst="rect">
            <a:avLst/>
          </a:prstGeom>
          <a:solidFill>
            <a:srgbClr val="009A44"/>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BUSINESS MODEL</a:t>
            </a:r>
            <a:endParaRPr lang="en-US" sz="1300" dirty="0"/>
          </a:p>
        </p:txBody>
      </p:sp>
      <p:sp>
        <p:nvSpPr>
          <p:cNvPr id="10" name="Text 8"/>
          <p:cNvSpPr/>
          <p:nvPr/>
        </p:nvSpPr>
        <p:spPr>
          <a:xfrm>
            <a:off x="530352" y="1408176"/>
            <a:ext cx="3794760" cy="26060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How you CREATE, DELIVER and CAPTURE value overall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Includes: target customers, value proposition, channels, key resources, cost structure — and revenue streams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Answers: "How does your entire startup work?"</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Example: Farmerline connects farmers to agri-inputs + market data via mobile, with an agent distribution network, funded by B2B SaaS + donor grants</a:t>
            </a:r>
            <a:endParaRPr lang="en-US" sz="1150" dirty="0"/>
          </a:p>
        </p:txBody>
      </p:sp>
      <p:sp>
        <p:nvSpPr>
          <p:cNvPr id="11" name="Shape 9"/>
          <p:cNvSpPr/>
          <p:nvPr/>
        </p:nvSpPr>
        <p:spPr>
          <a:xfrm>
            <a:off x="4572000" y="914400"/>
            <a:ext cx="4206240" cy="320040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320040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REVENUE MODEL</a:t>
            </a:r>
            <a:endParaRPr lang="en-US" sz="1300" dirty="0"/>
          </a:p>
        </p:txBody>
      </p:sp>
      <p:sp>
        <p:nvSpPr>
          <p:cNvPr id="14" name="Text 12"/>
          <p:cNvSpPr/>
          <p:nvPr/>
        </p:nvSpPr>
        <p:spPr>
          <a:xfrm>
            <a:off x="4736592" y="1408176"/>
            <a:ext cx="3977640" cy="26060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How specifically you EARN MONEY from your customers — the pricing mechanism</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 subset of the business model focused on the money flow: who pays, how much, how often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Answers: "How does money actually move to your company?"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Example: Farmerline charges NGOs a GHS 2,500/month SaaS fee AND takes a 3% commission on farmer input purchases through the platform</a:t>
            </a:r>
            <a:endParaRPr lang="en-US" sz="1150" dirty="0"/>
          </a:p>
        </p:txBody>
      </p:sp>
      <p:sp>
        <p:nvSpPr>
          <p:cNvPr id="15" name="Text 13"/>
          <p:cNvSpPr/>
          <p:nvPr/>
        </p:nvSpPr>
        <p:spPr>
          <a:xfrm>
            <a:off x="457200" y="4279392"/>
            <a:ext cx="8229600" cy="384048"/>
          </a:xfrm>
          <a:prstGeom prst="rect">
            <a:avLst/>
          </a:prstGeom>
          <a:noFill/>
        </p:spPr>
        <p:txBody>
          <a:bodyPr wrap="square" lIns="0" tIns="0" rIns="0" bIns="0" rtlCol="0" anchor="ctr"/>
          <a:lstStyle/>
          <a:p>
            <a:pPr marL="0" indent="0">
              <a:buNone/>
            </a:pPr>
            <a:r>
              <a:rPr lang="en-US" sz="1200" i="1" dirty="0">
                <a:solidFill>
                  <a:srgbClr val="1E293B"/>
                </a:solidFill>
                <a:latin typeface="Calibri" panose="020F05020202040A0204" pitchFamily="34" charset="0"/>
                <a:ea typeface="Calibri" panose="020F05020202040A0204" pitchFamily="34" charset="-122"/>
                <a:cs typeface="Calibri" panose="020F05020202040A0204" pitchFamily="34" charset="-120"/>
              </a:rPr>
              <a:t>Key insight: same product, different revenue model = completely different businesses with different economics, growth paths and investor attractiveness.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465"/>
            <a:ext cx="649224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Five Reasons Your Revenue Model Determines Survival</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300" b="1" dirty="0">
                <a:solidFill>
                  <a:srgbClr val="0A2540"/>
                </a:solidFill>
                <a:latin typeface="Calibri" panose="020F05020202040A0204" pitchFamily="34" charset="0"/>
                <a:ea typeface="Calibri" panose="020F05020202040A0204" pitchFamily="34" charset="-122"/>
                <a:cs typeface="Calibri" panose="020F05020202040A0204" pitchFamily="34" charset="-120"/>
              </a:rPr>
              <a:t>The same product with different revenue models = completely different businesses.</a:t>
            </a:r>
            <a:endParaRPr lang="en-US" sz="1300" dirty="0"/>
          </a:p>
        </p:txBody>
      </p:sp>
      <p:sp>
        <p:nvSpPr>
          <p:cNvPr id="8" name="Shape 6"/>
          <p:cNvSpPr/>
          <p:nvPr/>
        </p:nvSpPr>
        <p:spPr>
          <a:xfrm>
            <a:off x="365760" y="1353312"/>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566928"/>
          </a:xfrm>
          <a:prstGeom prst="rect">
            <a:avLst/>
          </a:prstGeom>
          <a:solidFill>
            <a:srgbClr val="009A44"/>
          </a:solidFill>
        </p:spPr>
      </p:sp>
      <p:sp>
        <p:nvSpPr>
          <p:cNvPr id="10" name="Text 8"/>
          <p:cNvSpPr/>
          <p:nvPr/>
        </p:nvSpPr>
        <p:spPr>
          <a:xfrm>
            <a:off x="566928" y="1481328"/>
            <a:ext cx="210312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Cash Flow Timing:</a:t>
            </a:r>
            <a:endParaRPr lang="en-US" sz="1100" dirty="0"/>
          </a:p>
        </p:txBody>
      </p:sp>
      <p:sp>
        <p:nvSpPr>
          <p:cNvPr id="11" name="Text 9"/>
          <p:cNvSpPr/>
          <p:nvPr/>
        </p:nvSpPr>
        <p:spPr>
          <a:xfrm>
            <a:off x="2788920" y="1481328"/>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Transaction models give you cash today. Subscription requires upfront investment but gives you predictable monthly recurring revenue.</a:t>
            </a:r>
            <a:endParaRPr lang="en-US" sz="1100" dirty="0"/>
          </a:p>
        </p:txBody>
      </p:sp>
      <p:sp>
        <p:nvSpPr>
          <p:cNvPr id="12" name="Shape 10"/>
          <p:cNvSpPr/>
          <p:nvPr/>
        </p:nvSpPr>
        <p:spPr>
          <a:xfrm>
            <a:off x="365760" y="2029968"/>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3" name="Shape 11"/>
          <p:cNvSpPr/>
          <p:nvPr/>
        </p:nvSpPr>
        <p:spPr>
          <a:xfrm>
            <a:off x="365760" y="2029968"/>
            <a:ext cx="64008" cy="566928"/>
          </a:xfrm>
          <a:prstGeom prst="rect">
            <a:avLst/>
          </a:prstGeom>
          <a:solidFill>
            <a:srgbClr val="FFC20E"/>
          </a:solidFill>
        </p:spPr>
      </p:sp>
      <p:sp>
        <p:nvSpPr>
          <p:cNvPr id="14" name="Text 12"/>
          <p:cNvSpPr/>
          <p:nvPr/>
        </p:nvSpPr>
        <p:spPr>
          <a:xfrm>
            <a:off x="566928" y="2157984"/>
            <a:ext cx="210312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Customer Behaviour:</a:t>
            </a:r>
            <a:endParaRPr lang="en-US" sz="1100" dirty="0"/>
          </a:p>
        </p:txBody>
      </p:sp>
      <p:sp>
        <p:nvSpPr>
          <p:cNvPr id="15" name="Text 13"/>
          <p:cNvSpPr/>
          <p:nvPr/>
        </p:nvSpPr>
        <p:spPr>
          <a:xfrm>
            <a:off x="2788920" y="2157984"/>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Freemium requires 50x more users to convert 1 paying customer. Are your unit economics viable at the scale you can reach?</a:t>
            </a:r>
            <a:endParaRPr lang="en-US" sz="1100" dirty="0"/>
          </a:p>
        </p:txBody>
      </p:sp>
      <p:sp>
        <p:nvSpPr>
          <p:cNvPr id="16" name="Shape 14"/>
          <p:cNvSpPr/>
          <p:nvPr/>
        </p:nvSpPr>
        <p:spPr>
          <a:xfrm>
            <a:off x="365760" y="2706624"/>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2706624"/>
            <a:ext cx="64008" cy="566928"/>
          </a:xfrm>
          <a:prstGeom prst="rect">
            <a:avLst/>
          </a:prstGeom>
          <a:solidFill>
            <a:srgbClr val="009A44"/>
          </a:solidFill>
        </p:spPr>
      </p:sp>
      <p:sp>
        <p:nvSpPr>
          <p:cNvPr id="18" name="Text 16"/>
          <p:cNvSpPr/>
          <p:nvPr/>
        </p:nvSpPr>
        <p:spPr>
          <a:xfrm>
            <a:off x="566928" y="2834640"/>
            <a:ext cx="210312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Investor Attractiveness:</a:t>
            </a:r>
            <a:endParaRPr lang="en-US" sz="1100" dirty="0"/>
          </a:p>
        </p:txBody>
      </p:sp>
      <p:sp>
        <p:nvSpPr>
          <p:cNvPr id="19" name="Text 17"/>
          <p:cNvSpPr/>
          <p:nvPr/>
        </p:nvSpPr>
        <p:spPr>
          <a:xfrm>
            <a:off x="2788920" y="2834640"/>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Recurring SaaS revenue commands 5-10x higher valuation multiples than one-time transaction revenue. Investors pay a premium for predictability.</a:t>
            </a:r>
            <a:endParaRPr lang="en-US" sz="1100" dirty="0"/>
          </a:p>
        </p:txBody>
      </p:sp>
      <p:sp>
        <p:nvSpPr>
          <p:cNvPr id="20" name="Shape 18"/>
          <p:cNvSpPr/>
          <p:nvPr/>
        </p:nvSpPr>
        <p:spPr>
          <a:xfrm>
            <a:off x="365760" y="3383280"/>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1" name="Shape 19"/>
          <p:cNvSpPr/>
          <p:nvPr/>
        </p:nvSpPr>
        <p:spPr>
          <a:xfrm>
            <a:off x="365760" y="3383280"/>
            <a:ext cx="64008" cy="566928"/>
          </a:xfrm>
          <a:prstGeom prst="rect">
            <a:avLst/>
          </a:prstGeom>
          <a:solidFill>
            <a:srgbClr val="00539C"/>
          </a:solidFill>
        </p:spPr>
      </p:sp>
      <p:sp>
        <p:nvSpPr>
          <p:cNvPr id="22" name="Text 20"/>
          <p:cNvSpPr/>
          <p:nvPr/>
        </p:nvSpPr>
        <p:spPr>
          <a:xfrm>
            <a:off x="566928" y="3511296"/>
            <a:ext cx="210312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Regulation &amp; Compliance:</a:t>
            </a:r>
            <a:endParaRPr lang="en-US" sz="1100" dirty="0"/>
          </a:p>
        </p:txBody>
      </p:sp>
      <p:sp>
        <p:nvSpPr>
          <p:cNvPr id="23" name="Text 21"/>
          <p:cNvSpPr/>
          <p:nvPr/>
        </p:nvSpPr>
        <p:spPr>
          <a:xfrm>
            <a:off x="2788920" y="3511296"/>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FinTech revenue models (lending, payments) require Bank of Ghana licensing. Health models may need FDA oversight. Know this before you launch.</a:t>
            </a:r>
            <a:endParaRPr lang="en-US" sz="1100" dirty="0"/>
          </a:p>
        </p:txBody>
      </p:sp>
      <p:sp>
        <p:nvSpPr>
          <p:cNvPr id="24" name="Shape 22"/>
          <p:cNvSpPr/>
          <p:nvPr/>
        </p:nvSpPr>
        <p:spPr>
          <a:xfrm>
            <a:off x="365760" y="4059936"/>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25" name="Shape 23"/>
          <p:cNvSpPr/>
          <p:nvPr/>
        </p:nvSpPr>
        <p:spPr>
          <a:xfrm>
            <a:off x="365760" y="4059936"/>
            <a:ext cx="64008" cy="566928"/>
          </a:xfrm>
          <a:prstGeom prst="rect">
            <a:avLst/>
          </a:prstGeom>
          <a:solidFill>
            <a:srgbClr val="0A2540"/>
          </a:solidFill>
        </p:spPr>
      </p:sp>
      <p:sp>
        <p:nvSpPr>
          <p:cNvPr id="26" name="Text 24"/>
          <p:cNvSpPr/>
          <p:nvPr/>
        </p:nvSpPr>
        <p:spPr>
          <a:xfrm>
            <a:off x="566928" y="4187952"/>
            <a:ext cx="2103120" cy="310896"/>
          </a:xfrm>
          <a:prstGeom prst="rect">
            <a:avLst/>
          </a:prstGeom>
          <a:noFill/>
        </p:spPr>
        <p:txBody>
          <a:bodyPr wrap="square" lIns="0" tIns="0" rIns="0" bIns="0" rtlCol="0" anchor="ctr"/>
          <a:lstStyle/>
          <a:p>
            <a:pPr marL="0" indent="0">
              <a:buNone/>
            </a:pPr>
            <a:r>
              <a:rPr lang="en-US" sz="11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Scalability Ceiling:</a:t>
            </a:r>
            <a:endParaRPr lang="en-US" sz="1100" dirty="0"/>
          </a:p>
        </p:txBody>
      </p:sp>
      <p:sp>
        <p:nvSpPr>
          <p:cNvPr id="27" name="Text 25"/>
          <p:cNvSpPr/>
          <p:nvPr/>
        </p:nvSpPr>
        <p:spPr>
          <a:xfrm>
            <a:off x="2788920" y="4187952"/>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A pure consulting model cannot scale without proportional headcount. A SaaS model can serve 10x customers with the same team.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09A44">
              <a:alpha val="18000"/>
            </a:srgbClr>
          </a:solidFill>
        </p:spPr>
      </p:sp>
      <p:sp>
        <p:nvSpPr>
          <p:cNvPr id="3" name="Shape 1"/>
          <p:cNvSpPr/>
          <p:nvPr/>
        </p:nvSpPr>
        <p:spPr>
          <a:xfrm>
            <a:off x="7132320" y="182880"/>
            <a:ext cx="2560320" cy="2560320"/>
          </a:xfrm>
          <a:prstGeom prst="ellipse">
            <a:avLst/>
          </a:prstGeom>
          <a:solidFill>
            <a:srgbClr val="FFC20E">
              <a:alpha val="28000"/>
            </a:srgbClr>
          </a:solidFill>
        </p:spPr>
      </p:sp>
      <p:sp>
        <p:nvSpPr>
          <p:cNvPr id="4" name="Text 2"/>
          <p:cNvSpPr/>
          <p:nvPr/>
        </p:nvSpPr>
        <p:spPr>
          <a:xfrm>
            <a:off x="457200" y="594360"/>
            <a:ext cx="1645920" cy="1463040"/>
          </a:xfrm>
          <a:prstGeom prst="rect">
            <a:avLst/>
          </a:prstGeom>
          <a:noFill/>
        </p:spPr>
        <p:txBody>
          <a:bodyPr wrap="square" lIns="0" tIns="0" rIns="0" bIns="0" rtlCol="0" anchor="ctr"/>
          <a:lstStyle/>
          <a:p>
            <a:pPr marL="0" indent="0" algn="l">
              <a:buNone/>
            </a:pPr>
            <a:r>
              <a:rPr lang="en-US" sz="7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7200" dirty="0"/>
          </a:p>
        </p:txBody>
      </p:sp>
      <p:sp>
        <p:nvSpPr>
          <p:cNvPr id="5" name="Text 3"/>
          <p:cNvSpPr/>
          <p:nvPr/>
        </p:nvSpPr>
        <p:spPr>
          <a:xfrm>
            <a:off x="457200" y="621792"/>
            <a:ext cx="5486400" cy="347472"/>
          </a:xfrm>
          <a:prstGeom prst="rect">
            <a:avLst/>
          </a:prstGeom>
          <a:noFill/>
        </p:spPr>
        <p:txBody>
          <a:bodyPr wrap="square" lIns="0" tIns="0" rIns="0" bIns="0" rtlCol="0" anchor="ctr"/>
          <a:lstStyle/>
          <a:p>
            <a:pPr marL="0" indent="0">
              <a:buNone/>
            </a:pPr>
            <a:r>
              <a:rPr lang="en-US" sz="1100" kern="0" spc="400" dirty="0">
                <a:solidFill>
                  <a:srgbClr val="009A44"/>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1100" dirty="0"/>
          </a:p>
        </p:txBody>
      </p:sp>
      <p:sp>
        <p:nvSpPr>
          <p:cNvPr id="6" name="Text 4"/>
          <p:cNvSpPr/>
          <p:nvPr/>
        </p:nvSpPr>
        <p:spPr>
          <a:xfrm>
            <a:off x="457200" y="2148840"/>
            <a:ext cx="6858000" cy="1234440"/>
          </a:xfrm>
          <a:prstGeom prst="rect">
            <a:avLst/>
          </a:prstGeom>
          <a:noFill/>
        </p:spPr>
        <p:txBody>
          <a:bodyPr wrap="square" lIns="0" tIns="0" rIns="0" bIns="0" rtlCol="0" anchor="ctr"/>
          <a:lstStyle/>
          <a:p>
            <a:pPr marL="0" indent="0">
              <a:buNone/>
            </a:pPr>
            <a:r>
              <a:rPr lang="en-US" sz="3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The 6 Core Revenue Models</a:t>
            </a:r>
            <a:endParaRPr lang="en-US" sz="3400" dirty="0"/>
          </a:p>
        </p:txBody>
      </p:sp>
      <p:sp>
        <p:nvSpPr>
          <p:cNvPr id="7" name="Text 5"/>
          <p:cNvSpPr/>
          <p:nvPr/>
        </p:nvSpPr>
        <p:spPr>
          <a:xfrm>
            <a:off x="457200" y="3456432"/>
            <a:ext cx="6858000" cy="658368"/>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Deep dives with Ghanaian and African context — pick your primary model, then layer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The 6 Core Revenue Models — Know Them All</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Most successful African startups use BLENDED models. Start by understanding each one individually.</a:t>
            </a:r>
            <a:endParaRPr lang="en-US" sz="1200" dirty="0"/>
          </a:p>
        </p:txBody>
      </p:sp>
      <p:sp>
        <p:nvSpPr>
          <p:cNvPr id="8" name="Shape 6"/>
          <p:cNvSpPr/>
          <p:nvPr/>
        </p:nvSpPr>
        <p:spPr>
          <a:xfrm>
            <a:off x="32004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20040" y="1417320"/>
            <a:ext cx="2743200" cy="64008"/>
          </a:xfrm>
          <a:prstGeom prst="rect">
            <a:avLst/>
          </a:prstGeom>
          <a:solidFill>
            <a:srgbClr val="009A44"/>
          </a:solidFill>
        </p:spPr>
      </p:sp>
      <p:sp>
        <p:nvSpPr>
          <p:cNvPr id="10" name="Shape 8"/>
          <p:cNvSpPr/>
          <p:nvPr/>
        </p:nvSpPr>
        <p:spPr>
          <a:xfrm>
            <a:off x="457200" y="1527048"/>
            <a:ext cx="402336" cy="402336"/>
          </a:xfrm>
          <a:prstGeom prst="ellipse">
            <a:avLst/>
          </a:prstGeom>
          <a:solidFill>
            <a:srgbClr val="009A44"/>
          </a:solidFill>
        </p:spPr>
      </p:sp>
      <p:sp>
        <p:nvSpPr>
          <p:cNvPr id="11" name="Text 9"/>
          <p:cNvSpPr/>
          <p:nvPr/>
        </p:nvSpPr>
        <p:spPr>
          <a:xfrm>
            <a:off x="457200" y="15270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1300" dirty="0"/>
          </a:p>
        </p:txBody>
      </p:sp>
      <p:sp>
        <p:nvSpPr>
          <p:cNvPr id="12" name="Text 10"/>
          <p:cNvSpPr/>
          <p:nvPr/>
        </p:nvSpPr>
        <p:spPr>
          <a:xfrm>
            <a:off x="978408" y="1527048"/>
            <a:ext cx="1938528" cy="384048"/>
          </a:xfrm>
          <a:prstGeom prst="rect">
            <a:avLst/>
          </a:prstGeom>
          <a:noFill/>
        </p:spPr>
        <p:txBody>
          <a:bodyPr wrap="square" lIns="0" tIns="0" rIns="0" bIns="0" rtlCol="0" anchor="ctr"/>
          <a:lstStyle/>
          <a:p>
            <a:pPr marL="0" indent="0">
              <a:buNone/>
            </a:pPr>
            <a:r>
              <a:rPr lang="en-US" sz="13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Subscription</a:t>
            </a:r>
            <a:endParaRPr lang="en-US" sz="1300" dirty="0"/>
          </a:p>
        </p:txBody>
      </p:sp>
      <p:sp>
        <p:nvSpPr>
          <p:cNvPr id="13" name="Text 11"/>
          <p:cNvSpPr/>
          <p:nvPr/>
        </p:nvSpPr>
        <p:spPr>
          <a:xfrm>
            <a:off x="457200" y="207568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Recurring monthly or annual fee for ongoing access. Predictable MRR. Example: Hubtel merchant plan.</a:t>
            </a:r>
            <a:endParaRPr lang="en-US" sz="1050" dirty="0"/>
          </a:p>
        </p:txBody>
      </p:sp>
      <p:sp>
        <p:nvSpPr>
          <p:cNvPr id="14" name="Shape 12"/>
          <p:cNvSpPr/>
          <p:nvPr/>
        </p:nvSpPr>
        <p:spPr>
          <a:xfrm>
            <a:off x="324612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246120" y="1417320"/>
            <a:ext cx="2743200" cy="64008"/>
          </a:xfrm>
          <a:prstGeom prst="rect">
            <a:avLst/>
          </a:prstGeom>
          <a:solidFill>
            <a:srgbClr val="FFC20E"/>
          </a:solidFill>
        </p:spPr>
      </p:sp>
      <p:sp>
        <p:nvSpPr>
          <p:cNvPr id="16" name="Shape 14"/>
          <p:cNvSpPr/>
          <p:nvPr/>
        </p:nvSpPr>
        <p:spPr>
          <a:xfrm>
            <a:off x="3383280" y="1527048"/>
            <a:ext cx="402336" cy="402336"/>
          </a:xfrm>
          <a:prstGeom prst="ellipse">
            <a:avLst/>
          </a:prstGeom>
          <a:solidFill>
            <a:srgbClr val="FFC20E"/>
          </a:solidFill>
        </p:spPr>
      </p:sp>
      <p:sp>
        <p:nvSpPr>
          <p:cNvPr id="17" name="Text 15"/>
          <p:cNvSpPr/>
          <p:nvPr/>
        </p:nvSpPr>
        <p:spPr>
          <a:xfrm>
            <a:off x="3383280" y="15270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1300" dirty="0"/>
          </a:p>
        </p:txBody>
      </p:sp>
      <p:sp>
        <p:nvSpPr>
          <p:cNvPr id="18" name="Text 16"/>
          <p:cNvSpPr/>
          <p:nvPr/>
        </p:nvSpPr>
        <p:spPr>
          <a:xfrm>
            <a:off x="3904488" y="1527048"/>
            <a:ext cx="1938528" cy="384048"/>
          </a:xfrm>
          <a:prstGeom prst="rect">
            <a:avLst/>
          </a:prstGeom>
          <a:noFill/>
        </p:spPr>
        <p:txBody>
          <a:bodyPr wrap="square" lIns="0" tIns="0" rIns="0" bIns="0" rtlCol="0" anchor="ctr"/>
          <a:lstStyle/>
          <a:p>
            <a:pPr marL="0" indent="0">
              <a:buNone/>
            </a:pPr>
            <a:r>
              <a:rPr lang="en-US" sz="13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Transaction</a:t>
            </a:r>
            <a:endParaRPr lang="en-US" sz="1300" dirty="0"/>
          </a:p>
        </p:txBody>
      </p:sp>
      <p:sp>
        <p:nvSpPr>
          <p:cNvPr id="19" name="Text 17"/>
          <p:cNvSpPr/>
          <p:nvPr/>
        </p:nvSpPr>
        <p:spPr>
          <a:xfrm>
            <a:off x="3383280" y="207568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Fee per transaction or event. Pay-as-you-go. Example: MTN MoMo fees; Jumia seller commission.</a:t>
            </a:r>
            <a:endParaRPr lang="en-US" sz="1050" dirty="0"/>
          </a:p>
        </p:txBody>
      </p:sp>
      <p:sp>
        <p:nvSpPr>
          <p:cNvPr id="20" name="Shape 18"/>
          <p:cNvSpPr/>
          <p:nvPr/>
        </p:nvSpPr>
        <p:spPr>
          <a:xfrm>
            <a:off x="617220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6172200" y="1417320"/>
            <a:ext cx="2743200" cy="64008"/>
          </a:xfrm>
          <a:prstGeom prst="rect">
            <a:avLst/>
          </a:prstGeom>
          <a:solidFill>
            <a:srgbClr val="00539C"/>
          </a:solidFill>
        </p:spPr>
      </p:sp>
      <p:sp>
        <p:nvSpPr>
          <p:cNvPr id="22" name="Shape 20"/>
          <p:cNvSpPr/>
          <p:nvPr/>
        </p:nvSpPr>
        <p:spPr>
          <a:xfrm>
            <a:off x="6309360" y="1527048"/>
            <a:ext cx="402336" cy="402336"/>
          </a:xfrm>
          <a:prstGeom prst="ellipse">
            <a:avLst/>
          </a:prstGeom>
          <a:solidFill>
            <a:srgbClr val="00539C"/>
          </a:solidFill>
        </p:spPr>
      </p:sp>
      <p:sp>
        <p:nvSpPr>
          <p:cNvPr id="23" name="Text 21"/>
          <p:cNvSpPr/>
          <p:nvPr/>
        </p:nvSpPr>
        <p:spPr>
          <a:xfrm>
            <a:off x="6309360" y="15270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03</a:t>
            </a:r>
            <a:endParaRPr lang="en-US" sz="1300" dirty="0"/>
          </a:p>
        </p:txBody>
      </p:sp>
      <p:sp>
        <p:nvSpPr>
          <p:cNvPr id="24" name="Text 22"/>
          <p:cNvSpPr/>
          <p:nvPr/>
        </p:nvSpPr>
        <p:spPr>
          <a:xfrm>
            <a:off x="6830568" y="1527048"/>
            <a:ext cx="1938528" cy="384048"/>
          </a:xfrm>
          <a:prstGeom prst="rect">
            <a:avLst/>
          </a:prstGeom>
          <a:noFill/>
        </p:spPr>
        <p:txBody>
          <a:bodyPr wrap="square" lIns="0" tIns="0" rIns="0" bIns="0" rtlCol="0" anchor="ctr"/>
          <a:lstStyle/>
          <a:p>
            <a:pPr marL="0" indent="0">
              <a:buNone/>
            </a:pPr>
            <a:r>
              <a:rPr lang="en-US" sz="13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Freemium</a:t>
            </a:r>
            <a:endParaRPr lang="en-US" sz="1300" dirty="0"/>
          </a:p>
        </p:txBody>
      </p:sp>
      <p:sp>
        <p:nvSpPr>
          <p:cNvPr id="25" name="Text 23"/>
          <p:cNvSpPr/>
          <p:nvPr/>
        </p:nvSpPr>
        <p:spPr>
          <a:xfrm>
            <a:off x="6309360" y="207568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Free core product, paid premium tier. Requires high free user volume. Conversion avg: 2-5%.</a:t>
            </a:r>
            <a:endParaRPr lang="en-US" sz="1050" dirty="0"/>
          </a:p>
        </p:txBody>
      </p:sp>
      <p:sp>
        <p:nvSpPr>
          <p:cNvPr id="26" name="Shape 24"/>
          <p:cNvSpPr/>
          <p:nvPr/>
        </p:nvSpPr>
        <p:spPr>
          <a:xfrm>
            <a:off x="32004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27" name="Shape 25"/>
          <p:cNvSpPr/>
          <p:nvPr/>
        </p:nvSpPr>
        <p:spPr>
          <a:xfrm>
            <a:off x="320040" y="3154680"/>
            <a:ext cx="2743200" cy="64008"/>
          </a:xfrm>
          <a:prstGeom prst="rect">
            <a:avLst/>
          </a:prstGeom>
          <a:solidFill>
            <a:srgbClr val="0A2540"/>
          </a:solidFill>
        </p:spPr>
      </p:sp>
      <p:sp>
        <p:nvSpPr>
          <p:cNvPr id="28" name="Shape 26"/>
          <p:cNvSpPr/>
          <p:nvPr/>
        </p:nvSpPr>
        <p:spPr>
          <a:xfrm>
            <a:off x="457200" y="3264408"/>
            <a:ext cx="402336" cy="402336"/>
          </a:xfrm>
          <a:prstGeom prst="ellipse">
            <a:avLst/>
          </a:prstGeom>
          <a:solidFill>
            <a:srgbClr val="0A2540"/>
          </a:solidFill>
        </p:spPr>
      </p:sp>
      <p:sp>
        <p:nvSpPr>
          <p:cNvPr id="29" name="Text 27"/>
          <p:cNvSpPr/>
          <p:nvPr/>
        </p:nvSpPr>
        <p:spPr>
          <a:xfrm>
            <a:off x="457200" y="326440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04</a:t>
            </a:r>
            <a:endParaRPr lang="en-US" sz="1300" dirty="0"/>
          </a:p>
        </p:txBody>
      </p:sp>
      <p:sp>
        <p:nvSpPr>
          <p:cNvPr id="30" name="Text 28"/>
          <p:cNvSpPr/>
          <p:nvPr/>
        </p:nvSpPr>
        <p:spPr>
          <a:xfrm>
            <a:off x="978408" y="3264408"/>
            <a:ext cx="1938528" cy="384048"/>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Advertising</a:t>
            </a:r>
            <a:endParaRPr lang="en-US" sz="1300" dirty="0"/>
          </a:p>
        </p:txBody>
      </p:sp>
      <p:sp>
        <p:nvSpPr>
          <p:cNvPr id="31" name="Text 29"/>
          <p:cNvSpPr/>
          <p:nvPr/>
        </p:nvSpPr>
        <p:spPr>
          <a:xfrm>
            <a:off x="457200" y="381304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Revenue from advertisers based on audience size. Requires 100k+ MAU for meaningful revenue. Example: Pulse.gh.</a:t>
            </a:r>
            <a:endParaRPr lang="en-US" sz="1050" dirty="0"/>
          </a:p>
        </p:txBody>
      </p:sp>
      <p:sp>
        <p:nvSpPr>
          <p:cNvPr id="32" name="Shape 30"/>
          <p:cNvSpPr/>
          <p:nvPr/>
        </p:nvSpPr>
        <p:spPr>
          <a:xfrm>
            <a:off x="324612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33" name="Shape 31"/>
          <p:cNvSpPr/>
          <p:nvPr/>
        </p:nvSpPr>
        <p:spPr>
          <a:xfrm>
            <a:off x="3246120" y="3154680"/>
            <a:ext cx="2743200" cy="64008"/>
          </a:xfrm>
          <a:prstGeom prst="rect">
            <a:avLst/>
          </a:prstGeom>
          <a:solidFill>
            <a:srgbClr val="009A44"/>
          </a:solidFill>
        </p:spPr>
      </p:sp>
      <p:sp>
        <p:nvSpPr>
          <p:cNvPr id="34" name="Shape 32"/>
          <p:cNvSpPr/>
          <p:nvPr/>
        </p:nvSpPr>
        <p:spPr>
          <a:xfrm>
            <a:off x="3383280" y="3264408"/>
            <a:ext cx="402336" cy="402336"/>
          </a:xfrm>
          <a:prstGeom prst="ellipse">
            <a:avLst/>
          </a:prstGeom>
          <a:solidFill>
            <a:srgbClr val="009A44"/>
          </a:solidFill>
        </p:spPr>
      </p:sp>
      <p:sp>
        <p:nvSpPr>
          <p:cNvPr id="35" name="Text 33"/>
          <p:cNvSpPr/>
          <p:nvPr/>
        </p:nvSpPr>
        <p:spPr>
          <a:xfrm>
            <a:off x="3383280" y="326440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05</a:t>
            </a:r>
            <a:endParaRPr lang="en-US" sz="1300" dirty="0"/>
          </a:p>
        </p:txBody>
      </p:sp>
      <p:sp>
        <p:nvSpPr>
          <p:cNvPr id="36" name="Text 34"/>
          <p:cNvSpPr/>
          <p:nvPr/>
        </p:nvSpPr>
        <p:spPr>
          <a:xfrm>
            <a:off x="3904488" y="3264408"/>
            <a:ext cx="1938528" cy="384048"/>
          </a:xfrm>
          <a:prstGeom prst="rect">
            <a:avLst/>
          </a:prstGeom>
          <a:noFill/>
        </p:spPr>
        <p:txBody>
          <a:bodyPr wrap="square" lIns="0" tIns="0" rIns="0" bIns="0" rtlCol="0" anchor="ctr"/>
          <a:lstStyle/>
          <a:p>
            <a:pPr marL="0" indent="0">
              <a:buNone/>
            </a:pPr>
            <a:r>
              <a:rPr lang="en-US" sz="13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Licensing</a:t>
            </a:r>
            <a:endParaRPr lang="en-US" sz="1300" dirty="0"/>
          </a:p>
        </p:txBody>
      </p:sp>
      <p:sp>
        <p:nvSpPr>
          <p:cNvPr id="37" name="Text 35"/>
          <p:cNvSpPr/>
          <p:nvPr/>
        </p:nvSpPr>
        <p:spPr>
          <a:xfrm>
            <a:off x="3383280" y="381304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Charge others to use your IP, technology or brand. Example: white-label AI diagnostic tool to hospitals.</a:t>
            </a:r>
            <a:endParaRPr lang="en-US" sz="1050" dirty="0"/>
          </a:p>
        </p:txBody>
      </p:sp>
      <p:sp>
        <p:nvSpPr>
          <p:cNvPr id="38" name="Shape 36"/>
          <p:cNvSpPr/>
          <p:nvPr/>
        </p:nvSpPr>
        <p:spPr>
          <a:xfrm>
            <a:off x="617220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39" name="Shape 37"/>
          <p:cNvSpPr/>
          <p:nvPr/>
        </p:nvSpPr>
        <p:spPr>
          <a:xfrm>
            <a:off x="6172200" y="3154680"/>
            <a:ext cx="2743200" cy="64008"/>
          </a:xfrm>
          <a:prstGeom prst="rect">
            <a:avLst/>
          </a:prstGeom>
          <a:solidFill>
            <a:srgbClr val="64748B"/>
          </a:solidFill>
        </p:spPr>
      </p:sp>
      <p:sp>
        <p:nvSpPr>
          <p:cNvPr id="40" name="Shape 38"/>
          <p:cNvSpPr/>
          <p:nvPr/>
        </p:nvSpPr>
        <p:spPr>
          <a:xfrm>
            <a:off x="6309360" y="3264408"/>
            <a:ext cx="402336" cy="402336"/>
          </a:xfrm>
          <a:prstGeom prst="ellipse">
            <a:avLst/>
          </a:prstGeom>
          <a:solidFill>
            <a:srgbClr val="64748B"/>
          </a:solidFill>
        </p:spPr>
      </p:sp>
      <p:sp>
        <p:nvSpPr>
          <p:cNvPr id="41" name="Text 39"/>
          <p:cNvSpPr/>
          <p:nvPr/>
        </p:nvSpPr>
        <p:spPr>
          <a:xfrm>
            <a:off x="6309360" y="326440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06</a:t>
            </a:r>
            <a:endParaRPr lang="en-US" sz="1300" dirty="0"/>
          </a:p>
        </p:txBody>
      </p:sp>
      <p:sp>
        <p:nvSpPr>
          <p:cNvPr id="42" name="Text 40"/>
          <p:cNvSpPr/>
          <p:nvPr/>
        </p:nvSpPr>
        <p:spPr>
          <a:xfrm>
            <a:off x="6830568" y="3264408"/>
            <a:ext cx="1938528" cy="384048"/>
          </a:xfrm>
          <a:prstGeom prst="rect">
            <a:avLst/>
          </a:prstGeom>
          <a:noFill/>
        </p:spPr>
        <p:txBody>
          <a:bodyPr wrap="square" lIns="0" tIns="0" rIns="0" bIns="0" rtlCol="0" anchor="ctr"/>
          <a:lstStyle/>
          <a:p>
            <a:pPr marL="0" indent="0">
              <a:buNone/>
            </a:pPr>
            <a:r>
              <a:rPr lang="en-US" sz="13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Blended/Hybrid</a:t>
            </a:r>
            <a:endParaRPr lang="en-US" sz="1300" dirty="0"/>
          </a:p>
        </p:txBody>
      </p:sp>
      <p:sp>
        <p:nvSpPr>
          <p:cNvPr id="43" name="Text 41"/>
          <p:cNvSpPr/>
          <p:nvPr/>
        </p:nvSpPr>
        <p:spPr>
          <a:xfrm>
            <a:off x="6309360" y="3813048"/>
            <a:ext cx="2468880" cy="80467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Combine 2+ models. Most mature startups. Example: SaaS fee + transaction commission + services.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Subscription vs Transaction — Core Trade-offs</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65760" y="914400"/>
            <a:ext cx="4023360" cy="310896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3108960"/>
          </a:xfrm>
          <a:prstGeom prst="rect">
            <a:avLst/>
          </a:prstGeom>
          <a:solidFill>
            <a:srgbClr val="009A44"/>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SUBSCRIPTION MODEL</a:t>
            </a:r>
            <a:endParaRPr lang="en-US" sz="1300" dirty="0"/>
          </a:p>
        </p:txBody>
      </p:sp>
      <p:sp>
        <p:nvSpPr>
          <p:cNvPr id="10" name="Text 8"/>
          <p:cNvSpPr/>
          <p:nvPr/>
        </p:nvSpPr>
        <p:spPr>
          <a:xfrm>
            <a:off x="530352" y="1408176"/>
            <a:ext cx="3794760" cy="25146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Best for: SaaS / digital tools, ongoing value delivery, professional retainers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metrics: MRR, ARR, Churn Rate, Lifetime Value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advantage: MoMo Auto-Debit now enables recurring payments on feature phones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Challenge: irregular cash flow of target users (farmers, SMEs) affects commitment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Hubtel Merchant (GHS 50/month) | Business Ghana News premium</a:t>
            </a:r>
            <a:endParaRPr lang="en-US" sz="1150" dirty="0"/>
          </a:p>
        </p:txBody>
      </p:sp>
      <p:sp>
        <p:nvSpPr>
          <p:cNvPr id="11" name="Shape 9"/>
          <p:cNvSpPr/>
          <p:nvPr/>
        </p:nvSpPr>
        <p:spPr>
          <a:xfrm>
            <a:off x="4572000" y="914400"/>
            <a:ext cx="4206240" cy="310896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310896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TRANSACTION MODEL</a:t>
            </a:r>
            <a:endParaRPr lang="en-US" sz="1300" dirty="0"/>
          </a:p>
        </p:txBody>
      </p:sp>
      <p:sp>
        <p:nvSpPr>
          <p:cNvPr id="14" name="Text 12"/>
          <p:cNvSpPr/>
          <p:nvPr/>
        </p:nvSpPr>
        <p:spPr>
          <a:xfrm>
            <a:off x="4736592" y="1408176"/>
            <a:ext cx="3977640" cy="25146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Best for: Marketplaces, mobile money services, e-commerce, infrequent high-value purchases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metrics: GMV, Take Rate, Average Transaction Value, Transaction Frequency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advantage: dominant model — informal economy comfort with pay-as-you-go</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Challenge: take rate compression — competition drives commission rates toward zero over time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Jumia (8-20% commission) | Zeepay diaspora transfer fee + FX spread</a:t>
            </a:r>
            <a:endParaRPr lang="en-US" sz="1150" dirty="0"/>
          </a:p>
        </p:txBody>
      </p:sp>
      <p:sp>
        <p:nvSpPr>
          <p:cNvPr id="15" name="Text 13"/>
          <p:cNvSpPr/>
          <p:nvPr/>
        </p:nvSpPr>
        <p:spPr>
          <a:xfrm>
            <a:off x="457200" y="4187952"/>
            <a:ext cx="8229600" cy="384048"/>
          </a:xfrm>
          <a:prstGeom prst="rect">
            <a:avLst/>
          </a:prstGeom>
          <a:noFill/>
        </p:spPr>
        <p:txBody>
          <a:bodyPr wrap="square" lIns="0" tIns="0" rIns="0" bIns="0" rtlCol="0" anchor="ctr"/>
          <a:lstStyle/>
          <a:p>
            <a:pPr marL="0" indent="0">
              <a:buNone/>
            </a:pPr>
            <a:r>
              <a:rPr lang="en-US" sz="1200" i="1" dirty="0">
                <a:solidFill>
                  <a:srgbClr val="1E293B"/>
                </a:solidFill>
                <a:latin typeface="Calibri" panose="020F05020202040A0204" pitchFamily="34" charset="0"/>
                <a:ea typeface="Calibri" panose="020F05020202040A0204" pitchFamily="34" charset="-122"/>
                <a:cs typeface="Calibri" panose="020F05020202040A0204" pitchFamily="34" charset="-120"/>
              </a:rPr>
              <a:t>The fundamental question: does your customer have regular predictable cash to commit (subscription) or do they transact infrequently with variable cash (transaction)?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Freemium — The Conversion Math You Must Know</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3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Industry average free-to-paid conversion: 2-5%. To get 100 paying customers, you need 2,000-5,000 active free users.</a:t>
            </a:r>
            <a:endParaRPr lang="en-US" sz="1300" dirty="0"/>
          </a:p>
        </p:txBody>
      </p:sp>
      <p:sp>
        <p:nvSpPr>
          <p:cNvPr id="8" name="Shape 6"/>
          <p:cNvSpPr/>
          <p:nvPr/>
        </p:nvSpPr>
        <p:spPr>
          <a:xfrm>
            <a:off x="365760" y="1353312"/>
            <a:ext cx="4023360" cy="210312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2103120"/>
          </a:xfrm>
          <a:prstGeom prst="rect">
            <a:avLst/>
          </a:prstGeom>
          <a:solidFill>
            <a:srgbClr val="009A44"/>
          </a:solidFill>
        </p:spPr>
      </p:sp>
      <p:sp>
        <p:nvSpPr>
          <p:cNvPr id="10" name="Text 8"/>
          <p:cNvSpPr/>
          <p:nvPr/>
        </p:nvSpPr>
        <p:spPr>
          <a:xfrm>
            <a:off x="530352" y="1444752"/>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FREEMIUM WORKS WHEN:</a:t>
            </a:r>
            <a:endParaRPr lang="en-US" sz="1300" dirty="0"/>
          </a:p>
        </p:txBody>
      </p:sp>
      <p:sp>
        <p:nvSpPr>
          <p:cNvPr id="11" name="Text 9"/>
          <p:cNvSpPr/>
          <p:nvPr/>
        </p:nvSpPr>
        <p:spPr>
          <a:xfrm>
            <a:off x="530352" y="1847088"/>
            <a:ext cx="3794760" cy="150876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free tier genuinely delivers value — not a crippled demo that frustrates users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paid tier has clear, compelling upgrade triggers that create obvious value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Customer acquisition cost is LOW — freemium relies on viral/referral growth mechanisms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product has network effects — each user makes it more valuable for everyone</a:t>
            </a:r>
            <a:endParaRPr lang="en-US" sz="1150" dirty="0"/>
          </a:p>
        </p:txBody>
      </p:sp>
      <p:sp>
        <p:nvSpPr>
          <p:cNvPr id="12" name="Shape 10"/>
          <p:cNvSpPr/>
          <p:nvPr/>
        </p:nvSpPr>
        <p:spPr>
          <a:xfrm>
            <a:off x="4572000" y="1353312"/>
            <a:ext cx="4206240" cy="2103120"/>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0" y="1353312"/>
            <a:ext cx="64008" cy="2103120"/>
          </a:xfrm>
          <a:prstGeom prst="rect">
            <a:avLst/>
          </a:prstGeom>
          <a:solidFill>
            <a:srgbClr val="00539C"/>
          </a:solidFill>
        </p:spPr>
      </p:sp>
      <p:sp>
        <p:nvSpPr>
          <p:cNvPr id="14" name="Text 12"/>
          <p:cNvSpPr/>
          <p:nvPr/>
        </p:nvSpPr>
        <p:spPr>
          <a:xfrm>
            <a:off x="4736592" y="1444752"/>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FREEMIUM FAILS WHEN:</a:t>
            </a:r>
            <a:endParaRPr lang="en-US" sz="1300" dirty="0"/>
          </a:p>
        </p:txBody>
      </p:sp>
      <p:sp>
        <p:nvSpPr>
          <p:cNvPr id="15" name="Text 13"/>
          <p:cNvSpPr/>
          <p:nvPr/>
        </p:nvSpPr>
        <p:spPr>
          <a:xfrm>
            <a:off x="4736592" y="1847088"/>
            <a:ext cx="3977640" cy="150876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Free users become expensive to serve without converting to paid tier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upgrade reason is weak — 'more features' is rarely compelling enough alone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Target market is too small to build a large enough free user base for conversion math</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product is a commodity — competitors copy your free tier, removing differentiation</a:t>
            </a:r>
            <a:endParaRPr lang="en-US" sz="1150" dirty="0"/>
          </a:p>
        </p:txBody>
      </p:sp>
      <p:sp>
        <p:nvSpPr>
          <p:cNvPr id="16" name="Shape 14"/>
          <p:cNvSpPr/>
          <p:nvPr/>
        </p:nvSpPr>
        <p:spPr>
          <a:xfrm>
            <a:off x="365760" y="3584448"/>
            <a:ext cx="8412480" cy="804672"/>
          </a:xfrm>
          <a:prstGeom prst="rect">
            <a:avLst/>
          </a:prstGeom>
          <a:solidFill>
            <a:srgbClr val="E8F4FD"/>
          </a:solidFill>
        </p:spPr>
      </p:sp>
      <p:sp>
        <p:nvSpPr>
          <p:cNvPr id="17" name="Shape 15"/>
          <p:cNvSpPr/>
          <p:nvPr/>
        </p:nvSpPr>
        <p:spPr>
          <a:xfrm>
            <a:off x="365760" y="3584448"/>
            <a:ext cx="64008" cy="804672"/>
          </a:xfrm>
          <a:prstGeom prst="rect">
            <a:avLst/>
          </a:prstGeom>
          <a:solidFill>
            <a:srgbClr val="009A44"/>
          </a:solidFill>
        </p:spPr>
      </p:sp>
      <p:sp>
        <p:nvSpPr>
          <p:cNvPr id="18" name="Text 16"/>
          <p:cNvSpPr/>
          <p:nvPr/>
        </p:nvSpPr>
        <p:spPr>
          <a:xfrm>
            <a:off x="566928" y="3694176"/>
            <a:ext cx="8092440" cy="320040"/>
          </a:xfrm>
          <a:prstGeom prst="rect">
            <a:avLst/>
          </a:prstGeom>
          <a:noFill/>
        </p:spPr>
        <p:txBody>
          <a:bodyPr wrap="square" lIns="0" tIns="0" rIns="0" bIns="0" rtlCol="0" anchor="ctr"/>
          <a:lstStyle/>
          <a:p>
            <a:pPr marL="0" indent="0">
              <a:buNone/>
            </a:pPr>
            <a:r>
              <a:rPr lang="en-US" sz="12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Ghana example — mPharma's pharmacy network:</a:t>
            </a:r>
            <a:endParaRPr lang="en-US" sz="1200" dirty="0"/>
          </a:p>
        </p:txBody>
      </p:sp>
      <p:sp>
        <p:nvSpPr>
          <p:cNvPr id="19" name="Text 17"/>
          <p:cNvSpPr/>
          <p:nvPr/>
        </p:nvSpPr>
        <p:spPr>
          <a:xfrm>
            <a:off x="566928" y="4032504"/>
            <a:ext cx="8092440" cy="320040"/>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Free inventory management tools for pharmacists (genuinely valuable). Paid: premium analytics + procurement financing (compelling upgrade reason = access to capital). This converted the free tier into a B2B financial services revenue stream.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Advertising, Licensing &amp; Blended / Hybrid Models</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20040" y="914400"/>
            <a:ext cx="2697480" cy="3639312"/>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20040" y="914400"/>
            <a:ext cx="64008" cy="3639312"/>
          </a:xfrm>
          <a:prstGeom prst="rect">
            <a:avLst/>
          </a:prstGeom>
          <a:solidFill>
            <a:srgbClr val="00539C"/>
          </a:solidFill>
        </p:spPr>
      </p:sp>
      <p:sp>
        <p:nvSpPr>
          <p:cNvPr id="9" name="Text 7"/>
          <p:cNvSpPr/>
          <p:nvPr/>
        </p:nvSpPr>
        <p:spPr>
          <a:xfrm>
            <a:off x="48463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ADVERTISING MODEL</a:t>
            </a:r>
            <a:endParaRPr lang="en-US" sz="1300" dirty="0"/>
          </a:p>
        </p:txBody>
      </p:sp>
      <p:sp>
        <p:nvSpPr>
          <p:cNvPr id="10" name="Text 8"/>
          <p:cNvSpPr/>
          <p:nvPr/>
        </p:nvSpPr>
        <p:spPr>
          <a:xfrm>
            <a:off x="484632" y="1408176"/>
            <a:ext cx="2468880" cy="304495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Revenue from advertisers based on your audience size and engagement quality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Reality check: need 100,000+ monthly active users before advertising generates meaningful revenue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Pulse.com.gh, JoyNews Online — high-traffic media properties monetising via display advertising</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Warning: advertising models commoditise your audience — platform algorithms, not you, often determine your revenue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Best use: a secondary revenue stream once you have proven product-market fit via another primary model</a:t>
            </a:r>
            <a:endParaRPr lang="en-US" sz="1150" dirty="0"/>
          </a:p>
        </p:txBody>
      </p:sp>
      <p:sp>
        <p:nvSpPr>
          <p:cNvPr id="11" name="Shape 9"/>
          <p:cNvSpPr/>
          <p:nvPr/>
        </p:nvSpPr>
        <p:spPr>
          <a:xfrm>
            <a:off x="3246120" y="914400"/>
            <a:ext cx="2697480" cy="3639312"/>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3246120" y="914400"/>
            <a:ext cx="64008" cy="3639312"/>
          </a:xfrm>
          <a:prstGeom prst="rect">
            <a:avLst/>
          </a:prstGeom>
          <a:solidFill>
            <a:srgbClr val="009A44"/>
          </a:solidFill>
        </p:spPr>
      </p:sp>
      <p:sp>
        <p:nvSpPr>
          <p:cNvPr id="13" name="Text 11"/>
          <p:cNvSpPr/>
          <p:nvPr/>
        </p:nvSpPr>
        <p:spPr>
          <a:xfrm>
            <a:off x="341071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LICENSING MODEL</a:t>
            </a:r>
            <a:endParaRPr lang="en-US" sz="1300" dirty="0"/>
          </a:p>
        </p:txBody>
      </p:sp>
      <p:sp>
        <p:nvSpPr>
          <p:cNvPr id="14" name="Text 12"/>
          <p:cNvSpPr/>
          <p:nvPr/>
        </p:nvSpPr>
        <p:spPr>
          <a:xfrm>
            <a:off x="3410712" y="1408176"/>
            <a:ext cx="2468880" cy="304495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Charge others to use your intellectual property, platform technology, or brand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High-margin: once IP is built, incremental licensing cost approaches zero</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a fintech licensing its KYC/AML compliance technology to other startups as a white-label API</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Opportunity: regional licensing — build something that works in Ghana, license to Nigeria, Kenya, Senegal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Regulatory note: some licensed IP (financial, health, educational) requires additional regulatory approval to sublicense</a:t>
            </a:r>
            <a:endParaRPr lang="en-US" sz="1150" dirty="0"/>
          </a:p>
        </p:txBody>
      </p:sp>
      <p:sp>
        <p:nvSpPr>
          <p:cNvPr id="15" name="Shape 13"/>
          <p:cNvSpPr/>
          <p:nvPr/>
        </p:nvSpPr>
        <p:spPr>
          <a:xfrm>
            <a:off x="6172200" y="914400"/>
            <a:ext cx="2697480" cy="3639312"/>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6172200" y="914400"/>
            <a:ext cx="64008" cy="3639312"/>
          </a:xfrm>
          <a:prstGeom prst="rect">
            <a:avLst/>
          </a:prstGeom>
          <a:solidFill>
            <a:srgbClr val="009A44"/>
          </a:solidFill>
        </p:spPr>
      </p:sp>
      <p:sp>
        <p:nvSpPr>
          <p:cNvPr id="17" name="Text 15"/>
          <p:cNvSpPr/>
          <p:nvPr/>
        </p:nvSpPr>
        <p:spPr>
          <a:xfrm>
            <a:off x="633679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BLENDED / HYBRID MODEL</a:t>
            </a:r>
            <a:endParaRPr lang="en-US" sz="1300" dirty="0"/>
          </a:p>
        </p:txBody>
      </p:sp>
      <p:sp>
        <p:nvSpPr>
          <p:cNvPr id="18" name="Text 16"/>
          <p:cNvSpPr/>
          <p:nvPr/>
        </p:nvSpPr>
        <p:spPr>
          <a:xfrm>
            <a:off x="6336792" y="1408176"/>
            <a:ext cx="2468880" cy="304495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Combine 2 or more revenue models. The norm for mature startups.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Do NOT launch with a blended model — start with ONE, prove it, then layer additional streams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Classic Ghana blend: SaaS subscription fee (floor revenue) + transaction commission (upside) + professional services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Zeepay example: flat transfer fee + FX spread on every diaspora remittance = simple, powerful blend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Development partner blend: grant/donor funding (early) + commercial revenue (growth) + licensing (scale)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09A44">
              <a:alpha val="18000"/>
            </a:srgbClr>
          </a:solidFill>
        </p:spPr>
      </p:sp>
      <p:sp>
        <p:nvSpPr>
          <p:cNvPr id="3" name="Shape 1"/>
          <p:cNvSpPr/>
          <p:nvPr/>
        </p:nvSpPr>
        <p:spPr>
          <a:xfrm>
            <a:off x="7132320" y="182880"/>
            <a:ext cx="2560320" cy="2560320"/>
          </a:xfrm>
          <a:prstGeom prst="ellipse">
            <a:avLst/>
          </a:prstGeom>
          <a:solidFill>
            <a:srgbClr val="FFC20E">
              <a:alpha val="28000"/>
            </a:srgbClr>
          </a:solidFill>
        </p:spPr>
      </p:sp>
      <p:sp>
        <p:nvSpPr>
          <p:cNvPr id="4" name="Text 2"/>
          <p:cNvSpPr/>
          <p:nvPr/>
        </p:nvSpPr>
        <p:spPr>
          <a:xfrm>
            <a:off x="457200" y="594360"/>
            <a:ext cx="1645920" cy="1463040"/>
          </a:xfrm>
          <a:prstGeom prst="rect">
            <a:avLst/>
          </a:prstGeom>
          <a:noFill/>
        </p:spPr>
        <p:txBody>
          <a:bodyPr wrap="square" lIns="0" tIns="0" rIns="0" bIns="0" rtlCol="0" anchor="ctr"/>
          <a:lstStyle/>
          <a:p>
            <a:pPr marL="0" indent="0" algn="l">
              <a:buNone/>
            </a:pPr>
            <a:r>
              <a:rPr lang="en-US" sz="7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03</a:t>
            </a:r>
            <a:endParaRPr lang="en-US" sz="7200" dirty="0"/>
          </a:p>
        </p:txBody>
      </p:sp>
      <p:sp>
        <p:nvSpPr>
          <p:cNvPr id="5" name="Text 3"/>
          <p:cNvSpPr/>
          <p:nvPr/>
        </p:nvSpPr>
        <p:spPr>
          <a:xfrm>
            <a:off x="457200" y="621792"/>
            <a:ext cx="5486400" cy="347472"/>
          </a:xfrm>
          <a:prstGeom prst="rect">
            <a:avLst/>
          </a:prstGeom>
          <a:noFill/>
        </p:spPr>
        <p:txBody>
          <a:bodyPr wrap="square" lIns="0" tIns="0" rIns="0" bIns="0" rtlCol="0" anchor="ctr"/>
          <a:lstStyle/>
          <a:p>
            <a:pPr marL="0" indent="0">
              <a:buNone/>
            </a:pPr>
            <a:r>
              <a:rPr lang="en-US" sz="1100" kern="0" spc="400" dirty="0">
                <a:solidFill>
                  <a:srgbClr val="009A44"/>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1100" dirty="0"/>
          </a:p>
        </p:txBody>
      </p:sp>
      <p:sp>
        <p:nvSpPr>
          <p:cNvPr id="6" name="Text 4"/>
          <p:cNvSpPr/>
          <p:nvPr/>
        </p:nvSpPr>
        <p:spPr>
          <a:xfrm>
            <a:off x="457200" y="2148840"/>
            <a:ext cx="6858000" cy="1234440"/>
          </a:xfrm>
          <a:prstGeom prst="rect">
            <a:avLst/>
          </a:prstGeom>
          <a:noFill/>
        </p:spPr>
        <p:txBody>
          <a:bodyPr wrap="square" lIns="0" tIns="0" rIns="0" bIns="0" rtlCol="0" anchor="ctr"/>
          <a:lstStyle/>
          <a:p>
            <a:pPr marL="0" indent="0">
              <a:buNone/>
            </a:pPr>
            <a:r>
              <a:rPr lang="en-US" sz="3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Unit Economics</a:t>
            </a:r>
            <a:endParaRPr lang="en-US" sz="3400" dirty="0"/>
          </a:p>
        </p:txBody>
      </p:sp>
      <p:sp>
        <p:nvSpPr>
          <p:cNvPr id="7" name="Text 5"/>
          <p:cNvSpPr/>
          <p:nvPr/>
        </p:nvSpPr>
        <p:spPr>
          <a:xfrm>
            <a:off x="457200" y="3456432"/>
            <a:ext cx="6858000" cy="658368"/>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CAC, LTV, Payback Period — three numbers every investor will ask on day one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CAC and LTV — Customer Unit Economics</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65760" y="914400"/>
            <a:ext cx="4023360" cy="320040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3200400"/>
          </a:xfrm>
          <a:prstGeom prst="rect">
            <a:avLst/>
          </a:prstGeom>
          <a:solidFill>
            <a:srgbClr val="009A44"/>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CUSTOMER ACQUISITION COST (CAC)</a:t>
            </a:r>
            <a:endParaRPr lang="en-US" sz="1300" dirty="0"/>
          </a:p>
        </p:txBody>
      </p:sp>
      <p:sp>
        <p:nvSpPr>
          <p:cNvPr id="10" name="Text 8"/>
          <p:cNvSpPr/>
          <p:nvPr/>
        </p:nvSpPr>
        <p:spPr>
          <a:xfrm>
            <a:off x="530352" y="1408176"/>
            <a:ext cx="3794760" cy="26060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FORMULA: Total Sales &amp; Marketing Spend ÷ New Customers Acquired in same period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Include ALL costs: ads, salesperson time, events, referral fees, free trials, agent commissions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Common mistake: forgetting founder time in sales — if you spend 50% of your time on sales, your salary is part of CAC</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Target: B2C digital = CAC &lt; GHS 50; B2B SaaS = CAC &lt; 3 months of contract value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GHS 10,000/month marketing spend → 200 new paying users = CAC of GHS 50</a:t>
            </a:r>
            <a:endParaRPr lang="en-US" sz="1150" dirty="0"/>
          </a:p>
        </p:txBody>
      </p:sp>
      <p:sp>
        <p:nvSpPr>
          <p:cNvPr id="11" name="Shape 9"/>
          <p:cNvSpPr/>
          <p:nvPr/>
        </p:nvSpPr>
        <p:spPr>
          <a:xfrm>
            <a:off x="4572000" y="914400"/>
            <a:ext cx="4206240" cy="320040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320040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LIFETIME VALUE (LTV)</a:t>
            </a:r>
            <a:endParaRPr lang="en-US" sz="1300" dirty="0"/>
          </a:p>
        </p:txBody>
      </p:sp>
      <p:sp>
        <p:nvSpPr>
          <p:cNvPr id="14" name="Text 12"/>
          <p:cNvSpPr/>
          <p:nvPr/>
        </p:nvSpPr>
        <p:spPr>
          <a:xfrm>
            <a:off x="4736592" y="1408176"/>
            <a:ext cx="3977640" cy="26060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FORMULA: ARPU x Average Customer Lifespan — OR for subscription: ARPU ÷ Monthly Churn Rate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Golden Rule: LTV must be at least 3x CAC for a fundable unit economics model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LTV:CAC ratios: &lt; 1x = losing money, 1-3x = marginal, 3x+ = healthy, 5x+ = excellent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Common mistake: using average subscription LENGTH instead of calculating from actual churn rate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GHS 20/month ARPU, 2% monthly churn → LTV = 20/0.02 = GHS 1,000 → LTV:CAC = 20x</a:t>
            </a:r>
            <a:endParaRPr lang="en-US" sz="1150" dirty="0"/>
          </a:p>
        </p:txBody>
      </p:sp>
      <p:sp>
        <p:nvSpPr>
          <p:cNvPr id="15" name="Text 13"/>
          <p:cNvSpPr/>
          <p:nvPr/>
        </p:nvSpPr>
        <p:spPr>
          <a:xfrm>
            <a:off x="457200" y="4251960"/>
            <a:ext cx="8229600" cy="347472"/>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Payback period = CAC ÷ Monthly Gross Profit per Customer. Target: under 12 months for most B2C startups.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Revenue Forecasting:The Bottom-Up Method</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0A2540"/>
                </a:solidFill>
                <a:latin typeface="Calibri" panose="020F05020202040A0204" pitchFamily="34" charset="0"/>
                <a:ea typeface="Calibri" panose="020F05020202040A0204" pitchFamily="34" charset="-122"/>
                <a:cs typeface="Calibri" panose="020F05020202040A0204" pitchFamily="34" charset="-120"/>
              </a:rPr>
              <a:t>Investors distrust top-down forecasts ("Ghana has 5M SMEs, we capture 1%"). Bottom-up forecasts from real sales capacity are credible.</a:t>
            </a:r>
            <a:endParaRPr lang="en-US" sz="1200" dirty="0"/>
          </a:p>
        </p:txBody>
      </p:sp>
      <p:sp>
        <p:nvSpPr>
          <p:cNvPr id="8" name="Shape 6"/>
          <p:cNvSpPr/>
          <p:nvPr/>
        </p:nvSpPr>
        <p:spPr>
          <a:xfrm>
            <a:off x="365760" y="1353312"/>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35608"/>
            <a:ext cx="402336" cy="402336"/>
          </a:xfrm>
          <a:prstGeom prst="ellipse">
            <a:avLst/>
          </a:prstGeom>
          <a:solidFill>
            <a:srgbClr val="009A44"/>
          </a:solidFill>
        </p:spPr>
      </p:sp>
      <p:sp>
        <p:nvSpPr>
          <p:cNvPr id="10" name="Text 8"/>
          <p:cNvSpPr/>
          <p:nvPr/>
        </p:nvSpPr>
        <p:spPr>
          <a:xfrm>
            <a:off x="457200" y="143560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Step 1</a:t>
            </a:r>
            <a:endParaRPr lang="en-US" sz="1300" dirty="0"/>
          </a:p>
        </p:txBody>
      </p:sp>
      <p:sp>
        <p:nvSpPr>
          <p:cNvPr id="11" name="Text 9"/>
          <p:cNvSpPr/>
          <p:nvPr/>
        </p:nvSpPr>
        <p:spPr>
          <a:xfrm>
            <a:off x="1024128" y="1481328"/>
            <a:ext cx="7589520" cy="347472"/>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Define your PAYING customer segment. Not 'all Ghanaians' — be specific: urban SME owners in Accra with smartphones and a monthly cash flow &gt; GHS 2,000.</a:t>
            </a:r>
            <a:endParaRPr lang="en-US" sz="1150" dirty="0"/>
          </a:p>
        </p:txBody>
      </p:sp>
      <p:sp>
        <p:nvSpPr>
          <p:cNvPr id="12" name="Shape 10"/>
          <p:cNvSpPr/>
          <p:nvPr/>
        </p:nvSpPr>
        <p:spPr>
          <a:xfrm>
            <a:off x="365760" y="2029968"/>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3" name="Shape 11"/>
          <p:cNvSpPr/>
          <p:nvPr/>
        </p:nvSpPr>
        <p:spPr>
          <a:xfrm>
            <a:off x="457200" y="2112264"/>
            <a:ext cx="402336" cy="402336"/>
          </a:xfrm>
          <a:prstGeom prst="ellipse">
            <a:avLst/>
          </a:prstGeom>
          <a:solidFill>
            <a:srgbClr val="009A44"/>
          </a:solidFill>
        </p:spPr>
      </p:sp>
      <p:sp>
        <p:nvSpPr>
          <p:cNvPr id="14" name="Text 12"/>
          <p:cNvSpPr/>
          <p:nvPr/>
        </p:nvSpPr>
        <p:spPr>
          <a:xfrm>
            <a:off x="457200" y="21122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Step 2</a:t>
            </a:r>
            <a:endParaRPr lang="en-US" sz="1300" dirty="0"/>
          </a:p>
        </p:txBody>
      </p:sp>
      <p:sp>
        <p:nvSpPr>
          <p:cNvPr id="15" name="Text 13"/>
          <p:cNvSpPr/>
          <p:nvPr/>
        </p:nvSpPr>
        <p:spPr>
          <a:xfrm>
            <a:off x="1024128" y="2157984"/>
            <a:ext cx="7589520" cy="347472"/>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Estimate monthly ACQUISITION RATE based on your marketing plan. How many new paying customers can your current team actually convert per month?</a:t>
            </a:r>
            <a:endParaRPr lang="en-US" sz="1150" dirty="0"/>
          </a:p>
        </p:txBody>
      </p:sp>
      <p:sp>
        <p:nvSpPr>
          <p:cNvPr id="16" name="Shape 14"/>
          <p:cNvSpPr/>
          <p:nvPr/>
        </p:nvSpPr>
        <p:spPr>
          <a:xfrm>
            <a:off x="365760" y="2706624"/>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457200" y="2788920"/>
            <a:ext cx="402336" cy="402336"/>
          </a:xfrm>
          <a:prstGeom prst="ellipse">
            <a:avLst/>
          </a:prstGeom>
          <a:solidFill>
            <a:srgbClr val="009A44"/>
          </a:solidFill>
        </p:spPr>
      </p:sp>
      <p:sp>
        <p:nvSpPr>
          <p:cNvPr id="18" name="Text 16"/>
          <p:cNvSpPr/>
          <p:nvPr/>
        </p:nvSpPr>
        <p:spPr>
          <a:xfrm>
            <a:off x="457200" y="278892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Step 3</a:t>
            </a:r>
            <a:endParaRPr lang="en-US" sz="1300" dirty="0"/>
          </a:p>
        </p:txBody>
      </p:sp>
      <p:sp>
        <p:nvSpPr>
          <p:cNvPr id="19" name="Text 17"/>
          <p:cNvSpPr/>
          <p:nvPr/>
        </p:nvSpPr>
        <p:spPr>
          <a:xfrm>
            <a:off x="1024128" y="2834640"/>
            <a:ext cx="7589520" cy="347472"/>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Apply ARPU — your average monthly revenue per PAYING customer. Subtract transaction fees and refunds. Be conservative.</a:t>
            </a:r>
            <a:endParaRPr lang="en-US" sz="1150" dirty="0"/>
          </a:p>
        </p:txBody>
      </p:sp>
      <p:sp>
        <p:nvSpPr>
          <p:cNvPr id="20" name="Shape 18"/>
          <p:cNvSpPr/>
          <p:nvPr/>
        </p:nvSpPr>
        <p:spPr>
          <a:xfrm>
            <a:off x="365760" y="3383280"/>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1" name="Shape 19"/>
          <p:cNvSpPr/>
          <p:nvPr/>
        </p:nvSpPr>
        <p:spPr>
          <a:xfrm>
            <a:off x="457200" y="3465576"/>
            <a:ext cx="402336" cy="402336"/>
          </a:xfrm>
          <a:prstGeom prst="ellipse">
            <a:avLst/>
          </a:prstGeom>
          <a:solidFill>
            <a:srgbClr val="009A44"/>
          </a:solidFill>
        </p:spPr>
      </p:sp>
      <p:sp>
        <p:nvSpPr>
          <p:cNvPr id="22" name="Text 20"/>
          <p:cNvSpPr/>
          <p:nvPr/>
        </p:nvSpPr>
        <p:spPr>
          <a:xfrm>
            <a:off x="457200" y="346557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Step 4</a:t>
            </a:r>
            <a:endParaRPr lang="en-US" sz="1300" dirty="0"/>
          </a:p>
        </p:txBody>
      </p:sp>
      <p:sp>
        <p:nvSpPr>
          <p:cNvPr id="23" name="Text 21"/>
          <p:cNvSpPr/>
          <p:nvPr/>
        </p:nvSpPr>
        <p:spPr>
          <a:xfrm>
            <a:off x="1024128" y="3511296"/>
            <a:ext cx="7589520" cy="347472"/>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Apply CHURN — subtract customers lost each month. If you do not know your churn rate, assume 8-10% monthly for planning.</a:t>
            </a:r>
            <a:endParaRPr lang="en-US" sz="1150" dirty="0"/>
          </a:p>
        </p:txBody>
      </p:sp>
      <p:sp>
        <p:nvSpPr>
          <p:cNvPr id="24" name="Shape 22"/>
          <p:cNvSpPr/>
          <p:nvPr/>
        </p:nvSpPr>
        <p:spPr>
          <a:xfrm>
            <a:off x="365760" y="4059936"/>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25" name="Shape 23"/>
          <p:cNvSpPr/>
          <p:nvPr/>
        </p:nvSpPr>
        <p:spPr>
          <a:xfrm>
            <a:off x="457200" y="4142232"/>
            <a:ext cx="402336" cy="402336"/>
          </a:xfrm>
          <a:prstGeom prst="ellipse">
            <a:avLst/>
          </a:prstGeom>
          <a:solidFill>
            <a:srgbClr val="009A44"/>
          </a:solidFill>
        </p:spPr>
      </p:sp>
      <p:sp>
        <p:nvSpPr>
          <p:cNvPr id="26" name="Text 24"/>
          <p:cNvSpPr/>
          <p:nvPr/>
        </p:nvSpPr>
        <p:spPr>
          <a:xfrm>
            <a:off x="457200" y="414223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Step 5</a:t>
            </a:r>
            <a:endParaRPr lang="en-US" sz="1300" dirty="0"/>
          </a:p>
        </p:txBody>
      </p:sp>
      <p:sp>
        <p:nvSpPr>
          <p:cNvPr id="27" name="Text 25"/>
          <p:cNvSpPr/>
          <p:nvPr/>
        </p:nvSpPr>
        <p:spPr>
          <a:xfrm>
            <a:off x="1024128" y="4187952"/>
            <a:ext cx="7589520" cy="347472"/>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Build month-by-month: Starting customers + New customers acquired - Churned customers = Total x ARPU = Monthly Revenue.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009A44">
              <a:alpha val="15000"/>
            </a:srgbClr>
          </a:solidFill>
        </p:spPr>
      </p:sp>
      <p:sp>
        <p:nvSpPr>
          <p:cNvPr id="3" name="Shape 1"/>
          <p:cNvSpPr/>
          <p:nvPr/>
        </p:nvSpPr>
        <p:spPr>
          <a:xfrm>
            <a:off x="0" y="0"/>
            <a:ext cx="164592" cy="5143500"/>
          </a:xfrm>
          <a:prstGeom prst="rect">
            <a:avLst/>
          </a:prstGeom>
          <a:solidFill>
            <a:srgbClr val="009A44"/>
          </a:solidFill>
        </p:spPr>
      </p:sp>
      <p:sp>
        <p:nvSpPr>
          <p:cNvPr id="4" name="Text 2"/>
          <p:cNvSpPr/>
          <p:nvPr/>
        </p:nvSpPr>
        <p:spPr>
          <a:xfrm>
            <a:off x="347472" y="384048"/>
            <a:ext cx="4572000" cy="347472"/>
          </a:xfrm>
          <a:prstGeom prst="rect">
            <a:avLst/>
          </a:prstGeom>
          <a:noFill/>
        </p:spPr>
        <p:txBody>
          <a:bodyPr wrap="square" lIns="0" tIns="0" rIns="0" bIns="0" rtlCol="0" anchor="ctr"/>
          <a:lstStyle/>
          <a:p>
            <a:pPr marL="0" indent="0">
              <a:buNone/>
            </a:pPr>
            <a:r>
              <a:rPr lang="en-US" sz="1100" kern="0" spc="300" dirty="0">
                <a:solidFill>
                  <a:srgbClr val="009A44"/>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74980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Zeepay</a:t>
            </a:r>
            <a:endParaRPr lang="en-US" sz="4000" dirty="0"/>
          </a:p>
        </p:txBody>
      </p:sp>
      <p:sp>
        <p:nvSpPr>
          <p:cNvPr id="6" name="Text 4"/>
          <p:cNvSpPr/>
          <p:nvPr/>
        </p:nvSpPr>
        <p:spPr>
          <a:xfrm>
            <a:off x="347472" y="1591056"/>
            <a:ext cx="6400800" cy="365760"/>
          </a:xfrm>
          <a:prstGeom prst="rect">
            <a:avLst/>
          </a:prstGeom>
          <a:noFill/>
        </p:spPr>
        <p:txBody>
          <a:bodyPr wrap="square" lIns="0" tIns="0" rIns="0" bIns="0" rtlCol="0" anchor="ctr"/>
          <a:lstStyle/>
          <a:p>
            <a:pPr marL="0" indent="0">
              <a:buNone/>
            </a:pPr>
            <a:r>
              <a:rPr lang="en-US" sz="1400" dirty="0">
                <a:solidFill>
                  <a:srgbClr val="009A44"/>
                </a:solidFill>
                <a:latin typeface="Calibri" panose="020F05020202040A0204" pitchFamily="34" charset="0"/>
                <a:ea typeface="Calibri" panose="020F05020202040A0204" pitchFamily="34" charset="-122"/>
                <a:cs typeface="Calibri" panose="020F05020202040A0204" pitchFamily="34" charset="-120"/>
              </a:rPr>
              <a:t>FinTech  |  Accra, Ghana  |  Founded 2014  |  Revenue: Transaction Fee + FX Spread</a:t>
            </a:r>
            <a:endParaRPr lang="en-US" sz="1400" dirty="0"/>
          </a:p>
        </p:txBody>
      </p:sp>
      <p:sp>
        <p:nvSpPr>
          <p:cNvPr id="7" name="Shape 5"/>
          <p:cNvSpPr/>
          <p:nvPr/>
        </p:nvSpPr>
        <p:spPr>
          <a:xfrm>
            <a:off x="347472" y="2084832"/>
            <a:ext cx="8412480" cy="457200"/>
          </a:xfrm>
          <a:prstGeom prst="rect">
            <a:avLst/>
          </a:prstGeom>
          <a:solidFill>
            <a:srgbClr val="0D1E35"/>
          </a:solidFill>
        </p:spPr>
      </p:sp>
      <p:sp>
        <p:nvSpPr>
          <p:cNvPr id="8" name="Shape 6"/>
          <p:cNvSpPr/>
          <p:nvPr/>
        </p:nvSpPr>
        <p:spPr>
          <a:xfrm>
            <a:off x="347472" y="2084832"/>
            <a:ext cx="64008" cy="457200"/>
          </a:xfrm>
          <a:prstGeom prst="rect">
            <a:avLst/>
          </a:prstGeom>
          <a:solidFill>
            <a:srgbClr val="009A44"/>
          </a:solidFill>
        </p:spPr>
      </p:sp>
      <p:sp>
        <p:nvSpPr>
          <p:cNvPr id="9" name="Text 7"/>
          <p:cNvSpPr/>
          <p:nvPr/>
        </p:nvSpPr>
        <p:spPr>
          <a:xfrm>
            <a:off x="530352" y="2167128"/>
            <a:ext cx="1417320" cy="274320"/>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Problem:</a:t>
            </a:r>
            <a:endParaRPr lang="en-US" sz="1100" dirty="0"/>
          </a:p>
        </p:txBody>
      </p:sp>
      <p:sp>
        <p:nvSpPr>
          <p:cNvPr id="10" name="Text 8"/>
          <p:cNvSpPr/>
          <p:nvPr/>
        </p:nvSpPr>
        <p:spPr>
          <a:xfrm>
            <a:off x="2011680" y="216712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700,000+ Ghanaian diaspora (UK, US, Canada) sending money home faced 5-8% bank fees and 3-5 day delays. No solution focused on mobile wallet delivery in Ghana.</a:t>
            </a:r>
            <a:endParaRPr lang="en-US" sz="1100" dirty="0"/>
          </a:p>
        </p:txBody>
      </p:sp>
      <p:sp>
        <p:nvSpPr>
          <p:cNvPr id="11" name="Shape 9"/>
          <p:cNvSpPr/>
          <p:nvPr/>
        </p:nvSpPr>
        <p:spPr>
          <a:xfrm>
            <a:off x="347472" y="2615184"/>
            <a:ext cx="8412480" cy="457200"/>
          </a:xfrm>
          <a:prstGeom prst="rect">
            <a:avLst/>
          </a:prstGeom>
          <a:solidFill>
            <a:srgbClr val="0D1E35"/>
          </a:solidFill>
        </p:spPr>
      </p:sp>
      <p:sp>
        <p:nvSpPr>
          <p:cNvPr id="12" name="Shape 10"/>
          <p:cNvSpPr/>
          <p:nvPr/>
        </p:nvSpPr>
        <p:spPr>
          <a:xfrm>
            <a:off x="347472" y="2615184"/>
            <a:ext cx="64008" cy="457200"/>
          </a:xfrm>
          <a:prstGeom prst="rect">
            <a:avLst/>
          </a:prstGeom>
          <a:solidFill>
            <a:srgbClr val="009A44"/>
          </a:solidFill>
        </p:spPr>
      </p:sp>
      <p:sp>
        <p:nvSpPr>
          <p:cNvPr id="13" name="Text 11"/>
          <p:cNvSpPr/>
          <p:nvPr/>
        </p:nvSpPr>
        <p:spPr>
          <a:xfrm>
            <a:off x="530352" y="2697480"/>
            <a:ext cx="1417320" cy="274320"/>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Revenue Model:</a:t>
            </a:r>
            <a:endParaRPr lang="en-US" sz="1100" dirty="0"/>
          </a:p>
        </p:txBody>
      </p:sp>
      <p:sp>
        <p:nvSpPr>
          <p:cNvPr id="14" name="Text 12"/>
          <p:cNvSpPr/>
          <p:nvPr/>
        </p:nvSpPr>
        <p:spPr>
          <a:xfrm>
            <a:off x="2011680" y="269748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Blended: flat transaction fee (USD 2.99-4.99) + FX spread (0.5-1.5% margin over interbank rate). Both streams kick in on every single transfer.</a:t>
            </a:r>
            <a:endParaRPr lang="en-US" sz="1100" dirty="0"/>
          </a:p>
        </p:txBody>
      </p:sp>
      <p:sp>
        <p:nvSpPr>
          <p:cNvPr id="15" name="Shape 13"/>
          <p:cNvSpPr/>
          <p:nvPr/>
        </p:nvSpPr>
        <p:spPr>
          <a:xfrm>
            <a:off x="347472" y="3145536"/>
            <a:ext cx="8412480" cy="457200"/>
          </a:xfrm>
          <a:prstGeom prst="rect">
            <a:avLst/>
          </a:prstGeom>
          <a:solidFill>
            <a:srgbClr val="0D1E35"/>
          </a:solidFill>
        </p:spPr>
      </p:sp>
      <p:sp>
        <p:nvSpPr>
          <p:cNvPr id="16" name="Shape 14"/>
          <p:cNvSpPr/>
          <p:nvPr/>
        </p:nvSpPr>
        <p:spPr>
          <a:xfrm>
            <a:off x="347472" y="3145536"/>
            <a:ext cx="64008" cy="457200"/>
          </a:xfrm>
          <a:prstGeom prst="rect">
            <a:avLst/>
          </a:prstGeom>
          <a:solidFill>
            <a:srgbClr val="009A44"/>
          </a:solidFill>
        </p:spPr>
      </p:sp>
      <p:sp>
        <p:nvSpPr>
          <p:cNvPr id="17" name="Text 15"/>
          <p:cNvSpPr/>
          <p:nvPr/>
        </p:nvSpPr>
        <p:spPr>
          <a:xfrm>
            <a:off x="530352" y="3227832"/>
            <a:ext cx="1417320" cy="274320"/>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Competitive Edge:</a:t>
            </a:r>
            <a:endParaRPr lang="en-US" sz="1100" dirty="0"/>
          </a:p>
        </p:txBody>
      </p:sp>
      <p:sp>
        <p:nvSpPr>
          <p:cNvPr id="18" name="Text 16"/>
          <p:cNvSpPr/>
          <p:nvPr/>
        </p:nvSpPr>
        <p:spPr>
          <a:xfrm>
            <a:off x="2011680" y="3227832"/>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Delivery speed to MoMo wallet in under 60 seconds. Regulatory moat: first Ghanaian fintech with UK FCA + US MSB licences — took 18 months, impossible to fast-follow.</a:t>
            </a:r>
            <a:endParaRPr lang="en-US" sz="1100" dirty="0"/>
          </a:p>
        </p:txBody>
      </p:sp>
      <p:sp>
        <p:nvSpPr>
          <p:cNvPr id="19" name="Shape 17"/>
          <p:cNvSpPr/>
          <p:nvPr/>
        </p:nvSpPr>
        <p:spPr>
          <a:xfrm>
            <a:off x="347472" y="3675888"/>
            <a:ext cx="8412480" cy="457200"/>
          </a:xfrm>
          <a:prstGeom prst="rect">
            <a:avLst/>
          </a:prstGeom>
          <a:solidFill>
            <a:srgbClr val="0D1E35"/>
          </a:solidFill>
        </p:spPr>
      </p:sp>
      <p:sp>
        <p:nvSpPr>
          <p:cNvPr id="20" name="Shape 18"/>
          <p:cNvSpPr/>
          <p:nvPr/>
        </p:nvSpPr>
        <p:spPr>
          <a:xfrm>
            <a:off x="347472" y="3675888"/>
            <a:ext cx="64008" cy="457200"/>
          </a:xfrm>
          <a:prstGeom prst="rect">
            <a:avLst/>
          </a:prstGeom>
          <a:solidFill>
            <a:srgbClr val="009A44"/>
          </a:solidFill>
        </p:spPr>
      </p:sp>
      <p:sp>
        <p:nvSpPr>
          <p:cNvPr id="21" name="Text 19"/>
          <p:cNvSpPr/>
          <p:nvPr/>
        </p:nvSpPr>
        <p:spPr>
          <a:xfrm>
            <a:off x="530352" y="3758184"/>
            <a:ext cx="1417320" cy="274320"/>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Scale:</a:t>
            </a:r>
            <a:endParaRPr lang="en-US" sz="1100" dirty="0"/>
          </a:p>
        </p:txBody>
      </p:sp>
      <p:sp>
        <p:nvSpPr>
          <p:cNvPr id="22" name="Text 20"/>
          <p:cNvSpPr/>
          <p:nvPr/>
        </p:nvSpPr>
        <p:spPr>
          <a:xfrm>
            <a:off x="2011680" y="3758184"/>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Grew to process $1B+ annualised remittance volume across 50+ corridors. Series A from Mastercard. Ghana's Bank of Governor cited as model for inclusive fintech.</a:t>
            </a:r>
            <a:endParaRPr lang="en-US" sz="1100" dirty="0"/>
          </a:p>
        </p:txBody>
      </p:sp>
      <p:sp>
        <p:nvSpPr>
          <p:cNvPr id="23" name="Shape 21"/>
          <p:cNvSpPr/>
          <p:nvPr/>
        </p:nvSpPr>
        <p:spPr>
          <a:xfrm>
            <a:off x="347472" y="4206240"/>
            <a:ext cx="8412480" cy="457200"/>
          </a:xfrm>
          <a:prstGeom prst="rect">
            <a:avLst/>
          </a:prstGeom>
          <a:solidFill>
            <a:srgbClr val="0D1E35"/>
          </a:solidFill>
        </p:spPr>
      </p:sp>
      <p:sp>
        <p:nvSpPr>
          <p:cNvPr id="24" name="Shape 22"/>
          <p:cNvSpPr/>
          <p:nvPr/>
        </p:nvSpPr>
        <p:spPr>
          <a:xfrm>
            <a:off x="347472" y="4206240"/>
            <a:ext cx="64008" cy="457200"/>
          </a:xfrm>
          <a:prstGeom prst="rect">
            <a:avLst/>
          </a:prstGeom>
          <a:solidFill>
            <a:srgbClr val="009A44"/>
          </a:solidFill>
        </p:spPr>
      </p:sp>
      <p:sp>
        <p:nvSpPr>
          <p:cNvPr id="25" name="Text 23"/>
          <p:cNvSpPr/>
          <p:nvPr/>
        </p:nvSpPr>
        <p:spPr>
          <a:xfrm>
            <a:off x="530352" y="4288536"/>
            <a:ext cx="1417320" cy="274320"/>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Key Lesson:</a:t>
            </a:r>
            <a:endParaRPr lang="en-US" sz="1100" dirty="0"/>
          </a:p>
        </p:txBody>
      </p:sp>
      <p:sp>
        <p:nvSpPr>
          <p:cNvPr id="26" name="Text 24"/>
          <p:cNvSpPr/>
          <p:nvPr/>
        </p:nvSpPr>
        <p:spPr>
          <a:xfrm>
            <a:off x="2011680" y="4288536"/>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The pricing innovation was not the fee — it was delivery speed to mobile wallet. Revenue followed differentiation, not the other way around.</a:t>
            </a:r>
            <a:endParaRPr lang="en-US" sz="1100" dirty="0"/>
          </a:p>
        </p:txBody>
      </p:sp>
      <p:sp>
        <p:nvSpPr>
          <p:cNvPr id="27" name="Shape 25"/>
          <p:cNvSpPr/>
          <p:nvPr/>
        </p:nvSpPr>
        <p:spPr>
          <a:xfrm>
            <a:off x="6949440" y="91440"/>
            <a:ext cx="1828800" cy="384048"/>
          </a:xfrm>
          <a:prstGeom prst="rect">
            <a:avLst/>
          </a:prstGeom>
          <a:solidFill>
            <a:srgbClr val="009A44"/>
          </a:solidFill>
        </p:spPr>
      </p:sp>
      <p:sp>
        <p:nvSpPr>
          <p:cNvPr id="28" name="Text 26"/>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200400" cy="3200400"/>
          </a:xfrm>
          <a:prstGeom prst="ellipse">
            <a:avLst/>
          </a:prstGeom>
          <a:solidFill>
            <a:srgbClr val="009A44">
              <a:alpha val="12000"/>
            </a:srgbClr>
          </a:solidFill>
        </p:spPr>
      </p:sp>
      <p:sp>
        <p:nvSpPr>
          <p:cNvPr id="3" name="Shape 1"/>
          <p:cNvSpPr/>
          <p:nvPr/>
        </p:nvSpPr>
        <p:spPr>
          <a:xfrm>
            <a:off x="0" y="0"/>
            <a:ext cx="164592" cy="5143500"/>
          </a:xfrm>
          <a:prstGeom prst="rect">
            <a:avLst/>
          </a:prstGeom>
          <a:solidFill>
            <a:srgbClr val="009A44"/>
          </a:solidFill>
        </p:spPr>
      </p:sp>
      <p:sp>
        <p:nvSpPr>
          <p:cNvPr id="4" name="Text 2"/>
          <p:cNvSpPr/>
          <p:nvPr/>
        </p:nvSpPr>
        <p:spPr>
          <a:xfrm>
            <a:off x="347472" y="411480"/>
            <a:ext cx="3657600" cy="347472"/>
          </a:xfrm>
          <a:prstGeom prst="rect">
            <a:avLst/>
          </a:prstGeom>
          <a:noFill/>
        </p:spPr>
        <p:txBody>
          <a:bodyPr wrap="square" lIns="0" tIns="0" rIns="0" bIns="0" rtlCol="0" anchor="ctr"/>
          <a:lstStyle/>
          <a:p>
            <a:pPr marL="0" indent="0">
              <a:buNone/>
            </a:pPr>
            <a:r>
              <a:rPr lang="en-US" sz="1100" kern="0" spc="400" dirty="0">
                <a:solidFill>
                  <a:srgbClr val="009A44"/>
                </a:solidFill>
                <a:latin typeface="Calibri" panose="020F05020202040A0204" pitchFamily="34" charset="0"/>
                <a:ea typeface="Calibri" panose="020F05020202040A0204" pitchFamily="34" charset="-122"/>
                <a:cs typeface="Calibri" panose="020F05020202040A0204" pitchFamily="34" charset="-120"/>
              </a:rPr>
              <a:t>EXERCISE</a:t>
            </a:r>
            <a:endParaRPr lang="en-US" sz="1100" dirty="0"/>
          </a:p>
        </p:txBody>
      </p:sp>
      <p:sp>
        <p:nvSpPr>
          <p:cNvPr id="5" name="Text 3"/>
          <p:cNvSpPr/>
          <p:nvPr/>
        </p:nvSpPr>
        <p:spPr>
          <a:xfrm>
            <a:off x="347472" y="777240"/>
            <a:ext cx="7772400" cy="960120"/>
          </a:xfrm>
          <a:prstGeom prst="rect">
            <a:avLst/>
          </a:prstGeom>
          <a:noFill/>
        </p:spPr>
        <p:txBody>
          <a:bodyPr wrap="square" lIns="0" tIns="0" rIns="0" bIns="0" rtlCol="0" anchor="ctr"/>
          <a:lstStyle/>
          <a:p>
            <a:pPr marL="0" indent="0">
              <a:buNone/>
            </a:pPr>
            <a:r>
              <a:rPr lang="en-US" sz="3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Design Your Revenue Model + 12-Month Forecast</a:t>
            </a:r>
            <a:endParaRPr lang="en-US" sz="3000" dirty="0"/>
          </a:p>
        </p:txBody>
      </p:sp>
      <p:sp>
        <p:nvSpPr>
          <p:cNvPr id="6" name="Shape 4"/>
          <p:cNvSpPr/>
          <p:nvPr/>
        </p:nvSpPr>
        <p:spPr>
          <a:xfrm>
            <a:off x="347472" y="1901952"/>
            <a:ext cx="8412480" cy="512064"/>
          </a:xfrm>
          <a:prstGeom prst="rect">
            <a:avLst/>
          </a:prstGeom>
          <a:solidFill>
            <a:srgbClr val="112A47"/>
          </a:solidFill>
        </p:spPr>
      </p:sp>
      <p:sp>
        <p:nvSpPr>
          <p:cNvPr id="7" name="Shape 5"/>
          <p:cNvSpPr/>
          <p:nvPr/>
        </p:nvSpPr>
        <p:spPr>
          <a:xfrm>
            <a:off x="438912" y="1956816"/>
            <a:ext cx="402336" cy="402336"/>
          </a:xfrm>
          <a:prstGeom prst="ellipse">
            <a:avLst/>
          </a:prstGeom>
          <a:solidFill>
            <a:srgbClr val="009A44"/>
          </a:solidFill>
        </p:spPr>
      </p:sp>
      <p:sp>
        <p:nvSpPr>
          <p:cNvPr id="8" name="Text 6"/>
          <p:cNvSpPr/>
          <p:nvPr/>
        </p:nvSpPr>
        <p:spPr>
          <a:xfrm>
            <a:off x="438912" y="195681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A</a:t>
            </a:r>
            <a:endParaRPr lang="en-US" sz="1300" dirty="0"/>
          </a:p>
        </p:txBody>
      </p:sp>
      <p:sp>
        <p:nvSpPr>
          <p:cNvPr id="9" name="Text 7"/>
          <p:cNvSpPr/>
          <p:nvPr/>
        </p:nvSpPr>
        <p:spPr>
          <a:xfrm>
            <a:off x="987552" y="2020824"/>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10" name="Text 8"/>
          <p:cNvSpPr/>
          <p:nvPr/>
        </p:nvSpPr>
        <p:spPr>
          <a:xfrm>
            <a:off x="1901952" y="2020824"/>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Select your PRIMARY revenue model. Write your justification: why does this model fit your customer segment, your product, and Ghana's market context?</a:t>
            </a:r>
            <a:endParaRPr lang="en-US" sz="1150" dirty="0"/>
          </a:p>
        </p:txBody>
      </p:sp>
      <p:sp>
        <p:nvSpPr>
          <p:cNvPr id="11" name="Shape 9"/>
          <p:cNvSpPr/>
          <p:nvPr/>
        </p:nvSpPr>
        <p:spPr>
          <a:xfrm>
            <a:off x="347472" y="2487168"/>
            <a:ext cx="8412480" cy="512064"/>
          </a:xfrm>
          <a:prstGeom prst="rect">
            <a:avLst/>
          </a:prstGeom>
          <a:solidFill>
            <a:srgbClr val="112A47"/>
          </a:solidFill>
        </p:spPr>
      </p:sp>
      <p:sp>
        <p:nvSpPr>
          <p:cNvPr id="12" name="Shape 10"/>
          <p:cNvSpPr/>
          <p:nvPr/>
        </p:nvSpPr>
        <p:spPr>
          <a:xfrm>
            <a:off x="438912" y="2542032"/>
            <a:ext cx="402336" cy="402336"/>
          </a:xfrm>
          <a:prstGeom prst="ellipse">
            <a:avLst/>
          </a:prstGeom>
          <a:solidFill>
            <a:srgbClr val="009A44"/>
          </a:solidFill>
        </p:spPr>
      </p:sp>
      <p:sp>
        <p:nvSpPr>
          <p:cNvPr id="13" name="Text 11"/>
          <p:cNvSpPr/>
          <p:nvPr/>
        </p:nvSpPr>
        <p:spPr>
          <a:xfrm>
            <a:off x="438912" y="254203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t>
            </a:r>
            <a:endParaRPr lang="en-US" sz="1300" dirty="0"/>
          </a:p>
        </p:txBody>
      </p:sp>
      <p:sp>
        <p:nvSpPr>
          <p:cNvPr id="14" name="Text 12"/>
          <p:cNvSpPr/>
          <p:nvPr/>
        </p:nvSpPr>
        <p:spPr>
          <a:xfrm>
            <a:off x="987552" y="2606040"/>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15" name="Text 13"/>
          <p:cNvSpPr/>
          <p:nvPr/>
        </p:nvSpPr>
        <p:spPr>
          <a:xfrm>
            <a:off x="1901952" y="2606040"/>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Define your pricing: What is your price point? How did you arrive at this number? Have you tested it with 3 real potential customers? If not — what do you need to test?</a:t>
            </a:r>
            <a:endParaRPr lang="en-US" sz="1150" dirty="0"/>
          </a:p>
        </p:txBody>
      </p:sp>
      <p:sp>
        <p:nvSpPr>
          <p:cNvPr id="16" name="Shape 14"/>
          <p:cNvSpPr/>
          <p:nvPr/>
        </p:nvSpPr>
        <p:spPr>
          <a:xfrm>
            <a:off x="347472" y="3072384"/>
            <a:ext cx="8412480" cy="512064"/>
          </a:xfrm>
          <a:prstGeom prst="rect">
            <a:avLst/>
          </a:prstGeom>
          <a:solidFill>
            <a:srgbClr val="112A47"/>
          </a:solidFill>
        </p:spPr>
      </p:sp>
      <p:sp>
        <p:nvSpPr>
          <p:cNvPr id="17" name="Shape 15"/>
          <p:cNvSpPr/>
          <p:nvPr/>
        </p:nvSpPr>
        <p:spPr>
          <a:xfrm>
            <a:off x="438912" y="3127248"/>
            <a:ext cx="402336" cy="402336"/>
          </a:xfrm>
          <a:prstGeom prst="ellipse">
            <a:avLst/>
          </a:prstGeom>
          <a:solidFill>
            <a:srgbClr val="009A44"/>
          </a:solidFill>
        </p:spPr>
      </p:sp>
      <p:sp>
        <p:nvSpPr>
          <p:cNvPr id="18" name="Text 16"/>
          <p:cNvSpPr/>
          <p:nvPr/>
        </p:nvSpPr>
        <p:spPr>
          <a:xfrm>
            <a:off x="438912" y="31272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a:t>
            </a:r>
            <a:endParaRPr lang="en-US" sz="1300" dirty="0"/>
          </a:p>
        </p:txBody>
      </p:sp>
      <p:sp>
        <p:nvSpPr>
          <p:cNvPr id="19" name="Text 17"/>
          <p:cNvSpPr/>
          <p:nvPr/>
        </p:nvSpPr>
        <p:spPr>
          <a:xfrm>
            <a:off x="987552" y="3191256"/>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20" name="Text 18"/>
          <p:cNvSpPr/>
          <p:nvPr/>
        </p:nvSpPr>
        <p:spPr>
          <a:xfrm>
            <a:off x="1901952" y="3191256"/>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Calculate your unit economics: Estimate your CAC, ARPU, monthly churn rate, and LTV. Compute your LTV:CAC ratio. Flag it if it is below 3x.</a:t>
            </a:r>
            <a:endParaRPr lang="en-US" sz="1150" dirty="0"/>
          </a:p>
        </p:txBody>
      </p:sp>
      <p:sp>
        <p:nvSpPr>
          <p:cNvPr id="21" name="Shape 19"/>
          <p:cNvSpPr/>
          <p:nvPr/>
        </p:nvSpPr>
        <p:spPr>
          <a:xfrm>
            <a:off x="347472" y="3657600"/>
            <a:ext cx="8412480" cy="512064"/>
          </a:xfrm>
          <a:prstGeom prst="rect">
            <a:avLst/>
          </a:prstGeom>
          <a:solidFill>
            <a:srgbClr val="112A47"/>
          </a:solidFill>
        </p:spPr>
      </p:sp>
      <p:sp>
        <p:nvSpPr>
          <p:cNvPr id="22" name="Shape 20"/>
          <p:cNvSpPr/>
          <p:nvPr/>
        </p:nvSpPr>
        <p:spPr>
          <a:xfrm>
            <a:off x="438912" y="3712464"/>
            <a:ext cx="402336" cy="402336"/>
          </a:xfrm>
          <a:prstGeom prst="ellipse">
            <a:avLst/>
          </a:prstGeom>
          <a:solidFill>
            <a:srgbClr val="009A44"/>
          </a:solidFill>
        </p:spPr>
      </p:sp>
      <p:sp>
        <p:nvSpPr>
          <p:cNvPr id="23" name="Text 21"/>
          <p:cNvSpPr/>
          <p:nvPr/>
        </p:nvSpPr>
        <p:spPr>
          <a:xfrm>
            <a:off x="438912" y="37124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D</a:t>
            </a:r>
            <a:endParaRPr lang="en-US" sz="1300" dirty="0"/>
          </a:p>
        </p:txBody>
      </p:sp>
      <p:sp>
        <p:nvSpPr>
          <p:cNvPr id="24" name="Text 22"/>
          <p:cNvSpPr/>
          <p:nvPr/>
        </p:nvSpPr>
        <p:spPr>
          <a:xfrm>
            <a:off x="987552" y="3776472"/>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25" name="Text 23"/>
          <p:cNvSpPr/>
          <p:nvPr/>
        </p:nvSpPr>
        <p:spPr>
          <a:xfrm>
            <a:off x="1901952" y="3776472"/>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Build your 12-month bottom-up revenue forecast using the 5-step framework. Start from Month 1. Write your key assumptions explicitly.</a:t>
            </a:r>
            <a:endParaRPr lang="en-US" sz="1150" dirty="0"/>
          </a:p>
        </p:txBody>
      </p:sp>
      <p:sp>
        <p:nvSpPr>
          <p:cNvPr id="26" name="Shape 24"/>
          <p:cNvSpPr/>
          <p:nvPr/>
        </p:nvSpPr>
        <p:spPr>
          <a:xfrm>
            <a:off x="347472" y="4242816"/>
            <a:ext cx="8412480" cy="512064"/>
          </a:xfrm>
          <a:prstGeom prst="rect">
            <a:avLst/>
          </a:prstGeom>
          <a:solidFill>
            <a:srgbClr val="112A47"/>
          </a:solidFill>
        </p:spPr>
      </p:sp>
      <p:sp>
        <p:nvSpPr>
          <p:cNvPr id="27" name="Shape 25"/>
          <p:cNvSpPr/>
          <p:nvPr/>
        </p:nvSpPr>
        <p:spPr>
          <a:xfrm>
            <a:off x="438912" y="4297680"/>
            <a:ext cx="402336" cy="402336"/>
          </a:xfrm>
          <a:prstGeom prst="ellipse">
            <a:avLst/>
          </a:prstGeom>
          <a:solidFill>
            <a:srgbClr val="009A44"/>
          </a:solidFill>
        </p:spPr>
      </p:sp>
      <p:sp>
        <p:nvSpPr>
          <p:cNvPr id="28" name="Text 26"/>
          <p:cNvSpPr/>
          <p:nvPr/>
        </p:nvSpPr>
        <p:spPr>
          <a:xfrm>
            <a:off x="438912" y="429768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E</a:t>
            </a:r>
            <a:endParaRPr lang="en-US" sz="1300" dirty="0"/>
          </a:p>
        </p:txBody>
      </p:sp>
      <p:sp>
        <p:nvSpPr>
          <p:cNvPr id="29" name="Text 27"/>
          <p:cNvSpPr/>
          <p:nvPr/>
        </p:nvSpPr>
        <p:spPr>
          <a:xfrm>
            <a:off x="987552" y="4361688"/>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30" name="Text 28"/>
          <p:cNvSpPr/>
          <p:nvPr/>
        </p:nvSpPr>
        <p:spPr>
          <a:xfrm>
            <a:off x="1901952" y="4361688"/>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Identify your #1 revenue risk: what single assumption, if wrong, would break your model? Write one mitigation strategy for that risk.</a:t>
            </a:r>
            <a:endParaRPr lang="en-US" sz="1150" dirty="0"/>
          </a:p>
        </p:txBody>
      </p:sp>
      <p:sp>
        <p:nvSpPr>
          <p:cNvPr id="31" name="Text 29"/>
          <p:cNvSpPr/>
          <p:nvPr/>
        </p:nvSpPr>
        <p:spPr>
          <a:xfrm>
            <a:off x="347472" y="4754880"/>
            <a:ext cx="8412480" cy="292608"/>
          </a:xfrm>
          <a:prstGeom prst="rect">
            <a:avLst/>
          </a:prstGeom>
          <a:noFill/>
        </p:spPr>
        <p:txBody>
          <a:bodyPr wrap="square" lIns="0" tIns="0" rIns="0" bIns="0" rtlCol="0" anchor="ctr"/>
          <a:lstStyle/>
          <a:p>
            <a:pPr marL="0" indent="0">
              <a:buNone/>
            </a:pPr>
            <a:r>
              <a:rPr lang="en-US" sz="1100" i="1" dirty="0">
                <a:solidFill>
                  <a:srgbClr val="009A44"/>
                </a:solidFill>
                <a:latin typeface="Calibri" panose="020F05020202040A0204" pitchFamily="34" charset="0"/>
                <a:ea typeface="Calibri" panose="020F05020202040A0204" pitchFamily="34" charset="-122"/>
                <a:cs typeface="Calibri" panose="020F05020202040A0204" pitchFamily="34" charset="-120"/>
              </a:rPr>
              <a:t>Deliverable: A 1-page Revenue Model Summary — model type, pricing logic, unit economics table, 12-month revenue chart — ready for your investor pitch deck</a:t>
            </a:r>
            <a:endParaRPr lang="en-US" sz="1100" dirty="0"/>
          </a:p>
        </p:txBody>
      </p:sp>
      <p:sp>
        <p:nvSpPr>
          <p:cNvPr id="32" name="Shape 30"/>
          <p:cNvSpPr/>
          <p:nvPr/>
        </p:nvSpPr>
        <p:spPr>
          <a:xfrm>
            <a:off x="6949440" y="91440"/>
            <a:ext cx="1828800" cy="384048"/>
          </a:xfrm>
          <a:prstGeom prst="rect">
            <a:avLst/>
          </a:prstGeom>
          <a:solidFill>
            <a:srgbClr val="009A44"/>
          </a:solidFill>
        </p:spPr>
      </p:sp>
      <p:sp>
        <p:nvSpPr>
          <p:cNvPr id="33" name="Text 31"/>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3 Key Takeaways</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Shape 5"/>
          <p:cNvSpPr/>
          <p:nvPr/>
        </p:nvSpPr>
        <p:spPr>
          <a:xfrm>
            <a:off x="365760" y="96012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457200" y="1106424"/>
            <a:ext cx="402336" cy="402336"/>
          </a:xfrm>
          <a:prstGeom prst="ellipse">
            <a:avLst/>
          </a:prstGeom>
          <a:solidFill>
            <a:srgbClr val="009A44"/>
          </a:solidFill>
        </p:spPr>
      </p:sp>
      <p:sp>
        <p:nvSpPr>
          <p:cNvPr id="9" name="Text 7"/>
          <p:cNvSpPr/>
          <p:nvPr/>
        </p:nvSpPr>
        <p:spPr>
          <a:xfrm>
            <a:off x="457200" y="110642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0" name="Text 8"/>
          <p:cNvSpPr/>
          <p:nvPr/>
        </p:nvSpPr>
        <p:spPr>
          <a:xfrm>
            <a:off x="1024128" y="1069848"/>
            <a:ext cx="2560320" cy="347472"/>
          </a:xfrm>
          <a:prstGeom prst="rect">
            <a:avLst/>
          </a:prstGeom>
          <a:noFill/>
        </p:spPr>
        <p:txBody>
          <a:bodyPr wrap="square" lIns="0" tIns="0" rIns="0" bIns="0" rtlCol="0" anchor="ctr"/>
          <a:lstStyle/>
          <a:p>
            <a:pPr marL="0" indent="0">
              <a:buNone/>
            </a:pPr>
            <a:r>
              <a:rPr lang="en-US" sz="14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Revenue vs Business Model</a:t>
            </a:r>
            <a:endParaRPr lang="en-US" sz="1400" dirty="0"/>
          </a:p>
        </p:txBody>
      </p:sp>
      <p:sp>
        <p:nvSpPr>
          <p:cNvPr id="11" name="Text 9"/>
          <p:cNvSpPr/>
          <p:nvPr/>
        </p:nvSpPr>
        <p:spPr>
          <a:xfrm>
            <a:off x="3730752" y="1069848"/>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Revenue model is HOW money flows to you — a subset of the business model. Both must be coherent and connected.</a:t>
            </a:r>
            <a:endParaRPr lang="en-US" sz="1200" dirty="0"/>
          </a:p>
        </p:txBody>
      </p:sp>
      <p:sp>
        <p:nvSpPr>
          <p:cNvPr id="12" name="Shape 10"/>
          <p:cNvSpPr/>
          <p:nvPr/>
        </p:nvSpPr>
        <p:spPr>
          <a:xfrm>
            <a:off x="365760" y="1764792"/>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1911096"/>
            <a:ext cx="402336" cy="402336"/>
          </a:xfrm>
          <a:prstGeom prst="ellipse">
            <a:avLst/>
          </a:prstGeom>
          <a:solidFill>
            <a:srgbClr val="009A44"/>
          </a:solidFill>
        </p:spPr>
      </p:sp>
      <p:sp>
        <p:nvSpPr>
          <p:cNvPr id="14" name="Text 12"/>
          <p:cNvSpPr/>
          <p:nvPr/>
        </p:nvSpPr>
        <p:spPr>
          <a:xfrm>
            <a:off x="457200" y="191109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1874520"/>
            <a:ext cx="2560320" cy="347472"/>
          </a:xfrm>
          <a:prstGeom prst="rect">
            <a:avLst/>
          </a:prstGeom>
          <a:noFill/>
        </p:spPr>
        <p:txBody>
          <a:bodyPr wrap="square" lIns="0" tIns="0" rIns="0" bIns="0" rtlCol="0" anchor="ctr"/>
          <a:lstStyle/>
          <a:p>
            <a:pPr marL="0" indent="0">
              <a:buNone/>
            </a:pPr>
            <a:r>
              <a:rPr lang="en-US" sz="14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6 Core Models</a:t>
            </a:r>
            <a:endParaRPr lang="en-US" sz="1400" dirty="0"/>
          </a:p>
        </p:txBody>
      </p:sp>
      <p:sp>
        <p:nvSpPr>
          <p:cNvPr id="16" name="Text 14"/>
          <p:cNvSpPr/>
          <p:nvPr/>
        </p:nvSpPr>
        <p:spPr>
          <a:xfrm>
            <a:off x="3730752" y="1874520"/>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Subscription, Transaction, Freemium, Advertising, Licensing, Blended — each has different unit economics, scaling paths and suitability for Ghana's market.</a:t>
            </a:r>
            <a:endParaRPr lang="en-US" sz="1200" dirty="0"/>
          </a:p>
        </p:txBody>
      </p:sp>
      <p:sp>
        <p:nvSpPr>
          <p:cNvPr id="17" name="Shape 15"/>
          <p:cNvSpPr/>
          <p:nvPr/>
        </p:nvSpPr>
        <p:spPr>
          <a:xfrm>
            <a:off x="365760" y="2569464"/>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457200" y="2715768"/>
            <a:ext cx="402336" cy="402336"/>
          </a:xfrm>
          <a:prstGeom prst="ellipse">
            <a:avLst/>
          </a:prstGeom>
          <a:solidFill>
            <a:srgbClr val="009A44"/>
          </a:solidFill>
        </p:spPr>
      </p:sp>
      <p:sp>
        <p:nvSpPr>
          <p:cNvPr id="19" name="Text 17"/>
          <p:cNvSpPr/>
          <p:nvPr/>
        </p:nvSpPr>
        <p:spPr>
          <a:xfrm>
            <a:off x="457200" y="2715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20" name="Text 18"/>
          <p:cNvSpPr/>
          <p:nvPr/>
        </p:nvSpPr>
        <p:spPr>
          <a:xfrm>
            <a:off x="1024128" y="2679192"/>
            <a:ext cx="2560320" cy="347472"/>
          </a:xfrm>
          <a:prstGeom prst="rect">
            <a:avLst/>
          </a:prstGeom>
          <a:noFill/>
        </p:spPr>
        <p:txBody>
          <a:bodyPr wrap="square" lIns="0" tIns="0" rIns="0" bIns="0" rtlCol="0" anchor="ctr"/>
          <a:lstStyle/>
          <a:p>
            <a:pPr marL="0" indent="0">
              <a:buNone/>
            </a:pPr>
            <a:r>
              <a:rPr lang="en-US" sz="14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Freemium Math</a:t>
            </a:r>
            <a:endParaRPr lang="en-US" sz="1400" dirty="0"/>
          </a:p>
        </p:txBody>
      </p:sp>
      <p:sp>
        <p:nvSpPr>
          <p:cNvPr id="21" name="Text 19"/>
          <p:cNvSpPr/>
          <p:nvPr/>
        </p:nvSpPr>
        <p:spPr>
          <a:xfrm>
            <a:off x="3730752" y="2679192"/>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Industry average free-to-paid conversion: 2-5%. Freemium requires mass acquisition at low/zero CAC. Most early-stage Ghanaian startups do not yet have the scale or virality to make freemium profitable.</a:t>
            </a:r>
            <a:endParaRPr lang="en-US" sz="1200" dirty="0"/>
          </a:p>
        </p:txBody>
      </p:sp>
      <p:sp>
        <p:nvSpPr>
          <p:cNvPr id="22" name="Shape 20"/>
          <p:cNvSpPr/>
          <p:nvPr/>
        </p:nvSpPr>
        <p:spPr>
          <a:xfrm>
            <a:off x="365760" y="3374136"/>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457200" y="3520440"/>
            <a:ext cx="402336" cy="402336"/>
          </a:xfrm>
          <a:prstGeom prst="ellipse">
            <a:avLst/>
          </a:prstGeom>
          <a:solidFill>
            <a:srgbClr val="009A44"/>
          </a:solidFill>
        </p:spPr>
      </p:sp>
      <p:sp>
        <p:nvSpPr>
          <p:cNvPr id="24" name="Text 22"/>
          <p:cNvSpPr/>
          <p:nvPr/>
        </p:nvSpPr>
        <p:spPr>
          <a:xfrm>
            <a:off x="457200" y="352044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5" name="Text 23"/>
          <p:cNvSpPr/>
          <p:nvPr/>
        </p:nvSpPr>
        <p:spPr>
          <a:xfrm>
            <a:off x="1024128" y="3483864"/>
            <a:ext cx="2560320" cy="347472"/>
          </a:xfrm>
          <a:prstGeom prst="rect">
            <a:avLst/>
          </a:prstGeom>
          <a:noFill/>
        </p:spPr>
        <p:txBody>
          <a:bodyPr wrap="square" lIns="0" tIns="0" rIns="0" bIns="0" rtlCol="0" anchor="ctr"/>
          <a:lstStyle/>
          <a:p>
            <a:pPr marL="0" indent="0">
              <a:buNone/>
            </a:pPr>
            <a:r>
              <a:rPr lang="en-US" sz="14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LTV:CAC Rule</a:t>
            </a:r>
            <a:endParaRPr lang="en-US" sz="1400" dirty="0"/>
          </a:p>
        </p:txBody>
      </p:sp>
      <p:sp>
        <p:nvSpPr>
          <p:cNvPr id="26" name="Text 24"/>
          <p:cNvSpPr/>
          <p:nvPr/>
        </p:nvSpPr>
        <p:spPr>
          <a:xfrm>
            <a:off x="3730752" y="3483864"/>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Lifetime Value must be at least 3x Customer Acquisition Cost. Below 1x means you lose money on every customer acquired. Know your numbers — they are not optional.</a:t>
            </a:r>
            <a:endParaRPr lang="en-US" sz="1200" dirty="0"/>
          </a:p>
        </p:txBody>
      </p:sp>
      <p:sp>
        <p:nvSpPr>
          <p:cNvPr id="27" name="Shape 25"/>
          <p:cNvSpPr/>
          <p:nvPr/>
        </p:nvSpPr>
        <p:spPr>
          <a:xfrm>
            <a:off x="365760" y="4178808"/>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457200" y="4325112"/>
            <a:ext cx="402336" cy="402336"/>
          </a:xfrm>
          <a:prstGeom prst="ellipse">
            <a:avLst/>
          </a:prstGeom>
          <a:solidFill>
            <a:srgbClr val="009A44"/>
          </a:solidFill>
        </p:spPr>
      </p:sp>
      <p:sp>
        <p:nvSpPr>
          <p:cNvPr id="29" name="Text 27"/>
          <p:cNvSpPr/>
          <p:nvPr/>
        </p:nvSpPr>
        <p:spPr>
          <a:xfrm>
            <a:off x="457200" y="43251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5</a:t>
            </a:r>
            <a:endParaRPr lang="en-US" sz="1300" dirty="0"/>
          </a:p>
        </p:txBody>
      </p:sp>
      <p:sp>
        <p:nvSpPr>
          <p:cNvPr id="30" name="Text 28"/>
          <p:cNvSpPr/>
          <p:nvPr/>
        </p:nvSpPr>
        <p:spPr>
          <a:xfrm>
            <a:off x="1024128" y="4288536"/>
            <a:ext cx="2560320" cy="347472"/>
          </a:xfrm>
          <a:prstGeom prst="rect">
            <a:avLst/>
          </a:prstGeom>
          <a:noFill/>
        </p:spPr>
        <p:txBody>
          <a:bodyPr wrap="square" lIns="0" tIns="0" rIns="0" bIns="0" rtlCol="0" anchor="ctr"/>
          <a:lstStyle/>
          <a:p>
            <a:pPr marL="0" indent="0">
              <a:buNone/>
            </a:pPr>
            <a:r>
              <a:rPr lang="en-US" sz="14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Bottom-Up Forecasting</a:t>
            </a:r>
            <a:endParaRPr lang="en-US" sz="1400" dirty="0"/>
          </a:p>
        </p:txBody>
      </p:sp>
      <p:sp>
        <p:nvSpPr>
          <p:cNvPr id="31" name="Text 29"/>
          <p:cNvSpPr/>
          <p:nvPr/>
        </p:nvSpPr>
        <p:spPr>
          <a:xfrm>
            <a:off x="3730752" y="4288536"/>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Build revenue forecasts from your actual sales capacity and churn data — not from market share assumptions. Investors fund founders who understand their own numbers.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3 Homework — Prepare for Tomorrow</a:t>
            </a:r>
            <a:endParaRPr lang="en-US" sz="2400" dirty="0"/>
          </a:p>
        </p:txBody>
      </p:sp>
      <p:sp>
        <p:nvSpPr>
          <p:cNvPr id="5" name="Shape 3"/>
          <p:cNvSpPr/>
          <p:nvPr/>
        </p:nvSpPr>
        <p:spPr>
          <a:xfrm>
            <a:off x="6949440" y="91440"/>
            <a:ext cx="1828800" cy="384048"/>
          </a:xfrm>
          <a:prstGeom prst="rect">
            <a:avLst/>
          </a:prstGeom>
          <a:solidFill>
            <a:srgbClr val="009A44"/>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3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Complete before the next session to get maximum value from Day 4:</a:t>
            </a:r>
            <a:endParaRPr lang="en-US" sz="1300" dirty="0"/>
          </a:p>
        </p:txBody>
      </p:sp>
      <p:sp>
        <p:nvSpPr>
          <p:cNvPr id="8" name="Shape 6"/>
          <p:cNvSpPr/>
          <p:nvPr/>
        </p:nvSpPr>
        <p:spPr>
          <a:xfrm>
            <a:off x="365760" y="137160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71600"/>
            <a:ext cx="64008" cy="804672"/>
          </a:xfrm>
          <a:prstGeom prst="rect">
            <a:avLst/>
          </a:prstGeom>
          <a:solidFill>
            <a:srgbClr val="009A44"/>
          </a:solidFill>
        </p:spPr>
      </p:sp>
      <p:sp>
        <p:nvSpPr>
          <p:cNvPr id="10" name="Text 8"/>
          <p:cNvSpPr/>
          <p:nvPr/>
        </p:nvSpPr>
        <p:spPr>
          <a:xfrm>
            <a:off x="566928" y="146304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1: Finalise Revenue Model Summary</a:t>
            </a:r>
            <a:endParaRPr lang="en-US" sz="1300" dirty="0"/>
          </a:p>
        </p:txBody>
      </p:sp>
      <p:sp>
        <p:nvSpPr>
          <p:cNvPr id="11" name="Text 9"/>
          <p:cNvSpPr/>
          <p:nvPr/>
        </p:nvSpPr>
        <p:spPr>
          <a:xfrm>
            <a:off x="566928" y="182880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Clean up today's exercise output as if it is going directly into your investor pitch deck. One clear page: model type, pricing, unit economics table, and 12-month chart.</a:t>
            </a:r>
            <a:endParaRPr lang="en-US" sz="1200" dirty="0"/>
          </a:p>
        </p:txBody>
      </p:sp>
      <p:sp>
        <p:nvSpPr>
          <p:cNvPr id="12" name="Shape 10"/>
          <p:cNvSpPr/>
          <p:nvPr/>
        </p:nvSpPr>
        <p:spPr>
          <a:xfrm>
            <a:off x="365760" y="233172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2331720"/>
            <a:ext cx="64008" cy="804672"/>
          </a:xfrm>
          <a:prstGeom prst="rect">
            <a:avLst/>
          </a:prstGeom>
          <a:solidFill>
            <a:srgbClr val="009A44"/>
          </a:solidFill>
        </p:spPr>
      </p:sp>
      <p:sp>
        <p:nvSpPr>
          <p:cNvPr id="14" name="Text 12"/>
          <p:cNvSpPr/>
          <p:nvPr/>
        </p:nvSpPr>
        <p:spPr>
          <a:xfrm>
            <a:off x="566928" y="242316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2: Research a Competitor's Revenue</a:t>
            </a:r>
            <a:endParaRPr lang="en-US" sz="1300" dirty="0"/>
          </a:p>
        </p:txBody>
      </p:sp>
      <p:sp>
        <p:nvSpPr>
          <p:cNvPr id="15" name="Text 13"/>
          <p:cNvSpPr/>
          <p:nvPr/>
        </p:nvSpPr>
        <p:spPr>
          <a:xfrm>
            <a:off x="566928" y="278892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Find one competitor: how do they charge? What is their approximate ARPU? Search their website pricing page, app store description, and any press coverage. Bring findings to Day 4.</a:t>
            </a:r>
            <a:endParaRPr lang="en-US" sz="1200" dirty="0"/>
          </a:p>
        </p:txBody>
      </p:sp>
      <p:sp>
        <p:nvSpPr>
          <p:cNvPr id="16" name="Shape 14"/>
          <p:cNvSpPr/>
          <p:nvPr/>
        </p:nvSpPr>
        <p:spPr>
          <a:xfrm>
            <a:off x="365760" y="329184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3291840"/>
            <a:ext cx="64008" cy="804672"/>
          </a:xfrm>
          <a:prstGeom prst="rect">
            <a:avLst/>
          </a:prstGeom>
          <a:solidFill>
            <a:srgbClr val="009A44"/>
          </a:solidFill>
        </p:spPr>
      </p:sp>
      <p:sp>
        <p:nvSpPr>
          <p:cNvPr id="18" name="Text 16"/>
          <p:cNvSpPr/>
          <p:nvPr/>
        </p:nvSpPr>
        <p:spPr>
          <a:xfrm>
            <a:off x="566928" y="338328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3: Complete Unit Economics Template</a:t>
            </a:r>
            <a:endParaRPr lang="en-US" sz="1300" dirty="0"/>
          </a:p>
        </p:txBody>
      </p:sp>
      <p:sp>
        <p:nvSpPr>
          <p:cNvPr id="19" name="Text 17"/>
          <p:cNvSpPr/>
          <p:nvPr/>
        </p:nvSpPr>
        <p:spPr>
          <a:xfrm>
            <a:off x="566928" y="374904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Fill in the Unit Economics Template provided today with your own startup's best-estimate numbers. Bring it to tomorrow's session — your mentor will review it with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14222</Words>
  <Application>WPS Presentation</Application>
  <PresentationFormat>On-screen Show (16:9)</PresentationFormat>
  <Paragraphs>482</Paragraphs>
  <Slides>19</Slides>
  <Notes>19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Calibri</vt:lpstr>
      <vt:lpstr>Calibri</vt:lpstr>
      <vt:lpstr>Calibri</vt:lpstr>
      <vt:lpstr>Trebuchet MS</vt:lpstr>
      <vt:lpstr>Trebuchet MS</vt:lpstr>
      <vt:lpstr>Trebuchet MS</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Revenue Models | UNICEF Startup Lab Ghana</dc:title>
  <dc:creator>PptxGenJS</dc:creator>
  <dc:subject>PptxGenJS Presentation</dc:subject>
  <cp:lastModifiedBy>Bernard Anyan - Mensah</cp:lastModifiedBy>
  <cp:revision>3</cp:revision>
  <dcterms:created xsi:type="dcterms:W3CDTF">2026-05-31T13:27:15Z</dcterms:created>
  <dcterms:modified xsi:type="dcterms:W3CDTF">2026-05-31T13:27:15Z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02DC80CAC271B6068F05176A058D2731_42</vt:lpwstr>
  </property>
  <property fmtid="{D5CDD505-2E9C-101B-9397-08002B2CF9AE}" pid="3" name="KSOProductBuildVer">
    <vt:lpwstr>1033-6.14.0.8716</vt:lpwstr>
  </property>
</Properties>
</file>